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1" r:id="rId1"/>
  </p:sldMasterIdLst>
  <p:notesMasterIdLst>
    <p:notesMasterId r:id="rId14"/>
  </p:notesMasterIdLst>
  <p:sldIdLst>
    <p:sldId id="267" r:id="rId2"/>
    <p:sldId id="256" r:id="rId3"/>
    <p:sldId id="257" r:id="rId4"/>
    <p:sldId id="258" r:id="rId5"/>
    <p:sldId id="260" r:id="rId6"/>
    <p:sldId id="259" r:id="rId7"/>
    <p:sldId id="261" r:id="rId8"/>
    <p:sldId id="262" r:id="rId9"/>
    <p:sldId id="263" r:id="rId10"/>
    <p:sldId id="264" r:id="rId11"/>
    <p:sldId id="265" r:id="rId12"/>
    <p:sldId id="266" r:id="rId13"/>
  </p:sldIdLst>
  <p:sldSz cx="14630400" cy="8229600"/>
  <p:notesSz cx="8229600" cy="14630400"/>
  <p:embeddedFontLst>
    <p:embeddedFont>
      <p:font typeface="Abadi" panose="020B0604020104020204" pitchFamily="34" charset="0"/>
      <p:regular r:id="rId15"/>
      <p:bold r:id="rId16"/>
      <p:italic r:id="rId17"/>
      <p:boldItalic r:id="rId18"/>
    </p:embeddedFont>
    <p:embeddedFont>
      <p:font typeface="Bierstadt" panose="020B0004020202020204" pitchFamily="34" charset="0"/>
      <p:regular r:id="rId19"/>
      <p:bold r:id="rId20"/>
      <p:italic r:id="rId21"/>
      <p:boldItalic r:id="rId22"/>
    </p:embeddedFont>
    <p:embeddedFont>
      <p:font typeface="Raleway Medium" pitchFamily="2" charset="0"/>
      <p:regular r:id="rId23"/>
      <p: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0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1732676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509639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3192137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3001063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2623113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2761842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290341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2230310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8653160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5352505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9575994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4680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3883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1559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3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951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887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4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6354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2508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28209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512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49717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10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86030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11 master">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555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C764DE79-268F-4C1A-8933-263129D2AF90}" type="datetimeFigureOut">
              <a:rPr lang="en-US" dirty="0"/>
              <a:t>11/19/2025</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215756682"/>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cloud.google.com/discover/what-are-ai-agents?hl=en"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www.anthropic.com/index/multi-agent-systems-risk-and-opportunities"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hyperlink" Target="https://www.thebusinessresearchcompany.com/report/generative-artificial-intelligence-ai-in-teaching-global-market-report#:~:text=%E2%80%A2%20Generative%20Artificial%20Intelligence%20,07%20billion%20in%202024" TargetMode="External"/><Relationship Id="rId3" Type="http://schemas.openxmlformats.org/officeDocument/2006/relationships/hyperlink" Target="https://www.precedenceresearch.com/generative-ai-in-legal-market#:~:text=The%20global%20generative%20AI%20in,during%20the%20forecast%20year" TargetMode="External"/><Relationship Id="rId7" Type="http://schemas.openxmlformats.org/officeDocument/2006/relationships/hyperlink" Target="https://www.precedenceresearch.com/generative-ai-in-energy-market#:~:text=The%20global%20generative%20AI%20in,between%202024%20and%202034" TargetMode="Externa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hyperlink" Target="https://www.grandviewresearch.com/industry-analysis/generative-ai-healthcare-market-report#:~:text=Market%20Size%20%26%20Forecast" TargetMode="External"/><Relationship Id="rId5" Type="http://schemas.openxmlformats.org/officeDocument/2006/relationships/hyperlink" Target="https://www.grandviewresearch.com/industry-analysis/ai-government-public-services-market-report#:~:text=2033%20www,13%20billion%20by%202033%2C" TargetMode="External"/><Relationship Id="rId4" Type="http://schemas.openxmlformats.org/officeDocument/2006/relationships/hyperlink" Target="https://www.fortunebusinessinsights.com/generative-ai-in-bfsi-market-110048#:~:text=The%20global%20generative%20AI%20in,in%202024"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mckinsey.com/industries/technology-media-and-telecommunications/our-insights/the-promise-and-the-reality-of-gen-ai-agents-in-the-enterprise?utm_source=chatgpt.com" TargetMode="External"/><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hyperlink" Target="https://www.itpro.com/technology/artificial-intelligence/it-leaders-dont-trust-ai-agents-yet-and-theyre-missing-out-on-huge-financial-gains?utm_source=chatgpt.com" TargetMode="External"/><Relationship Id="rId4" Type="http://schemas.openxmlformats.org/officeDocument/2006/relationships/hyperlink" Target="https://www.mckinsey.com/industries/financial-services/our-insights/how-ai-could-reshape-the-economics-of-the-asset-management-industry?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spotio.com/blog/sales-statistics/?utm_source=chatgpt.com" TargetMode="External"/><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hyperlink" Target="https://www.sfchronicle.com/tech/article/salesforce-ai-job-cuts-benioff-21025920.php?utm_source=chatgpt.com" TargetMode="External"/><Relationship Id="rId4" Type="http://schemas.openxmlformats.org/officeDocument/2006/relationships/hyperlink" Target="https://zety.com/blog/sales-statistics?utm_source=chatgpt.com"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3.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4464A3-CE60-0AF5-4C42-D222AA563BBC}"/>
              </a:ext>
            </a:extLst>
          </p:cNvPr>
          <p:cNvSpPr/>
          <p:nvPr/>
        </p:nvSpPr>
        <p:spPr>
          <a:xfrm>
            <a:off x="881063" y="812721"/>
            <a:ext cx="5588318" cy="489466"/>
          </a:xfrm>
          <a:prstGeom prst="rect">
            <a:avLst/>
          </a:prstGeom>
          <a:noFill/>
          <a:ln/>
        </p:spPr>
        <p:txBody>
          <a:bodyPr wrap="none" lIns="0" tIns="0" rIns="0" bIns="0" rtlCol="0" anchor="t"/>
          <a:lstStyle/>
          <a:p>
            <a:pPr>
              <a:lnSpc>
                <a:spcPts val="3850"/>
              </a:lnSpc>
            </a:pPr>
            <a:r>
              <a:rPr lang="en-US" sz="4400" dirty="0">
                <a:solidFill>
                  <a:srgbClr val="FFE14D"/>
                </a:solidFill>
              </a:rPr>
              <a:t>Investing in Vertical AI Agents: A $50M Deployment Thesis</a:t>
            </a:r>
          </a:p>
          <a:p>
            <a:pPr>
              <a:lnSpc>
                <a:spcPts val="3850"/>
              </a:lnSpc>
            </a:pPr>
            <a:r>
              <a:rPr lang="en-US" sz="2000" dirty="0">
                <a:solidFill>
                  <a:srgbClr val="FFE14D"/>
                </a:solidFill>
              </a:rPr>
              <a:t>Shrikanth Karthik P S</a:t>
            </a:r>
          </a:p>
          <a:p>
            <a:pPr>
              <a:lnSpc>
                <a:spcPts val="3850"/>
              </a:lnSpc>
            </a:pPr>
            <a:r>
              <a:rPr lang="en-US" sz="2000" dirty="0">
                <a:solidFill>
                  <a:srgbClr val="FFE14D"/>
                </a:solidFill>
              </a:rPr>
              <a:t>Information Systems Management, Carnegie Mellon University.</a:t>
            </a:r>
          </a:p>
        </p:txBody>
      </p:sp>
      <p:sp>
        <p:nvSpPr>
          <p:cNvPr id="4" name="TextBox 3">
            <a:extLst>
              <a:ext uri="{FF2B5EF4-FFF2-40B4-BE49-F238E27FC236}">
                <a16:creationId xmlns:a16="http://schemas.microsoft.com/office/drawing/2014/main" id="{550288DE-38EB-1FE3-936B-3AADCC14A8A6}"/>
              </a:ext>
            </a:extLst>
          </p:cNvPr>
          <p:cNvSpPr txBox="1"/>
          <p:nvPr/>
        </p:nvSpPr>
        <p:spPr>
          <a:xfrm>
            <a:off x="881063" y="7416879"/>
            <a:ext cx="7315200" cy="369332"/>
          </a:xfrm>
          <a:prstGeom prst="rect">
            <a:avLst/>
          </a:prstGeom>
          <a:noFill/>
        </p:spPr>
        <p:txBody>
          <a:bodyPr wrap="square">
            <a:spAutoFit/>
          </a:bodyPr>
          <a:lstStyle/>
          <a:p>
            <a:r>
              <a:rPr lang="en-US" dirty="0">
                <a:solidFill>
                  <a:srgbClr val="FFE14D"/>
                </a:solidFill>
              </a:rPr>
              <a:t>All sources are embedded as clickable links</a:t>
            </a:r>
          </a:p>
        </p:txBody>
      </p:sp>
      <p:pic>
        <p:nvPicPr>
          <p:cNvPr id="1026" name="Picture 2" descr="black wordmark square">
            <a:extLst>
              <a:ext uri="{FF2B5EF4-FFF2-40B4-BE49-F238E27FC236}">
                <a16:creationId xmlns:a16="http://schemas.microsoft.com/office/drawing/2014/main" id="{4FE389D4-107D-15EF-ECAA-88B4FD921F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1956" y="6364224"/>
            <a:ext cx="1865376" cy="1865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968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81063" y="812721"/>
            <a:ext cx="5588318" cy="489466"/>
          </a:xfrm>
          <a:prstGeom prst="rect">
            <a:avLst/>
          </a:prstGeom>
          <a:noFill/>
          <a:ln/>
        </p:spPr>
        <p:txBody>
          <a:bodyPr wrap="none" lIns="0" tIns="0" rIns="0" bIns="0" rtlCol="0" anchor="t"/>
          <a:lstStyle/>
          <a:p>
            <a:pPr marL="0" indent="0" algn="l">
              <a:lnSpc>
                <a:spcPts val="3850"/>
              </a:lnSpc>
              <a:buNone/>
            </a:pPr>
            <a:r>
              <a:rPr lang="en-US" sz="3050" b="1" dirty="0">
                <a:solidFill>
                  <a:srgbClr val="FFE14D"/>
                </a:solidFill>
                <a:latin typeface="Comfortaa Bold" pitchFamily="34" charset="0"/>
                <a:ea typeface="Comfortaa Bold" pitchFamily="34" charset="-122"/>
                <a:cs typeface="Comfortaa Bold" pitchFamily="34" charset="-120"/>
              </a:rPr>
              <a:t>AI Agents and Voice Agents</a:t>
            </a:r>
            <a:endParaRPr lang="en-US" sz="3050" dirty="0"/>
          </a:p>
        </p:txBody>
      </p:sp>
      <p:sp>
        <p:nvSpPr>
          <p:cNvPr id="3" name="Text 1"/>
          <p:cNvSpPr/>
          <p:nvPr/>
        </p:nvSpPr>
        <p:spPr>
          <a:xfrm>
            <a:off x="881063" y="1478399"/>
            <a:ext cx="6219230" cy="1409700"/>
          </a:xfrm>
          <a:prstGeom prst="rect">
            <a:avLst/>
          </a:prstGeom>
          <a:noFill/>
          <a:ln/>
        </p:spPr>
        <p:txBody>
          <a:bodyPr wrap="square" lIns="0" tIns="0" rIns="0" bIns="0" rtlCol="0" anchor="t"/>
          <a:lstStyle/>
          <a:p>
            <a:pPr marL="0" indent="0" algn="l">
              <a:lnSpc>
                <a:spcPts val="2750"/>
              </a:lnSpc>
              <a:buNone/>
            </a:pPr>
            <a:r>
              <a:rPr lang="en-US" sz="1700" u="sng" dirty="0">
                <a:solidFill>
                  <a:srgbClr val="FFE14D"/>
                </a:solidFill>
                <a:latin typeface="Raleway Medium" pitchFamily="34" charset="0"/>
                <a:ea typeface="Raleway Medium" pitchFamily="34" charset="-122"/>
                <a:cs typeface="Raleway Medium" pitchFamily="34" charset="-120"/>
                <a:hlinkClick r:id="rId3">
                  <a:extLst>
                    <a:ext uri="{A12FA001-AC4F-418D-AE19-62706E023703}">
                      <ahyp:hlinkClr xmlns:ahyp="http://schemas.microsoft.com/office/drawing/2018/hyperlinkcolor" val="tx"/>
                    </a:ext>
                  </a:extLst>
                </a:hlinkClick>
              </a:rPr>
              <a:t>AI agents</a:t>
            </a:r>
            <a:r>
              <a:rPr lang="en-US" sz="1700" dirty="0">
                <a:solidFill>
                  <a:srgbClr val="D7D4CC"/>
                </a:solidFill>
                <a:latin typeface="Raleway Medium" pitchFamily="34" charset="0"/>
                <a:ea typeface="Raleway Medium" pitchFamily="34" charset="-122"/>
                <a:cs typeface="Raleway Medium" pitchFamily="34" charset="-120"/>
              </a:rPr>
              <a:t> are software systems that use AI to pursue goals and complete tasks on behalf of users. They show reasoning, planning, and memory and have a level of autonomy to make decisions, learn, and adapt.</a:t>
            </a:r>
            <a:endParaRPr lang="en-US" sz="1700" dirty="0"/>
          </a:p>
        </p:txBody>
      </p:sp>
      <p:sp>
        <p:nvSpPr>
          <p:cNvPr id="4" name="Text 2"/>
          <p:cNvSpPr/>
          <p:nvPr/>
        </p:nvSpPr>
        <p:spPr>
          <a:xfrm>
            <a:off x="881063" y="3046690"/>
            <a:ext cx="6219230" cy="1762125"/>
          </a:xfrm>
          <a:prstGeom prst="rect">
            <a:avLst/>
          </a:prstGeom>
          <a:noFill/>
          <a:ln/>
        </p:spPr>
        <p:txBody>
          <a:bodyPr wrap="square" lIns="0" tIns="0" rIns="0" bIns="0" rtlCol="0" anchor="t"/>
          <a:lstStyle/>
          <a:p>
            <a:pPr marL="0" indent="0" algn="l">
              <a:lnSpc>
                <a:spcPts val="2750"/>
              </a:lnSpc>
              <a:buNone/>
            </a:pPr>
            <a:r>
              <a:rPr lang="en-US" sz="1700" dirty="0">
                <a:solidFill>
                  <a:srgbClr val="D7D4CC"/>
                </a:solidFill>
                <a:latin typeface="Raleway Medium" pitchFamily="34" charset="0"/>
                <a:ea typeface="Raleway Medium" pitchFamily="34" charset="-122"/>
                <a:cs typeface="Raleway Medium" pitchFamily="34" charset="-120"/>
              </a:rPr>
              <a:t>They can take input in various formats such as images, text, and audio, and generate outputs in multiple forms. While many AI agents support multimodal interaction, not all agents are inherently multimodal; some may operate using only a single mode such as text or voice.</a:t>
            </a:r>
            <a:endParaRPr lang="en-US" sz="1700" dirty="0"/>
          </a:p>
        </p:txBody>
      </p:sp>
      <p:sp>
        <p:nvSpPr>
          <p:cNvPr id="5" name="Text 3"/>
          <p:cNvSpPr/>
          <p:nvPr/>
        </p:nvSpPr>
        <p:spPr>
          <a:xfrm>
            <a:off x="881063" y="4967407"/>
            <a:ext cx="6219230" cy="2466975"/>
          </a:xfrm>
          <a:prstGeom prst="rect">
            <a:avLst/>
          </a:prstGeom>
          <a:noFill/>
          <a:ln/>
        </p:spPr>
        <p:txBody>
          <a:bodyPr wrap="square" lIns="0" tIns="0" rIns="0" bIns="0" rtlCol="0" anchor="t"/>
          <a:lstStyle/>
          <a:p>
            <a:pPr marL="0" indent="0" algn="l">
              <a:lnSpc>
                <a:spcPts val="2750"/>
              </a:lnSpc>
              <a:buNone/>
            </a:pPr>
            <a:r>
              <a:rPr lang="en-US" sz="1700" dirty="0">
                <a:solidFill>
                  <a:srgbClr val="FFE14D"/>
                </a:solidFill>
                <a:latin typeface="Raleway Medium" pitchFamily="34" charset="0"/>
                <a:ea typeface="Raleway Medium" pitchFamily="34" charset="-122"/>
                <a:cs typeface="Raleway Medium" pitchFamily="34" charset="-120"/>
              </a:rPr>
              <a:t>Voice agents</a:t>
            </a:r>
            <a:r>
              <a:rPr lang="en-US" sz="1700" dirty="0">
                <a:solidFill>
                  <a:srgbClr val="D7D4CC"/>
                </a:solidFill>
                <a:latin typeface="Raleway Medium" pitchFamily="34" charset="0"/>
                <a:ea typeface="Raleway Medium" pitchFamily="34" charset="-122"/>
                <a:cs typeface="Raleway Medium" pitchFamily="34" charset="-120"/>
              </a:rPr>
              <a:t> are a specific type of AI agent that use audio as the primary (and sometimes exclusive) mode of input and output. They offer the same core functionality as other AI agents but interact with customers or stakeholders through spoken dialogue rather than text or visual interfaces. Because of this, voice agents can be considered a subset of AI agents</a:t>
            </a:r>
            <a:endParaRPr lang="en-US" sz="1700" dirty="0"/>
          </a:p>
        </p:txBody>
      </p:sp>
      <p:pic>
        <p:nvPicPr>
          <p:cNvPr id="6" name="Image 0" descr="preencoded.png"/>
          <p:cNvPicPr>
            <a:picLocks noChangeAspect="1"/>
          </p:cNvPicPr>
          <p:nvPr/>
        </p:nvPicPr>
        <p:blipFill>
          <a:blip r:embed="rId4"/>
          <a:stretch>
            <a:fillRect/>
          </a:stretch>
        </p:blipFill>
        <p:spPr>
          <a:xfrm>
            <a:off x="7537728" y="834747"/>
            <a:ext cx="6219230" cy="2846189"/>
          </a:xfrm>
          <a:prstGeom prst="rect">
            <a:avLst/>
          </a:prstGeom>
        </p:spPr>
      </p:pic>
      <p:sp>
        <p:nvSpPr>
          <p:cNvPr id="7" name="Text 4"/>
          <p:cNvSpPr/>
          <p:nvPr/>
        </p:nvSpPr>
        <p:spPr>
          <a:xfrm>
            <a:off x="12093333" y="1357518"/>
            <a:ext cx="1516385" cy="171969"/>
          </a:xfrm>
          <a:prstGeom prst="rect">
            <a:avLst/>
          </a:prstGeom>
          <a:noFill/>
          <a:ln/>
        </p:spPr>
        <p:txBody>
          <a:bodyPr wrap="none" lIns="0" tIns="0" rIns="0" bIns="0" rtlCol="0" anchor="t"/>
          <a:lstStyle/>
          <a:p>
            <a:pPr marL="0" indent="0" algn="ctr">
              <a:lnSpc>
                <a:spcPts val="1650"/>
              </a:lnSpc>
              <a:buNone/>
            </a:pPr>
            <a:r>
              <a:rPr lang="en-US" sz="1350" dirty="0">
                <a:solidFill>
                  <a:srgbClr val="D7D4CC"/>
                </a:solidFill>
                <a:latin typeface="Raleway Medium" pitchFamily="34" charset="0"/>
                <a:ea typeface="Raleway Medium" pitchFamily="34" charset="-122"/>
                <a:cs typeface="Raleway Medium" pitchFamily="34" charset="-120"/>
              </a:rPr>
              <a:t>GenAI Tools</a:t>
            </a:r>
            <a:endParaRPr lang="en-US" sz="1350" dirty="0"/>
          </a:p>
        </p:txBody>
      </p:sp>
      <p:sp>
        <p:nvSpPr>
          <p:cNvPr id="8" name="Text 5"/>
          <p:cNvSpPr/>
          <p:nvPr/>
        </p:nvSpPr>
        <p:spPr>
          <a:xfrm>
            <a:off x="7684813" y="2293029"/>
            <a:ext cx="1394095" cy="171969"/>
          </a:xfrm>
          <a:prstGeom prst="rect">
            <a:avLst/>
          </a:prstGeom>
          <a:noFill/>
          <a:ln/>
        </p:spPr>
        <p:txBody>
          <a:bodyPr wrap="none" lIns="0" tIns="0" rIns="0" bIns="0" rtlCol="0" anchor="t"/>
          <a:lstStyle/>
          <a:p>
            <a:pPr marL="0" indent="0" algn="ctr">
              <a:lnSpc>
                <a:spcPts val="1650"/>
              </a:lnSpc>
              <a:buNone/>
            </a:pPr>
            <a:r>
              <a:rPr lang="en-US" sz="1350" dirty="0">
                <a:solidFill>
                  <a:srgbClr val="D7D4CC"/>
                </a:solidFill>
                <a:latin typeface="Raleway Medium" pitchFamily="34" charset="0"/>
                <a:ea typeface="Raleway Medium" pitchFamily="34" charset="-122"/>
                <a:cs typeface="Raleway Medium" pitchFamily="34" charset="-120"/>
              </a:rPr>
              <a:t>AI Agents</a:t>
            </a:r>
            <a:endParaRPr lang="en-US" sz="1350" dirty="0"/>
          </a:p>
        </p:txBody>
      </p:sp>
      <p:sp>
        <p:nvSpPr>
          <p:cNvPr id="9" name="Text 6"/>
          <p:cNvSpPr/>
          <p:nvPr/>
        </p:nvSpPr>
        <p:spPr>
          <a:xfrm>
            <a:off x="12093333" y="2776071"/>
            <a:ext cx="1516385" cy="171969"/>
          </a:xfrm>
          <a:prstGeom prst="rect">
            <a:avLst/>
          </a:prstGeom>
          <a:noFill/>
          <a:ln/>
        </p:spPr>
        <p:txBody>
          <a:bodyPr wrap="none" lIns="0" tIns="0" rIns="0" bIns="0" rtlCol="0" anchor="t"/>
          <a:lstStyle/>
          <a:p>
            <a:pPr marL="0" indent="0" algn="ctr">
              <a:lnSpc>
                <a:spcPts val="1650"/>
              </a:lnSpc>
              <a:buNone/>
            </a:pPr>
            <a:r>
              <a:rPr lang="en-US" sz="1350" dirty="0">
                <a:solidFill>
                  <a:srgbClr val="D7D4CC"/>
                </a:solidFill>
                <a:latin typeface="Raleway Medium" pitchFamily="34" charset="0"/>
                <a:ea typeface="Raleway Medium" pitchFamily="34" charset="-122"/>
                <a:cs typeface="Raleway Medium" pitchFamily="34" charset="-120"/>
              </a:rPr>
              <a:t>Voice agents</a:t>
            </a:r>
            <a:endParaRPr lang="en-US" sz="1350" dirty="0"/>
          </a:p>
        </p:txBody>
      </p:sp>
      <p:sp>
        <p:nvSpPr>
          <p:cNvPr id="10" name="Text 7"/>
          <p:cNvSpPr/>
          <p:nvPr/>
        </p:nvSpPr>
        <p:spPr>
          <a:xfrm>
            <a:off x="7537728" y="3879175"/>
            <a:ext cx="6219230" cy="281940"/>
          </a:xfrm>
          <a:prstGeom prst="rect">
            <a:avLst/>
          </a:prstGeom>
          <a:noFill/>
          <a:ln/>
        </p:spPr>
        <p:txBody>
          <a:bodyPr wrap="none" lIns="0" tIns="0" rIns="0" bIns="0" rtlCol="0" anchor="t"/>
          <a:lstStyle/>
          <a:p>
            <a:pPr marL="0" indent="0" algn="l">
              <a:lnSpc>
                <a:spcPts val="2200"/>
              </a:lnSpc>
              <a:buNone/>
            </a:pPr>
            <a:endParaRPr lang="en-US" sz="1350" dirty="0"/>
          </a:p>
        </p:txBody>
      </p:sp>
      <p:sp>
        <p:nvSpPr>
          <p:cNvPr id="11" name="Text 8"/>
          <p:cNvSpPr/>
          <p:nvPr/>
        </p:nvSpPr>
        <p:spPr>
          <a:xfrm>
            <a:off x="7537728" y="4319707"/>
            <a:ext cx="6219230" cy="281940"/>
          </a:xfrm>
          <a:prstGeom prst="rect">
            <a:avLst/>
          </a:prstGeom>
          <a:noFill/>
          <a:ln/>
        </p:spPr>
        <p:txBody>
          <a:bodyPr wrap="none" lIns="0" tIns="0" rIns="0" bIns="0" rtlCol="0" anchor="t"/>
          <a:lstStyle/>
          <a:p>
            <a:pPr marL="0" indent="0" algn="l">
              <a:lnSpc>
                <a:spcPts val="2200"/>
              </a:lnSpc>
              <a:buNone/>
            </a:pPr>
            <a:r>
              <a:rPr lang="en-US" sz="1350" dirty="0">
                <a:solidFill>
                  <a:srgbClr val="FFE14D"/>
                </a:solidFill>
                <a:latin typeface="Raleway Medium" pitchFamily="34" charset="0"/>
                <a:ea typeface="Raleway Medium" pitchFamily="34" charset="-122"/>
                <a:cs typeface="Raleway Medium" pitchFamily="34" charset="-120"/>
              </a:rPr>
              <a:t>How they are different from Automation &amp; Co-pilots ?</a:t>
            </a:r>
            <a:endParaRPr lang="en-US" sz="1350" dirty="0"/>
          </a:p>
        </p:txBody>
      </p:sp>
      <p:sp>
        <p:nvSpPr>
          <p:cNvPr id="12" name="Text 9"/>
          <p:cNvSpPr/>
          <p:nvPr/>
        </p:nvSpPr>
        <p:spPr>
          <a:xfrm>
            <a:off x="7537728" y="4760238"/>
            <a:ext cx="6219230" cy="845820"/>
          </a:xfrm>
          <a:prstGeom prst="rect">
            <a:avLst/>
          </a:prstGeom>
          <a:noFill/>
          <a:ln/>
        </p:spPr>
        <p:txBody>
          <a:bodyPr wrap="square" lIns="0" tIns="0" rIns="0" bIns="0" rtlCol="0" anchor="t"/>
          <a:lstStyle/>
          <a:p>
            <a:pPr marL="0" indent="0" algn="l">
              <a:lnSpc>
                <a:spcPts val="2200"/>
              </a:lnSpc>
              <a:buNone/>
            </a:pPr>
            <a:r>
              <a:rPr lang="en-US" sz="1350" b="1" dirty="0">
                <a:solidFill>
                  <a:srgbClr val="D7D4CC"/>
                </a:solidFill>
                <a:latin typeface="Raleway Medium" pitchFamily="34" charset="0"/>
                <a:ea typeface="Raleway Medium" pitchFamily="34" charset="-122"/>
                <a:cs typeface="Raleway Medium" pitchFamily="34" charset="-120"/>
              </a:rPr>
              <a:t>Co-pilots</a:t>
            </a:r>
            <a:r>
              <a:rPr lang="en-US" sz="1350" dirty="0">
                <a:solidFill>
                  <a:srgbClr val="D7D4CC"/>
                </a:solidFill>
                <a:latin typeface="Raleway Medium" pitchFamily="34" charset="0"/>
                <a:ea typeface="Raleway Medium" pitchFamily="34" charset="-122"/>
                <a:cs typeface="Raleway Medium" pitchFamily="34" charset="-120"/>
              </a:rPr>
              <a:t> are assistive tools embedded within applications to enhance user productivity by providing suggestions or completing tasks under user direction—they don’t act independently</a:t>
            </a:r>
            <a:endParaRPr lang="en-US" sz="1350" dirty="0"/>
          </a:p>
        </p:txBody>
      </p:sp>
      <p:sp>
        <p:nvSpPr>
          <p:cNvPr id="13" name="Text 10"/>
          <p:cNvSpPr/>
          <p:nvPr/>
        </p:nvSpPr>
        <p:spPr>
          <a:xfrm>
            <a:off x="7537728" y="5764649"/>
            <a:ext cx="6219230" cy="845820"/>
          </a:xfrm>
          <a:prstGeom prst="rect">
            <a:avLst/>
          </a:prstGeom>
          <a:noFill/>
          <a:ln/>
        </p:spPr>
        <p:txBody>
          <a:bodyPr wrap="square" lIns="0" tIns="0" rIns="0" bIns="0" rtlCol="0" anchor="t"/>
          <a:lstStyle/>
          <a:p>
            <a:pPr marL="0" indent="0" algn="l">
              <a:lnSpc>
                <a:spcPts val="2200"/>
              </a:lnSpc>
              <a:buNone/>
            </a:pPr>
            <a:r>
              <a:rPr lang="en-US" sz="1350" b="1" dirty="0">
                <a:solidFill>
                  <a:srgbClr val="D7D4CC"/>
                </a:solidFill>
                <a:latin typeface="Raleway Medium" pitchFamily="34" charset="0"/>
                <a:ea typeface="Raleway Medium" pitchFamily="34" charset="-122"/>
                <a:cs typeface="Raleway Medium" pitchFamily="34" charset="-120"/>
              </a:rPr>
              <a:t>Automation</a:t>
            </a:r>
            <a:r>
              <a:rPr lang="en-US" sz="1350" dirty="0">
                <a:solidFill>
                  <a:srgbClr val="D7D4CC"/>
                </a:solidFill>
                <a:latin typeface="Raleway Medium" pitchFamily="34" charset="0"/>
                <a:ea typeface="Raleway Medium" pitchFamily="34" charset="-122"/>
                <a:cs typeface="Raleway Medium" pitchFamily="34" charset="-120"/>
              </a:rPr>
              <a:t> refers to predefined workflows or scripts that execute repetitive tasks without intelligence or adaptability, lacking the goal-driven flexibility of AI agents.</a:t>
            </a:r>
            <a:endParaRPr lang="en-US" sz="1350" dirty="0"/>
          </a:p>
        </p:txBody>
      </p:sp>
      <p:sp>
        <p:nvSpPr>
          <p:cNvPr id="14" name="Text 11"/>
          <p:cNvSpPr/>
          <p:nvPr/>
        </p:nvSpPr>
        <p:spPr>
          <a:xfrm>
            <a:off x="7537728" y="6769060"/>
            <a:ext cx="6219230" cy="281940"/>
          </a:xfrm>
          <a:prstGeom prst="rect">
            <a:avLst/>
          </a:prstGeom>
          <a:noFill/>
          <a:ln/>
        </p:spPr>
        <p:txBody>
          <a:bodyPr wrap="none" lIns="0" tIns="0" rIns="0" bIns="0" rtlCol="0" anchor="t"/>
          <a:lstStyle/>
          <a:p>
            <a:pPr marL="0" indent="0" algn="l">
              <a:lnSpc>
                <a:spcPts val="2200"/>
              </a:lnSpc>
              <a:buNone/>
            </a:pP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0091" y="502920"/>
            <a:ext cx="6374606" cy="329446"/>
          </a:xfrm>
          <a:prstGeom prst="rect">
            <a:avLst/>
          </a:prstGeom>
          <a:noFill/>
          <a:ln/>
        </p:spPr>
        <p:txBody>
          <a:bodyPr wrap="none" lIns="0" tIns="0" rIns="0" bIns="0" rtlCol="0" anchor="t"/>
          <a:lstStyle/>
          <a:p>
            <a:pPr marL="0" indent="0" algn="l">
              <a:lnSpc>
                <a:spcPts val="2550"/>
              </a:lnSpc>
              <a:buNone/>
            </a:pPr>
            <a:r>
              <a:rPr lang="en-US" sz="2400" b="1" dirty="0">
                <a:solidFill>
                  <a:srgbClr val="FFE14D"/>
                </a:solidFill>
                <a:ea typeface="Comfortaa Bold" pitchFamily="34" charset="-122"/>
                <a:cs typeface="Comfortaa Bold" pitchFamily="34" charset="-120"/>
              </a:rPr>
              <a:t>Underlying trends driving Agentic AI adoption</a:t>
            </a:r>
            <a:endParaRPr lang="en-US" sz="2400" dirty="0"/>
          </a:p>
        </p:txBody>
      </p:sp>
      <p:sp>
        <p:nvSpPr>
          <p:cNvPr id="3" name="Shape 1"/>
          <p:cNvSpPr/>
          <p:nvPr/>
        </p:nvSpPr>
        <p:spPr>
          <a:xfrm>
            <a:off x="730091" y="1069658"/>
            <a:ext cx="474583" cy="711875"/>
          </a:xfrm>
          <a:prstGeom prst="roundRect">
            <a:avLst>
              <a:gd name="adj" fmla="val 360004"/>
            </a:avLst>
          </a:prstGeom>
          <a:solidFill>
            <a:srgbClr val="46464A"/>
          </a:solidFill>
          <a:ln/>
        </p:spPr>
        <p:txBody>
          <a:bodyPr/>
          <a:lstStyle/>
          <a:p>
            <a:endParaRPr lang="en-US" sz="1200"/>
          </a:p>
        </p:txBody>
      </p:sp>
      <p:sp>
        <p:nvSpPr>
          <p:cNvPr id="4" name="Text 2"/>
          <p:cNvSpPr/>
          <p:nvPr/>
        </p:nvSpPr>
        <p:spPr>
          <a:xfrm>
            <a:off x="878443" y="1314331"/>
            <a:ext cx="177879" cy="222409"/>
          </a:xfrm>
          <a:prstGeom prst="rect">
            <a:avLst/>
          </a:prstGeom>
          <a:noFill/>
          <a:ln/>
        </p:spPr>
        <p:txBody>
          <a:bodyPr wrap="none" lIns="0" tIns="0" rIns="0" bIns="0" rtlCol="0" anchor="t"/>
          <a:lstStyle/>
          <a:p>
            <a:pPr marL="0" indent="0" algn="l">
              <a:lnSpc>
                <a:spcPts val="1400"/>
              </a:lnSpc>
              <a:buNone/>
            </a:pPr>
            <a:r>
              <a:rPr lang="en-US" sz="1200" b="1" dirty="0">
                <a:solidFill>
                  <a:srgbClr val="D7D4CC"/>
                </a:solidFill>
                <a:ea typeface="Comfortaa Bold" pitchFamily="34" charset="-122"/>
                <a:cs typeface="Comfortaa Bold" pitchFamily="34" charset="-120"/>
              </a:rPr>
              <a:t>1</a:t>
            </a:r>
            <a:endParaRPr lang="en-US" sz="1200" dirty="0"/>
          </a:p>
        </p:txBody>
      </p:sp>
      <p:sp>
        <p:nvSpPr>
          <p:cNvPr id="5" name="Text 3"/>
          <p:cNvSpPr/>
          <p:nvPr/>
        </p:nvSpPr>
        <p:spPr>
          <a:xfrm>
            <a:off x="1323261" y="1188244"/>
            <a:ext cx="11153418" cy="164663"/>
          </a:xfrm>
          <a:prstGeom prst="rect">
            <a:avLst/>
          </a:prstGeom>
          <a:noFill/>
          <a:ln/>
        </p:spPr>
        <p:txBody>
          <a:bodyPr wrap="none" lIns="0" tIns="0" rIns="0" bIns="0" rtlCol="0" anchor="t"/>
          <a:lstStyle/>
          <a:p>
            <a:pPr marL="0" indent="0" algn="l">
              <a:lnSpc>
                <a:spcPts val="1250"/>
              </a:lnSpc>
              <a:buNone/>
            </a:pPr>
            <a:r>
              <a:rPr lang="en-US" sz="1200" b="1" dirty="0">
                <a:solidFill>
                  <a:srgbClr val="FFE14D"/>
                </a:solidFill>
                <a:ea typeface="Comfortaa Bold" pitchFamily="34" charset="-122"/>
                <a:cs typeface="Comfortaa Bold" pitchFamily="34" charset="-120"/>
              </a:rPr>
              <a:t>Customer experience and expectation </a:t>
            </a:r>
            <a:r>
              <a:rPr lang="en-US" sz="1200" b="1" dirty="0">
                <a:solidFill>
                  <a:srgbClr val="D7D4CC"/>
                </a:solidFill>
                <a:ea typeface="Comfortaa Bold" pitchFamily="34" charset="-122"/>
                <a:cs typeface="Comfortaa Bold" pitchFamily="34" charset="-120"/>
              </a:rPr>
              <a:t>- 75% of CX leaders expecting 80% of customer interactions to be resolved without human intervention in the next few years</a:t>
            </a:r>
            <a:endParaRPr lang="en-US" sz="1200" dirty="0"/>
          </a:p>
        </p:txBody>
      </p:sp>
      <p:sp>
        <p:nvSpPr>
          <p:cNvPr id="6" name="Shape 4"/>
          <p:cNvSpPr/>
          <p:nvPr/>
        </p:nvSpPr>
        <p:spPr>
          <a:xfrm>
            <a:off x="730091" y="1900118"/>
            <a:ext cx="474583" cy="711875"/>
          </a:xfrm>
          <a:prstGeom prst="roundRect">
            <a:avLst>
              <a:gd name="adj" fmla="val 360004"/>
            </a:avLst>
          </a:prstGeom>
          <a:solidFill>
            <a:srgbClr val="46464A"/>
          </a:solidFill>
          <a:ln/>
        </p:spPr>
        <p:txBody>
          <a:bodyPr/>
          <a:lstStyle/>
          <a:p>
            <a:endParaRPr lang="en-US" sz="1200"/>
          </a:p>
        </p:txBody>
      </p:sp>
      <p:sp>
        <p:nvSpPr>
          <p:cNvPr id="7" name="Text 5"/>
          <p:cNvSpPr/>
          <p:nvPr/>
        </p:nvSpPr>
        <p:spPr>
          <a:xfrm>
            <a:off x="878443" y="2144792"/>
            <a:ext cx="177879" cy="222409"/>
          </a:xfrm>
          <a:prstGeom prst="rect">
            <a:avLst/>
          </a:prstGeom>
          <a:noFill/>
          <a:ln/>
        </p:spPr>
        <p:txBody>
          <a:bodyPr wrap="none" lIns="0" tIns="0" rIns="0" bIns="0" rtlCol="0" anchor="t"/>
          <a:lstStyle/>
          <a:p>
            <a:pPr marL="0" indent="0" algn="l">
              <a:lnSpc>
                <a:spcPts val="1400"/>
              </a:lnSpc>
              <a:buNone/>
            </a:pPr>
            <a:r>
              <a:rPr lang="en-US" sz="1200" b="1" dirty="0">
                <a:solidFill>
                  <a:srgbClr val="D7D4CC"/>
                </a:solidFill>
                <a:ea typeface="Comfortaa Bold" pitchFamily="34" charset="-122"/>
                <a:cs typeface="Comfortaa Bold" pitchFamily="34" charset="-120"/>
              </a:rPr>
              <a:t>2</a:t>
            </a:r>
            <a:endParaRPr lang="en-US" sz="1200" dirty="0"/>
          </a:p>
        </p:txBody>
      </p:sp>
      <p:sp>
        <p:nvSpPr>
          <p:cNvPr id="8" name="Text 6"/>
          <p:cNvSpPr/>
          <p:nvPr/>
        </p:nvSpPr>
        <p:spPr>
          <a:xfrm>
            <a:off x="1323261" y="2018705"/>
            <a:ext cx="12577048" cy="329327"/>
          </a:xfrm>
          <a:prstGeom prst="rect">
            <a:avLst/>
          </a:prstGeom>
          <a:noFill/>
          <a:ln/>
        </p:spPr>
        <p:txBody>
          <a:bodyPr wrap="square" lIns="0" tIns="0" rIns="0" bIns="0" rtlCol="0" anchor="t"/>
          <a:lstStyle/>
          <a:p>
            <a:pPr marL="0" indent="0" algn="l">
              <a:lnSpc>
                <a:spcPts val="1250"/>
              </a:lnSpc>
              <a:buNone/>
            </a:pPr>
            <a:r>
              <a:rPr lang="en-US" sz="1200" b="1" dirty="0">
                <a:solidFill>
                  <a:srgbClr val="FFE14D"/>
                </a:solidFill>
                <a:ea typeface="Comfortaa Bold" pitchFamily="34" charset="-122"/>
                <a:cs typeface="Comfortaa Bold" pitchFamily="34" charset="-120"/>
              </a:rPr>
              <a:t>Increase in Context and memory implementation in GenAI models</a:t>
            </a:r>
            <a:r>
              <a:rPr lang="en-US" sz="1200" b="1" dirty="0">
                <a:solidFill>
                  <a:srgbClr val="D7D4CC"/>
                </a:solidFill>
                <a:ea typeface="Comfortaa Bold" pitchFamily="34" charset="-122"/>
                <a:cs typeface="Comfortaa Bold" pitchFamily="34" charset="-120"/>
              </a:rPr>
              <a:t> - Increasing context windows and affordable context caching let agents persist goals, history, and large reference materials within a single session, which reduces brittle orchestration, boosts accuracy and continuity</a:t>
            </a:r>
            <a:endParaRPr lang="en-US" sz="1200" dirty="0"/>
          </a:p>
        </p:txBody>
      </p:sp>
      <p:sp>
        <p:nvSpPr>
          <p:cNvPr id="9" name="Shape 7"/>
          <p:cNvSpPr/>
          <p:nvPr/>
        </p:nvSpPr>
        <p:spPr>
          <a:xfrm>
            <a:off x="730091" y="2730579"/>
            <a:ext cx="474583" cy="827484"/>
          </a:xfrm>
          <a:prstGeom prst="roundRect">
            <a:avLst>
              <a:gd name="adj" fmla="val 360004"/>
            </a:avLst>
          </a:prstGeom>
          <a:solidFill>
            <a:srgbClr val="46464A"/>
          </a:solidFill>
          <a:ln/>
        </p:spPr>
        <p:txBody>
          <a:bodyPr/>
          <a:lstStyle/>
          <a:p>
            <a:endParaRPr lang="en-US" sz="1200"/>
          </a:p>
        </p:txBody>
      </p:sp>
      <p:sp>
        <p:nvSpPr>
          <p:cNvPr id="10" name="Text 8"/>
          <p:cNvSpPr/>
          <p:nvPr/>
        </p:nvSpPr>
        <p:spPr>
          <a:xfrm>
            <a:off x="878443" y="3033117"/>
            <a:ext cx="177879" cy="222409"/>
          </a:xfrm>
          <a:prstGeom prst="rect">
            <a:avLst/>
          </a:prstGeom>
          <a:noFill/>
          <a:ln/>
        </p:spPr>
        <p:txBody>
          <a:bodyPr wrap="none" lIns="0" tIns="0" rIns="0" bIns="0" rtlCol="0" anchor="t"/>
          <a:lstStyle/>
          <a:p>
            <a:pPr marL="0" indent="0" algn="l">
              <a:lnSpc>
                <a:spcPts val="1400"/>
              </a:lnSpc>
              <a:buNone/>
            </a:pPr>
            <a:r>
              <a:rPr lang="en-US" sz="1200" b="1" dirty="0">
                <a:solidFill>
                  <a:srgbClr val="D7D4CC"/>
                </a:solidFill>
                <a:ea typeface="Comfortaa Bold" pitchFamily="34" charset="-122"/>
                <a:cs typeface="Comfortaa Bold" pitchFamily="34" charset="-120"/>
              </a:rPr>
              <a:t>3</a:t>
            </a:r>
            <a:endParaRPr lang="en-US" sz="1200" dirty="0"/>
          </a:p>
        </p:txBody>
      </p:sp>
      <p:sp>
        <p:nvSpPr>
          <p:cNvPr id="11" name="Text 9"/>
          <p:cNvSpPr/>
          <p:nvPr/>
        </p:nvSpPr>
        <p:spPr>
          <a:xfrm>
            <a:off x="1323261" y="2849166"/>
            <a:ext cx="12577048" cy="329327"/>
          </a:xfrm>
          <a:prstGeom prst="rect">
            <a:avLst/>
          </a:prstGeom>
          <a:noFill/>
          <a:ln/>
        </p:spPr>
        <p:txBody>
          <a:bodyPr wrap="square" lIns="0" tIns="0" rIns="0" bIns="0" rtlCol="0" anchor="t"/>
          <a:lstStyle/>
          <a:p>
            <a:pPr marL="0" indent="0" algn="l">
              <a:lnSpc>
                <a:spcPts val="1250"/>
              </a:lnSpc>
              <a:buNone/>
            </a:pPr>
            <a:r>
              <a:rPr lang="en-US" sz="1200" b="1" dirty="0">
                <a:solidFill>
                  <a:srgbClr val="FFE14D"/>
                </a:solidFill>
                <a:ea typeface="Comfortaa Bold" pitchFamily="34" charset="-122"/>
                <a:cs typeface="Comfortaa Bold" pitchFamily="34" charset="-120"/>
              </a:rPr>
              <a:t>Reasoning and Tool usage</a:t>
            </a:r>
            <a:r>
              <a:rPr lang="en-US" sz="1200" b="1" dirty="0">
                <a:solidFill>
                  <a:srgbClr val="D7D4CC"/>
                </a:solidFill>
                <a:ea typeface="Comfortaa Bold" pitchFamily="34" charset="-122"/>
                <a:cs typeface="Comfortaa Bold" pitchFamily="34" charset="-120"/>
              </a:rPr>
              <a:t> - New “reasoning” models are explicitly trained to think before responding, improving complex problem solving and enabling multi‑step planning crucial for autonomous agents</a:t>
            </a:r>
            <a:endParaRPr lang="en-US" sz="1200" dirty="0"/>
          </a:p>
        </p:txBody>
      </p:sp>
      <p:sp>
        <p:nvSpPr>
          <p:cNvPr id="12" name="Text 10"/>
          <p:cNvSpPr/>
          <p:nvPr/>
        </p:nvSpPr>
        <p:spPr>
          <a:xfrm>
            <a:off x="1323261" y="3249573"/>
            <a:ext cx="12577048" cy="189905"/>
          </a:xfrm>
          <a:prstGeom prst="rect">
            <a:avLst/>
          </a:prstGeom>
          <a:noFill/>
          <a:ln/>
        </p:spPr>
        <p:txBody>
          <a:bodyPr wrap="none" lIns="0" tIns="0" rIns="0" bIns="0" rtlCol="0" anchor="t"/>
          <a:lstStyle/>
          <a:p>
            <a:pPr marL="0" indent="0" algn="l">
              <a:lnSpc>
                <a:spcPts val="1450"/>
              </a:lnSpc>
              <a:buNone/>
            </a:pPr>
            <a:r>
              <a:rPr lang="en-US" sz="1200" dirty="0">
                <a:solidFill>
                  <a:srgbClr val="D7D4CC"/>
                </a:solidFill>
                <a:ea typeface="Raleway Medium" pitchFamily="34" charset="-122"/>
                <a:cs typeface="Raleway Medium" pitchFamily="34" charset="-120"/>
              </a:rPr>
              <a:t>Platforms now expose capabilities such as tool/function calling and code execution so models can iteratively compute, verify, and act—key for reliable agent decisions.</a:t>
            </a:r>
            <a:endParaRPr lang="en-US" sz="1200" dirty="0"/>
          </a:p>
        </p:txBody>
      </p:sp>
      <p:sp>
        <p:nvSpPr>
          <p:cNvPr id="13" name="Shape 11"/>
          <p:cNvSpPr/>
          <p:nvPr/>
        </p:nvSpPr>
        <p:spPr>
          <a:xfrm>
            <a:off x="730091" y="3676650"/>
            <a:ext cx="474583" cy="1374696"/>
          </a:xfrm>
          <a:prstGeom prst="roundRect">
            <a:avLst>
              <a:gd name="adj" fmla="val 360004"/>
            </a:avLst>
          </a:prstGeom>
          <a:solidFill>
            <a:srgbClr val="46464A"/>
          </a:solidFill>
          <a:ln/>
        </p:spPr>
        <p:txBody>
          <a:bodyPr/>
          <a:lstStyle/>
          <a:p>
            <a:endParaRPr lang="en-US" sz="1200"/>
          </a:p>
        </p:txBody>
      </p:sp>
      <p:sp>
        <p:nvSpPr>
          <p:cNvPr id="14" name="Text 12"/>
          <p:cNvSpPr/>
          <p:nvPr/>
        </p:nvSpPr>
        <p:spPr>
          <a:xfrm>
            <a:off x="878443" y="4252793"/>
            <a:ext cx="177879" cy="222409"/>
          </a:xfrm>
          <a:prstGeom prst="rect">
            <a:avLst/>
          </a:prstGeom>
          <a:noFill/>
          <a:ln/>
        </p:spPr>
        <p:txBody>
          <a:bodyPr wrap="none" lIns="0" tIns="0" rIns="0" bIns="0" rtlCol="0" anchor="t"/>
          <a:lstStyle/>
          <a:p>
            <a:pPr marL="0" indent="0" algn="l">
              <a:lnSpc>
                <a:spcPts val="1400"/>
              </a:lnSpc>
              <a:buNone/>
            </a:pPr>
            <a:r>
              <a:rPr lang="en-US" sz="1200" b="1" dirty="0">
                <a:solidFill>
                  <a:srgbClr val="D7D4CC"/>
                </a:solidFill>
                <a:ea typeface="Comfortaa Bold" pitchFamily="34" charset="-122"/>
                <a:cs typeface="Comfortaa Bold" pitchFamily="34" charset="-120"/>
              </a:rPr>
              <a:t>4</a:t>
            </a:r>
            <a:endParaRPr lang="en-US" sz="1200" dirty="0"/>
          </a:p>
        </p:txBody>
      </p:sp>
      <p:sp>
        <p:nvSpPr>
          <p:cNvPr id="15" name="Text 13"/>
          <p:cNvSpPr/>
          <p:nvPr/>
        </p:nvSpPr>
        <p:spPr>
          <a:xfrm>
            <a:off x="1323261" y="3795236"/>
            <a:ext cx="2842974" cy="164663"/>
          </a:xfrm>
          <a:prstGeom prst="rect">
            <a:avLst/>
          </a:prstGeom>
          <a:noFill/>
          <a:ln/>
        </p:spPr>
        <p:txBody>
          <a:bodyPr wrap="none" lIns="0" tIns="0" rIns="0" bIns="0" rtlCol="0" anchor="t"/>
          <a:lstStyle/>
          <a:p>
            <a:pPr marL="0" indent="0" algn="l">
              <a:lnSpc>
                <a:spcPts val="1250"/>
              </a:lnSpc>
              <a:buNone/>
            </a:pPr>
            <a:r>
              <a:rPr lang="en-US" sz="1200" b="1" dirty="0">
                <a:solidFill>
                  <a:srgbClr val="FFE14D"/>
                </a:solidFill>
                <a:ea typeface="Comfortaa Bold" pitchFamily="34" charset="-122"/>
                <a:cs typeface="Comfortaa Bold" pitchFamily="34" charset="-120"/>
              </a:rPr>
              <a:t>Workflow autonomy , ROI and Economics </a:t>
            </a:r>
            <a:r>
              <a:rPr lang="en-US" sz="1200" b="1" dirty="0">
                <a:solidFill>
                  <a:srgbClr val="D7D4CC"/>
                </a:solidFill>
                <a:ea typeface="Comfortaa Bold" pitchFamily="34" charset="-122"/>
                <a:cs typeface="Comfortaa Bold" pitchFamily="34" charset="-120"/>
              </a:rPr>
              <a:t>-</a:t>
            </a:r>
            <a:endParaRPr lang="en-US" sz="1200" dirty="0"/>
          </a:p>
        </p:txBody>
      </p:sp>
      <p:sp>
        <p:nvSpPr>
          <p:cNvPr id="16" name="Text 14"/>
          <p:cNvSpPr/>
          <p:nvPr/>
        </p:nvSpPr>
        <p:spPr>
          <a:xfrm>
            <a:off x="1323261" y="4030980"/>
            <a:ext cx="12577048" cy="189905"/>
          </a:xfrm>
          <a:prstGeom prst="rect">
            <a:avLst/>
          </a:prstGeom>
          <a:noFill/>
          <a:ln/>
        </p:spPr>
        <p:txBody>
          <a:bodyPr wrap="none" lIns="0" tIns="0" rIns="0" bIns="0" rtlCol="0" anchor="t"/>
          <a:lstStyle/>
          <a:p>
            <a:pPr marL="0" indent="0" algn="l">
              <a:lnSpc>
                <a:spcPts val="1450"/>
              </a:lnSpc>
              <a:buNone/>
            </a:pPr>
            <a:r>
              <a:rPr lang="en-US" sz="1200" dirty="0">
                <a:solidFill>
                  <a:srgbClr val="FFE14D"/>
                </a:solidFill>
                <a:ea typeface="Raleway Medium" pitchFamily="34" charset="-122"/>
                <a:cs typeface="Raleway Medium" pitchFamily="34" charset="-120"/>
              </a:rPr>
              <a:t>Contact centers report large cost and throughput gains, with estimates of 50% lower cost per call and scenarios where fewer human agents handle more volume as AI takes the majority of conversations</a:t>
            </a:r>
            <a:endParaRPr lang="en-US" sz="1200" dirty="0"/>
          </a:p>
        </p:txBody>
      </p:sp>
      <p:sp>
        <p:nvSpPr>
          <p:cNvPr id="17" name="Text 15"/>
          <p:cNvSpPr/>
          <p:nvPr/>
        </p:nvSpPr>
        <p:spPr>
          <a:xfrm>
            <a:off x="1323261" y="4291965"/>
            <a:ext cx="12577048" cy="379809"/>
          </a:xfrm>
          <a:prstGeom prst="rect">
            <a:avLst/>
          </a:prstGeom>
          <a:noFill/>
          <a:ln/>
        </p:spPr>
        <p:txBody>
          <a:bodyPr wrap="square" lIns="0" tIns="0" rIns="0" bIns="0" rtlCol="0" anchor="t"/>
          <a:lstStyle/>
          <a:p>
            <a:pPr marL="0" indent="0" algn="l">
              <a:lnSpc>
                <a:spcPts val="1450"/>
              </a:lnSpc>
              <a:buNone/>
            </a:pPr>
            <a:r>
              <a:rPr lang="en-US" sz="1200" dirty="0">
                <a:solidFill>
                  <a:srgbClr val="D7D4CC"/>
                </a:solidFill>
                <a:ea typeface="Raleway Medium" pitchFamily="34" charset="-122"/>
                <a:cs typeface="Raleway Medium" pitchFamily="34" charset="-120"/>
              </a:rPr>
              <a:t>When processes are redesigned around autonomy, studies suggest up to</a:t>
            </a:r>
            <a:r>
              <a:rPr lang="en-US" sz="1200" dirty="0">
                <a:solidFill>
                  <a:srgbClr val="FFE14D"/>
                </a:solidFill>
                <a:ea typeface="Raleway Medium" pitchFamily="34" charset="-122"/>
                <a:cs typeface="Raleway Medium" pitchFamily="34" charset="-120"/>
              </a:rPr>
              <a:t> 80% of common incidents</a:t>
            </a:r>
            <a:r>
              <a:rPr lang="en-US" sz="1200" dirty="0">
                <a:solidFill>
                  <a:srgbClr val="D7D4CC"/>
                </a:solidFill>
                <a:ea typeface="Raleway Medium" pitchFamily="34" charset="-122"/>
                <a:cs typeface="Raleway Medium" pitchFamily="34" charset="-120"/>
              </a:rPr>
              <a:t> can be resolved by agents with 60–90% faster time to resolution, shifting economics from incremental savings to step‑change productivity.</a:t>
            </a:r>
            <a:endParaRPr lang="en-US" sz="1200" dirty="0"/>
          </a:p>
        </p:txBody>
      </p:sp>
      <p:sp>
        <p:nvSpPr>
          <p:cNvPr id="18" name="Text 16"/>
          <p:cNvSpPr/>
          <p:nvPr/>
        </p:nvSpPr>
        <p:spPr>
          <a:xfrm>
            <a:off x="1323261" y="4742855"/>
            <a:ext cx="12577048" cy="189905"/>
          </a:xfrm>
          <a:prstGeom prst="rect">
            <a:avLst/>
          </a:prstGeom>
          <a:noFill/>
          <a:ln/>
        </p:spPr>
        <p:txBody>
          <a:bodyPr wrap="none" lIns="0" tIns="0" rIns="0" bIns="0" rtlCol="0" anchor="t"/>
          <a:lstStyle/>
          <a:p>
            <a:pPr marL="0" indent="0" algn="l">
              <a:lnSpc>
                <a:spcPts val="1450"/>
              </a:lnSpc>
              <a:buNone/>
            </a:pPr>
            <a:r>
              <a:rPr lang="en-US" sz="1200" dirty="0">
                <a:solidFill>
                  <a:srgbClr val="D7D4CC"/>
                </a:solidFill>
                <a:ea typeface="Raleway Medium" pitchFamily="34" charset="-122"/>
                <a:cs typeface="Raleway Medium" pitchFamily="34" charset="-120"/>
              </a:rPr>
              <a:t>The AI Index documents dramatic drops in inference cost—on the order o</a:t>
            </a:r>
            <a:r>
              <a:rPr lang="en-US" sz="1200" dirty="0">
                <a:solidFill>
                  <a:srgbClr val="FFE14D"/>
                </a:solidFill>
                <a:ea typeface="Raleway Medium" pitchFamily="34" charset="-122"/>
                <a:cs typeface="Raleway Medium" pitchFamily="34" charset="-120"/>
              </a:rPr>
              <a:t>f 280× for GPT‑3.5‑level performance</a:t>
            </a:r>
            <a:r>
              <a:rPr lang="en-US" sz="1200" dirty="0">
                <a:solidFill>
                  <a:srgbClr val="D7D4CC"/>
                </a:solidFill>
                <a:ea typeface="Raleway Medium" pitchFamily="34" charset="-122"/>
                <a:cs typeface="Raleway Medium" pitchFamily="34" charset="-120"/>
              </a:rPr>
              <a:t>—lowering deployment barriers and improving the business case for always‑on agents.</a:t>
            </a:r>
            <a:endParaRPr lang="en-US" sz="1200" dirty="0"/>
          </a:p>
        </p:txBody>
      </p:sp>
      <p:sp>
        <p:nvSpPr>
          <p:cNvPr id="19" name="Shape 17"/>
          <p:cNvSpPr/>
          <p:nvPr/>
        </p:nvSpPr>
        <p:spPr>
          <a:xfrm>
            <a:off x="730091" y="5169932"/>
            <a:ext cx="474583" cy="711875"/>
          </a:xfrm>
          <a:prstGeom prst="roundRect">
            <a:avLst>
              <a:gd name="adj" fmla="val 360004"/>
            </a:avLst>
          </a:prstGeom>
          <a:solidFill>
            <a:srgbClr val="46464A"/>
          </a:solidFill>
          <a:ln/>
        </p:spPr>
        <p:txBody>
          <a:bodyPr/>
          <a:lstStyle/>
          <a:p>
            <a:endParaRPr lang="en-US" sz="1200"/>
          </a:p>
        </p:txBody>
      </p:sp>
      <p:sp>
        <p:nvSpPr>
          <p:cNvPr id="20" name="Text 18"/>
          <p:cNvSpPr/>
          <p:nvPr/>
        </p:nvSpPr>
        <p:spPr>
          <a:xfrm>
            <a:off x="878443" y="5414605"/>
            <a:ext cx="177879" cy="222409"/>
          </a:xfrm>
          <a:prstGeom prst="rect">
            <a:avLst/>
          </a:prstGeom>
          <a:noFill/>
          <a:ln/>
        </p:spPr>
        <p:txBody>
          <a:bodyPr wrap="none" lIns="0" tIns="0" rIns="0" bIns="0" rtlCol="0" anchor="t"/>
          <a:lstStyle/>
          <a:p>
            <a:pPr marL="0" indent="0" algn="l">
              <a:lnSpc>
                <a:spcPts val="1400"/>
              </a:lnSpc>
              <a:buNone/>
            </a:pPr>
            <a:r>
              <a:rPr lang="en-US" sz="1200" b="1" dirty="0">
                <a:solidFill>
                  <a:srgbClr val="D7D4CC"/>
                </a:solidFill>
                <a:ea typeface="Comfortaa Bold" pitchFamily="34" charset="-122"/>
                <a:cs typeface="Comfortaa Bold" pitchFamily="34" charset="-120"/>
              </a:rPr>
              <a:t>5</a:t>
            </a:r>
            <a:endParaRPr lang="en-US" sz="1200" dirty="0"/>
          </a:p>
        </p:txBody>
      </p:sp>
      <p:sp>
        <p:nvSpPr>
          <p:cNvPr id="21" name="Text 19"/>
          <p:cNvSpPr/>
          <p:nvPr/>
        </p:nvSpPr>
        <p:spPr>
          <a:xfrm>
            <a:off x="1323261" y="5288518"/>
            <a:ext cx="12577048" cy="329327"/>
          </a:xfrm>
          <a:prstGeom prst="rect">
            <a:avLst/>
          </a:prstGeom>
          <a:noFill/>
          <a:ln/>
        </p:spPr>
        <p:txBody>
          <a:bodyPr wrap="square" lIns="0" tIns="0" rIns="0" bIns="0" rtlCol="0" anchor="t"/>
          <a:lstStyle/>
          <a:p>
            <a:pPr marL="0" indent="0" algn="l">
              <a:lnSpc>
                <a:spcPts val="1250"/>
              </a:lnSpc>
              <a:buNone/>
            </a:pPr>
            <a:r>
              <a:rPr lang="en-US" sz="1200" b="1" dirty="0">
                <a:solidFill>
                  <a:srgbClr val="FFE14D"/>
                </a:solidFill>
                <a:ea typeface="Comfortaa Bold" pitchFamily="34" charset="-122"/>
                <a:cs typeface="Comfortaa Bold" pitchFamily="34" charset="-120"/>
              </a:rPr>
              <a:t>Enterprise readiness -</a:t>
            </a:r>
            <a:r>
              <a:rPr lang="en-US" sz="1200" b="1" dirty="0">
                <a:solidFill>
                  <a:srgbClr val="D7D4CC"/>
                </a:solidFill>
                <a:ea typeface="Comfortaa Bold" pitchFamily="34" charset="-122"/>
                <a:cs typeface="Comfortaa Bold" pitchFamily="34" charset="-120"/>
              </a:rPr>
              <a:t>Gartner names Agentic AI a top 2025 strategic trend and emphasizes orchestration and guardrails, signaling that enterprise buyers view agents as an operating‑model shift rather than a point tool</a:t>
            </a:r>
            <a:endParaRPr lang="en-US" sz="1200" dirty="0"/>
          </a:p>
        </p:txBody>
      </p:sp>
      <p:sp>
        <p:nvSpPr>
          <p:cNvPr id="22" name="Shape 20"/>
          <p:cNvSpPr/>
          <p:nvPr/>
        </p:nvSpPr>
        <p:spPr>
          <a:xfrm>
            <a:off x="730091" y="6000393"/>
            <a:ext cx="474583" cy="711875"/>
          </a:xfrm>
          <a:prstGeom prst="roundRect">
            <a:avLst>
              <a:gd name="adj" fmla="val 360004"/>
            </a:avLst>
          </a:prstGeom>
          <a:solidFill>
            <a:srgbClr val="46464A"/>
          </a:solidFill>
          <a:ln/>
        </p:spPr>
        <p:txBody>
          <a:bodyPr/>
          <a:lstStyle/>
          <a:p>
            <a:endParaRPr lang="en-US" sz="1200"/>
          </a:p>
        </p:txBody>
      </p:sp>
      <p:sp>
        <p:nvSpPr>
          <p:cNvPr id="23" name="Text 21"/>
          <p:cNvSpPr/>
          <p:nvPr/>
        </p:nvSpPr>
        <p:spPr>
          <a:xfrm>
            <a:off x="878443" y="6245066"/>
            <a:ext cx="177879" cy="222409"/>
          </a:xfrm>
          <a:prstGeom prst="rect">
            <a:avLst/>
          </a:prstGeom>
          <a:noFill/>
          <a:ln/>
        </p:spPr>
        <p:txBody>
          <a:bodyPr wrap="none" lIns="0" tIns="0" rIns="0" bIns="0" rtlCol="0" anchor="t"/>
          <a:lstStyle/>
          <a:p>
            <a:pPr marL="0" indent="0" algn="l">
              <a:lnSpc>
                <a:spcPts val="1400"/>
              </a:lnSpc>
              <a:buNone/>
            </a:pPr>
            <a:r>
              <a:rPr lang="en-US" sz="1200" b="1" dirty="0">
                <a:solidFill>
                  <a:srgbClr val="D7D4CC"/>
                </a:solidFill>
                <a:ea typeface="Comfortaa Bold" pitchFamily="34" charset="-122"/>
                <a:cs typeface="Comfortaa Bold" pitchFamily="34" charset="-120"/>
              </a:rPr>
              <a:t>6</a:t>
            </a:r>
            <a:endParaRPr lang="en-US" sz="1200" dirty="0"/>
          </a:p>
        </p:txBody>
      </p:sp>
      <p:sp>
        <p:nvSpPr>
          <p:cNvPr id="24" name="Text 22"/>
          <p:cNvSpPr/>
          <p:nvPr/>
        </p:nvSpPr>
        <p:spPr>
          <a:xfrm>
            <a:off x="1323261" y="6118979"/>
            <a:ext cx="12577048" cy="329327"/>
          </a:xfrm>
          <a:prstGeom prst="rect">
            <a:avLst/>
          </a:prstGeom>
          <a:noFill/>
          <a:ln/>
        </p:spPr>
        <p:txBody>
          <a:bodyPr wrap="square" lIns="0" tIns="0" rIns="0" bIns="0" rtlCol="0" anchor="t"/>
          <a:lstStyle/>
          <a:p>
            <a:pPr marL="0" indent="0" algn="l">
              <a:lnSpc>
                <a:spcPts val="1250"/>
              </a:lnSpc>
              <a:buNone/>
            </a:pPr>
            <a:r>
              <a:rPr lang="en-US" sz="1200" b="1" dirty="0">
                <a:solidFill>
                  <a:srgbClr val="FFE14D"/>
                </a:solidFill>
                <a:ea typeface="Comfortaa Bold" pitchFamily="34" charset="-122"/>
                <a:cs typeface="Comfortaa Bold" pitchFamily="34" charset="-120"/>
              </a:rPr>
              <a:t>Improvement in Hardware and efficiency</a:t>
            </a:r>
            <a:r>
              <a:rPr lang="en-US" sz="1200" b="1" dirty="0">
                <a:solidFill>
                  <a:srgbClr val="D7D4CC"/>
                </a:solidFill>
                <a:ea typeface="Comfortaa Bold" pitchFamily="34" charset="-122"/>
                <a:cs typeface="Comfortaa Bold" pitchFamily="34" charset="-120"/>
              </a:rPr>
              <a:t>Stanford’s AI Index shows sustained declines in model and hardware costs, improving energy efficiency and enabling more experiments to transition into production value rather than remaining prototypes.</a:t>
            </a:r>
            <a:endParaRPr lang="en-US" sz="1200" dirty="0"/>
          </a:p>
        </p:txBody>
      </p:sp>
      <p:sp>
        <p:nvSpPr>
          <p:cNvPr id="25" name="Shape 23"/>
          <p:cNvSpPr/>
          <p:nvPr/>
        </p:nvSpPr>
        <p:spPr>
          <a:xfrm>
            <a:off x="730091" y="6830854"/>
            <a:ext cx="474583" cy="895826"/>
          </a:xfrm>
          <a:prstGeom prst="roundRect">
            <a:avLst>
              <a:gd name="adj" fmla="val 360004"/>
            </a:avLst>
          </a:prstGeom>
          <a:solidFill>
            <a:srgbClr val="46464A"/>
          </a:solidFill>
          <a:ln/>
        </p:spPr>
        <p:txBody>
          <a:bodyPr/>
          <a:lstStyle/>
          <a:p>
            <a:endParaRPr lang="en-US" sz="1200"/>
          </a:p>
        </p:txBody>
      </p:sp>
      <p:sp>
        <p:nvSpPr>
          <p:cNvPr id="26" name="Text 24"/>
          <p:cNvSpPr/>
          <p:nvPr/>
        </p:nvSpPr>
        <p:spPr>
          <a:xfrm>
            <a:off x="878443" y="7167563"/>
            <a:ext cx="177879" cy="222409"/>
          </a:xfrm>
          <a:prstGeom prst="rect">
            <a:avLst/>
          </a:prstGeom>
          <a:noFill/>
          <a:ln/>
        </p:spPr>
        <p:txBody>
          <a:bodyPr wrap="none" lIns="0" tIns="0" rIns="0" bIns="0" rtlCol="0" anchor="t"/>
          <a:lstStyle/>
          <a:p>
            <a:pPr marL="0" indent="0" algn="l">
              <a:lnSpc>
                <a:spcPts val="1400"/>
              </a:lnSpc>
              <a:buNone/>
            </a:pPr>
            <a:r>
              <a:rPr lang="en-US" sz="1200" b="1" dirty="0">
                <a:solidFill>
                  <a:srgbClr val="D7D4CC"/>
                </a:solidFill>
                <a:ea typeface="Comfortaa Bold" pitchFamily="34" charset="-122"/>
                <a:cs typeface="Comfortaa Bold" pitchFamily="34" charset="-120"/>
              </a:rPr>
              <a:t>7</a:t>
            </a:r>
            <a:endParaRPr lang="en-US" sz="1200" dirty="0"/>
          </a:p>
        </p:txBody>
      </p:sp>
      <p:sp>
        <p:nvSpPr>
          <p:cNvPr id="27" name="Text 25"/>
          <p:cNvSpPr/>
          <p:nvPr/>
        </p:nvSpPr>
        <p:spPr>
          <a:xfrm>
            <a:off x="1323261" y="6949440"/>
            <a:ext cx="12577048" cy="658654"/>
          </a:xfrm>
          <a:prstGeom prst="rect">
            <a:avLst/>
          </a:prstGeom>
          <a:noFill/>
          <a:ln/>
        </p:spPr>
        <p:txBody>
          <a:bodyPr wrap="square" lIns="0" tIns="0" rIns="0" bIns="0" rtlCol="0" anchor="t"/>
          <a:lstStyle/>
          <a:p>
            <a:pPr marL="0" indent="0" algn="l">
              <a:lnSpc>
                <a:spcPts val="1250"/>
              </a:lnSpc>
              <a:buNone/>
            </a:pPr>
            <a:r>
              <a:rPr lang="en-US" sz="1200" b="1" u="sng" dirty="0">
                <a:solidFill>
                  <a:srgbClr val="FFE14D"/>
                </a:solidFill>
                <a:ea typeface="Comfortaa Bold" pitchFamily="34" charset="-122"/>
                <a:cs typeface="Comfortaa Bold" pitchFamily="34" charset="-120"/>
                <a:hlinkClick r:id="rId3">
                  <a:extLst>
                    <a:ext uri="{A12FA001-AC4F-418D-AE19-62706E023703}">
                      <ahyp:hlinkClr xmlns:ahyp="http://schemas.microsoft.com/office/drawing/2018/hyperlinkcolor" val="tx"/>
                    </a:ext>
                  </a:extLst>
                </a:hlinkClick>
              </a:rPr>
              <a:t>Multi-Agent Systems and Cooperative Autonomy</a:t>
            </a:r>
            <a:r>
              <a:rPr lang="en-US" sz="1200" b="1" dirty="0">
                <a:solidFill>
                  <a:srgbClr val="D7D4CC"/>
                </a:solidFill>
                <a:ea typeface="Comfortaa Bold" pitchFamily="34" charset="-122"/>
                <a:cs typeface="Comfortaa Bold" pitchFamily="34" charset="-120"/>
              </a:rPr>
              <a:t> - Enterprises are shifting from single-agent copilots to multi-agent architectures where specialized agents collaborate, delegate tasks, and coordinate across systems (e.g., one agent for retrieval, one for validation, one for action execution). This moves AI from “assistive” to fully autonomous workflows, enabling use cases like end-to-end case resolution, supply-chain orchestration, or multi-step legal drafting without human routing. From https://arxiv.org/abs/2402.05120 (Microsoft &amp; CMU “Agent Society” paper)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46580" y="408089"/>
            <a:ext cx="3411855" cy="374094"/>
          </a:xfrm>
          <a:prstGeom prst="rect">
            <a:avLst/>
          </a:prstGeom>
          <a:noFill/>
          <a:ln/>
        </p:spPr>
        <p:txBody>
          <a:bodyPr wrap="none" lIns="0" tIns="0" rIns="0" bIns="0" rtlCol="0" anchor="t"/>
          <a:lstStyle/>
          <a:p>
            <a:pPr marL="0" indent="0" algn="l">
              <a:lnSpc>
                <a:spcPts val="2900"/>
              </a:lnSpc>
              <a:buNone/>
            </a:pPr>
            <a:r>
              <a:rPr lang="en-US" sz="2350" b="1" dirty="0">
                <a:solidFill>
                  <a:srgbClr val="FFE14D"/>
                </a:solidFill>
                <a:latin typeface="Comfortaa Bold" pitchFamily="34" charset="0"/>
                <a:ea typeface="Comfortaa Bold" pitchFamily="34" charset="-122"/>
                <a:cs typeface="Comfortaa Bold" pitchFamily="34" charset="-120"/>
              </a:rPr>
              <a:t>Agentic AI Landscape</a:t>
            </a:r>
            <a:endParaRPr lang="en-US" sz="2350" dirty="0"/>
          </a:p>
        </p:txBody>
      </p:sp>
      <p:graphicFrame>
        <p:nvGraphicFramePr>
          <p:cNvPr id="67" name="Table 66">
            <a:extLst>
              <a:ext uri="{FF2B5EF4-FFF2-40B4-BE49-F238E27FC236}">
                <a16:creationId xmlns:a16="http://schemas.microsoft.com/office/drawing/2014/main" id="{FE9D1349-21FD-6AA7-9CE0-CE0D4C766C4F}"/>
              </a:ext>
            </a:extLst>
          </p:cNvPr>
          <p:cNvGraphicFramePr>
            <a:graphicFrameLocks noGrp="1"/>
          </p:cNvGraphicFramePr>
          <p:nvPr>
            <p:extLst>
              <p:ext uri="{D42A27DB-BD31-4B8C-83A1-F6EECF244321}">
                <p14:modId xmlns:p14="http://schemas.microsoft.com/office/powerpoint/2010/main" val="2504585243"/>
              </p:ext>
            </p:extLst>
          </p:nvPr>
        </p:nvGraphicFramePr>
        <p:xfrm>
          <a:off x="246580" y="1135520"/>
          <a:ext cx="13952304" cy="6632918"/>
        </p:xfrm>
        <a:graphic>
          <a:graphicData uri="http://schemas.openxmlformats.org/drawingml/2006/table">
            <a:tbl>
              <a:tblPr/>
              <a:tblGrid>
                <a:gridCol w="1448656">
                  <a:extLst>
                    <a:ext uri="{9D8B030D-6E8A-4147-A177-3AD203B41FA5}">
                      <a16:colId xmlns:a16="http://schemas.microsoft.com/office/drawing/2014/main" val="2624518341"/>
                    </a:ext>
                  </a:extLst>
                </a:gridCol>
                <a:gridCol w="3952237">
                  <a:extLst>
                    <a:ext uri="{9D8B030D-6E8A-4147-A177-3AD203B41FA5}">
                      <a16:colId xmlns:a16="http://schemas.microsoft.com/office/drawing/2014/main" val="1554158428"/>
                    </a:ext>
                  </a:extLst>
                </a:gridCol>
                <a:gridCol w="1626630">
                  <a:extLst>
                    <a:ext uri="{9D8B030D-6E8A-4147-A177-3AD203B41FA5}">
                      <a16:colId xmlns:a16="http://schemas.microsoft.com/office/drawing/2014/main" val="2295271370"/>
                    </a:ext>
                  </a:extLst>
                </a:gridCol>
                <a:gridCol w="2034284">
                  <a:extLst>
                    <a:ext uri="{9D8B030D-6E8A-4147-A177-3AD203B41FA5}">
                      <a16:colId xmlns:a16="http://schemas.microsoft.com/office/drawing/2014/main" val="2386418470"/>
                    </a:ext>
                  </a:extLst>
                </a:gridCol>
                <a:gridCol w="2917860">
                  <a:extLst>
                    <a:ext uri="{9D8B030D-6E8A-4147-A177-3AD203B41FA5}">
                      <a16:colId xmlns:a16="http://schemas.microsoft.com/office/drawing/2014/main" val="14405702"/>
                    </a:ext>
                  </a:extLst>
                </a:gridCol>
                <a:gridCol w="1972637">
                  <a:extLst>
                    <a:ext uri="{9D8B030D-6E8A-4147-A177-3AD203B41FA5}">
                      <a16:colId xmlns:a16="http://schemas.microsoft.com/office/drawing/2014/main" val="2992824423"/>
                    </a:ext>
                  </a:extLst>
                </a:gridCol>
              </a:tblGrid>
              <a:tr h="308694">
                <a:tc>
                  <a:txBody>
                    <a:bodyPr/>
                    <a:lstStyle/>
                    <a:p>
                      <a:pPr algn="ctr" rtl="0" fontAlgn="t">
                        <a:buNone/>
                      </a:pPr>
                      <a:r>
                        <a:rPr lang="en-US" sz="1400" b="0" dirty="0">
                          <a:solidFill>
                            <a:srgbClr val="F1C232"/>
                          </a:solidFill>
                          <a:effectLst/>
                          <a:latin typeface="Abadi" panose="020F0502020204030204" pitchFamily="34" charset="0"/>
                        </a:rPr>
                        <a:t>Industry Vertical</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algn="ctr" rtl="0" fontAlgn="t">
                        <a:buNone/>
                      </a:pPr>
                      <a:r>
                        <a:rPr lang="en-US" sz="1400" b="0">
                          <a:solidFill>
                            <a:srgbClr val="F1C232"/>
                          </a:solidFill>
                          <a:effectLst/>
                          <a:latin typeface="Abadi" panose="020F0502020204030204" pitchFamily="34" charset="0"/>
                        </a:rPr>
                        <a:t>High-value workflows</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algn="ctr" rtl="0" fontAlgn="t">
                        <a:buNone/>
                      </a:pPr>
                      <a:r>
                        <a:rPr lang="en-US" sz="1400" b="0" dirty="0">
                          <a:solidFill>
                            <a:srgbClr val="F1C232"/>
                          </a:solidFill>
                          <a:effectLst/>
                          <a:latin typeface="Abadi" panose="020F0502020204030204" pitchFamily="34" charset="0"/>
                        </a:rPr>
                        <a:t>TAM (current)</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algn="ctr" rtl="0" fontAlgn="t">
                        <a:buNone/>
                      </a:pPr>
                      <a:r>
                        <a:rPr lang="en-US" sz="1400" b="0" dirty="0">
                          <a:solidFill>
                            <a:srgbClr val="F1C232"/>
                          </a:solidFill>
                          <a:effectLst/>
                          <a:latin typeface="Abadi" panose="020F0502020204030204" pitchFamily="34" charset="0"/>
                        </a:rPr>
                        <a:t>Projected TAM (10yrs)</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algn="ctr" rtl="0" fontAlgn="t">
                        <a:buNone/>
                      </a:pPr>
                      <a:r>
                        <a:rPr lang="en-US" sz="1400" b="0" dirty="0">
                          <a:solidFill>
                            <a:srgbClr val="F1C232"/>
                          </a:solidFill>
                          <a:effectLst/>
                          <a:latin typeface="Abadi" panose="020F0502020204030204" pitchFamily="34" charset="0"/>
                        </a:rPr>
                        <a:t>Opportunity (Current adoption)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algn="ctr" rtl="0" fontAlgn="t">
                        <a:buNone/>
                      </a:pPr>
                      <a:r>
                        <a:rPr lang="en-US" sz="1400" b="0" dirty="0">
                          <a:solidFill>
                            <a:srgbClr val="F1C232"/>
                          </a:solidFill>
                          <a:effectLst/>
                          <a:latin typeface="Abadi" panose="020F0502020204030204" pitchFamily="34" charset="0"/>
                        </a:rPr>
                        <a:t>Market CAGR (10 yr)</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extLst>
                  <a:ext uri="{0D108BD9-81ED-4DB2-BD59-A6C34878D82A}">
                    <a16:rowId xmlns:a16="http://schemas.microsoft.com/office/drawing/2014/main" val="3351197641"/>
                  </a:ext>
                </a:extLst>
              </a:tr>
              <a:tr h="420454">
                <a:tc>
                  <a:txBody>
                    <a:bodyPr/>
                    <a:lstStyle/>
                    <a:p>
                      <a:pPr rtl="0" fontAlgn="t">
                        <a:buNone/>
                      </a:pPr>
                      <a:r>
                        <a:rPr lang="en-US" sz="1400" b="0">
                          <a:solidFill>
                            <a:srgbClr val="F3F3F3"/>
                          </a:solidFill>
                          <a:effectLst/>
                          <a:latin typeface="Bierstadt" panose="020F0502020204030204" pitchFamily="34" charset="0"/>
                        </a:rPr>
                        <a:t>Legal and Compliance</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Legal research, Document review, Brief/memo drafting,</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89 M</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chemeClr val="bg1"/>
                          </a:solidFill>
                          <a:effectLst/>
                          <a:latin typeface="Bierstadt" panose="020F0502020204030204" pitchFamily="34" charset="0"/>
                        </a:rPr>
                        <a:t>$152 M</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rtl="0" fontAlgn="t">
                        <a:buNone/>
                      </a:pPr>
                      <a:r>
                        <a:rPr lang="en-US" sz="1400" b="0">
                          <a:solidFill>
                            <a:schemeClr val="bg1"/>
                          </a:solidFill>
                          <a:effectLst/>
                          <a:latin typeface="Bierstadt" panose="020F0502020204030204" pitchFamily="34" charset="0"/>
                        </a:rPr>
                        <a:t>High - 30% current adoption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3C47D"/>
                    </a:solidFill>
                  </a:tcPr>
                </a:tc>
                <a:tc>
                  <a:txBody>
                    <a:bodyPr/>
                    <a:lstStyle/>
                    <a:p>
                      <a:pPr algn="r" rtl="0" fontAlgn="t">
                        <a:buNone/>
                      </a:pPr>
                      <a:r>
                        <a:rPr lang="en-US" sz="1400" b="0" u="sng">
                          <a:solidFill>
                            <a:schemeClr val="bg1"/>
                          </a:solidFill>
                          <a:effectLst/>
                          <a:latin typeface="Bierstadt" panose="020F0502020204030204" pitchFamily="34" charset="0"/>
                          <a:hlinkClick r:id="rId3">
                            <a:extLst>
                              <a:ext uri="{A12FA001-AC4F-418D-AE19-62706E023703}">
                                <ahyp:hlinkClr xmlns:ahyp="http://schemas.microsoft.com/office/drawing/2018/hyperlinkcolor" val="tx"/>
                              </a:ext>
                            </a:extLst>
                          </a:hlinkClick>
                        </a:rPr>
                        <a:t>31%</a:t>
                      </a:r>
                      <a:endParaRPr lang="en-US" sz="1400" b="0" u="sng">
                        <a:solidFill>
                          <a:schemeClr val="bg1"/>
                        </a:solidFill>
                        <a:effectLst/>
                        <a:latin typeface="Bierstadt" panose="020F0502020204030204" pitchFamily="34" charset="0"/>
                      </a:endParaRP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65200407"/>
                  </a:ext>
                </a:extLst>
              </a:tr>
              <a:tr h="999103">
                <a:tc>
                  <a:txBody>
                    <a:bodyPr/>
                    <a:lstStyle/>
                    <a:p>
                      <a:pPr rtl="0" fontAlgn="t">
                        <a:buNone/>
                      </a:pPr>
                      <a:r>
                        <a:rPr lang="en-US" sz="1400" b="0">
                          <a:solidFill>
                            <a:srgbClr val="F3F3F3"/>
                          </a:solidFill>
                          <a:effectLst/>
                          <a:latin typeface="Bierstadt" panose="020F0502020204030204" pitchFamily="34" charset="0"/>
                        </a:rPr>
                        <a:t>BSFI</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Accounting, Tax Research/Advisory, Banking customer service, Portfolio draft creation, Underwriting and risk scoring</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1.38B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chemeClr val="bg1"/>
                          </a:solidFill>
                          <a:effectLst/>
                          <a:latin typeface="Bierstadt" panose="020F0502020204030204" pitchFamily="34" charset="0"/>
                        </a:rPr>
                        <a:t>$2.45 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3C47D"/>
                    </a:solidFill>
                  </a:tcPr>
                </a:tc>
                <a:tc>
                  <a:txBody>
                    <a:bodyPr/>
                    <a:lstStyle/>
                    <a:p>
                      <a:pPr rtl="0" fontAlgn="t">
                        <a:buNone/>
                      </a:pPr>
                      <a:r>
                        <a:rPr lang="en-US" sz="1400" b="0">
                          <a:solidFill>
                            <a:schemeClr val="bg1"/>
                          </a:solidFill>
                          <a:effectLst/>
                          <a:latin typeface="Bierstadt" panose="020F0502020204030204" pitchFamily="34" charset="0"/>
                        </a:rPr>
                        <a:t>Low - 64% current adoption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06666"/>
                    </a:solidFill>
                  </a:tcPr>
                </a:tc>
                <a:tc>
                  <a:txBody>
                    <a:bodyPr/>
                    <a:lstStyle/>
                    <a:p>
                      <a:pPr algn="r" rtl="0" fontAlgn="t">
                        <a:buNone/>
                      </a:pPr>
                      <a:r>
                        <a:rPr lang="en-US" sz="1400" b="0" u="sng">
                          <a:solidFill>
                            <a:schemeClr val="bg1"/>
                          </a:solidFill>
                          <a:effectLst/>
                          <a:latin typeface="Bierstadt" panose="020F0502020204030204" pitchFamily="34" charset="0"/>
                          <a:hlinkClick r:id="rId4">
                            <a:extLst>
                              <a:ext uri="{A12FA001-AC4F-418D-AE19-62706E023703}">
                                <ahyp:hlinkClr xmlns:ahyp="http://schemas.microsoft.com/office/drawing/2018/hyperlinkcolor" val="tx"/>
                              </a:ext>
                            </a:extLst>
                          </a:hlinkClick>
                        </a:rPr>
                        <a:t>33%</a:t>
                      </a:r>
                      <a:endParaRPr lang="en-US" sz="1400" b="0" u="sng">
                        <a:solidFill>
                          <a:schemeClr val="bg1"/>
                        </a:solidFill>
                        <a:effectLst/>
                        <a:latin typeface="Bierstadt" panose="020F0502020204030204" pitchFamily="34" charset="0"/>
                      </a:endParaRP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966"/>
                    </a:solidFill>
                  </a:tcPr>
                </a:tc>
                <a:extLst>
                  <a:ext uri="{0D108BD9-81ED-4DB2-BD59-A6C34878D82A}">
                    <a16:rowId xmlns:a16="http://schemas.microsoft.com/office/drawing/2014/main" val="2374834897"/>
                  </a:ext>
                </a:extLst>
              </a:tr>
              <a:tr h="420454">
                <a:tc>
                  <a:txBody>
                    <a:bodyPr/>
                    <a:lstStyle/>
                    <a:p>
                      <a:pPr rtl="0" fontAlgn="t">
                        <a:buNone/>
                      </a:pPr>
                      <a:r>
                        <a:rPr lang="en-US" sz="1400" b="0">
                          <a:solidFill>
                            <a:srgbClr val="F3F3F3"/>
                          </a:solidFill>
                          <a:effectLst/>
                          <a:latin typeface="Bierstadt" panose="020F0502020204030204" pitchFamily="34" charset="0"/>
                        </a:rPr>
                        <a:t>Govt/courts</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Legal research, Doc review, Contract drafting</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2B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chemeClr val="bg1"/>
                          </a:solidFill>
                          <a:effectLst/>
                          <a:latin typeface="Bierstadt" panose="020F0502020204030204" pitchFamily="34" charset="0"/>
                        </a:rPr>
                        <a:t>$2.98 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3C47D"/>
                    </a:solidFill>
                  </a:tcPr>
                </a:tc>
                <a:tc>
                  <a:txBody>
                    <a:bodyPr/>
                    <a:lstStyle/>
                    <a:p>
                      <a:pPr rtl="0" fontAlgn="t">
                        <a:buNone/>
                      </a:pPr>
                      <a:r>
                        <a:rPr lang="en-US" sz="1400" b="0">
                          <a:solidFill>
                            <a:schemeClr val="bg1"/>
                          </a:solidFill>
                          <a:effectLst/>
                          <a:latin typeface="Bierstadt" panose="020F0502020204030204" pitchFamily="34" charset="0"/>
                        </a:rPr>
                        <a:t>Very High - 2% Current adoption (in some cases)</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00"/>
                    </a:solidFill>
                  </a:tcPr>
                </a:tc>
                <a:tc>
                  <a:txBody>
                    <a:bodyPr/>
                    <a:lstStyle/>
                    <a:p>
                      <a:pPr algn="r" rtl="0" fontAlgn="t">
                        <a:buNone/>
                      </a:pPr>
                      <a:r>
                        <a:rPr lang="en-US" sz="1400" b="0" u="sng">
                          <a:solidFill>
                            <a:schemeClr val="bg1"/>
                          </a:solidFill>
                          <a:effectLst/>
                          <a:latin typeface="Bierstadt" panose="020F0502020204030204" pitchFamily="34" charset="0"/>
                          <a:hlinkClick r:id="rId5">
                            <a:extLst>
                              <a:ext uri="{A12FA001-AC4F-418D-AE19-62706E023703}">
                                <ahyp:hlinkClr xmlns:ahyp="http://schemas.microsoft.com/office/drawing/2018/hyperlinkcolor" val="tx"/>
                              </a:ext>
                            </a:extLst>
                          </a:hlinkClick>
                        </a:rPr>
                        <a:t>22%</a:t>
                      </a:r>
                      <a:endParaRPr lang="en-US" sz="1400" b="0" u="sng">
                        <a:solidFill>
                          <a:schemeClr val="bg1"/>
                        </a:solidFill>
                        <a:effectLst/>
                        <a:latin typeface="Bierstadt" panose="020F0502020204030204" pitchFamily="34" charset="0"/>
                      </a:endParaRP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383878742"/>
                  </a:ext>
                </a:extLst>
              </a:tr>
              <a:tr h="806220">
                <a:tc>
                  <a:txBody>
                    <a:bodyPr/>
                    <a:lstStyle/>
                    <a:p>
                      <a:pPr rtl="0" fontAlgn="t">
                        <a:buNone/>
                      </a:pPr>
                      <a:r>
                        <a:rPr lang="en-US" sz="1400" b="0">
                          <a:solidFill>
                            <a:srgbClr val="F3F3F3"/>
                          </a:solidFill>
                          <a:effectLst/>
                          <a:latin typeface="Bierstadt" panose="020F0502020204030204" pitchFamily="34" charset="0"/>
                        </a:rPr>
                        <a:t>Technology, Media &amp; Communication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Call routing, Billing enquiry, editing, metadata tagging, fault detection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15B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chemeClr val="bg1"/>
                          </a:solidFill>
                          <a:effectLst/>
                          <a:latin typeface="Bierstadt" panose="020F0502020204030204" pitchFamily="34" charset="0"/>
                        </a:rPr>
                        <a:t>$26.5 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00"/>
                    </a:solidFill>
                  </a:tcPr>
                </a:tc>
                <a:tc>
                  <a:txBody>
                    <a:bodyPr/>
                    <a:lstStyle/>
                    <a:p>
                      <a:pPr rtl="0" fontAlgn="t">
                        <a:buNone/>
                      </a:pPr>
                      <a:r>
                        <a:rPr lang="en-US" sz="1400" b="0">
                          <a:solidFill>
                            <a:schemeClr val="bg1"/>
                          </a:solidFill>
                          <a:effectLst/>
                          <a:latin typeface="Bierstadt" panose="020F0502020204030204" pitchFamily="34" charset="0"/>
                        </a:rPr>
                        <a:t>Very Low - 82% Current adoption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r" rtl="0" fontAlgn="t">
                        <a:buNone/>
                      </a:pPr>
                      <a:r>
                        <a:rPr lang="en-US" sz="1400" b="0">
                          <a:solidFill>
                            <a:schemeClr val="bg1"/>
                          </a:solidFill>
                          <a:effectLst/>
                          <a:latin typeface="Bierstadt" panose="020F0502020204030204" pitchFamily="34" charset="0"/>
                        </a:rPr>
                        <a:t>33%</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3C47D"/>
                    </a:solidFill>
                  </a:tcPr>
                </a:tc>
                <a:extLst>
                  <a:ext uri="{0D108BD9-81ED-4DB2-BD59-A6C34878D82A}">
                    <a16:rowId xmlns:a16="http://schemas.microsoft.com/office/drawing/2014/main" val="1641506141"/>
                  </a:ext>
                </a:extLst>
              </a:tr>
              <a:tr h="806220">
                <a:tc>
                  <a:txBody>
                    <a:bodyPr/>
                    <a:lstStyle/>
                    <a:p>
                      <a:pPr rtl="0" fontAlgn="t">
                        <a:buNone/>
                      </a:pPr>
                      <a:r>
                        <a:rPr lang="en-US" sz="1400" b="0" dirty="0">
                          <a:solidFill>
                            <a:srgbClr val="F3F3F3"/>
                          </a:solidFill>
                          <a:effectLst/>
                          <a:latin typeface="Bierstadt" panose="020F0502020204030204" pitchFamily="34" charset="0"/>
                        </a:rPr>
                        <a:t>Healthcare</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Triage routing, billing claims/denials, scribe and note generation, Setup and service support</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2.2B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chemeClr val="bg1"/>
                          </a:solidFill>
                          <a:effectLst/>
                          <a:latin typeface="Bierstadt" panose="020F0502020204030204" pitchFamily="34" charset="0"/>
                        </a:rPr>
                        <a:t>$3.83 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00"/>
                    </a:solidFill>
                  </a:tcPr>
                </a:tc>
                <a:tc>
                  <a:txBody>
                    <a:bodyPr/>
                    <a:lstStyle/>
                    <a:p>
                      <a:pPr rtl="0" fontAlgn="t">
                        <a:buNone/>
                      </a:pPr>
                      <a:r>
                        <a:rPr lang="en-US" sz="1400" b="0">
                          <a:solidFill>
                            <a:schemeClr val="bg1"/>
                          </a:solidFill>
                          <a:effectLst/>
                          <a:latin typeface="Bierstadt" panose="020F0502020204030204" pitchFamily="34" charset="0"/>
                        </a:rPr>
                        <a:t>Medium - 45% current adoption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r" rtl="0" fontAlgn="t">
                        <a:buNone/>
                      </a:pPr>
                      <a:r>
                        <a:rPr lang="en-US" sz="1400" b="0" u="sng" dirty="0">
                          <a:solidFill>
                            <a:schemeClr val="bg1"/>
                          </a:solidFill>
                          <a:effectLst/>
                          <a:latin typeface="Bierstadt" panose="020F0502020204030204" pitchFamily="34" charset="0"/>
                          <a:hlinkClick r:id="rId6">
                            <a:extLst>
                              <a:ext uri="{A12FA001-AC4F-418D-AE19-62706E023703}">
                                <ahyp:hlinkClr xmlns:ahyp="http://schemas.microsoft.com/office/drawing/2018/hyperlinkcolor" val="tx"/>
                              </a:ext>
                            </a:extLst>
                          </a:hlinkClick>
                        </a:rPr>
                        <a:t>32%</a:t>
                      </a:r>
                      <a:endParaRPr lang="en-US" sz="1400" b="0" u="sng" dirty="0">
                        <a:solidFill>
                          <a:schemeClr val="bg1"/>
                        </a:solidFill>
                        <a:effectLst/>
                        <a:latin typeface="Bierstadt" panose="020F0502020204030204" pitchFamily="34" charset="0"/>
                      </a:endParaRP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69325720"/>
                  </a:ext>
                </a:extLst>
              </a:tr>
              <a:tr h="806220">
                <a:tc>
                  <a:txBody>
                    <a:bodyPr/>
                    <a:lstStyle/>
                    <a:p>
                      <a:pPr rtl="0" fontAlgn="t">
                        <a:buNone/>
                      </a:pPr>
                      <a:r>
                        <a:rPr lang="en-US" sz="1400" b="0">
                          <a:solidFill>
                            <a:srgbClr val="F3F3F3"/>
                          </a:solidFill>
                          <a:effectLst/>
                          <a:latin typeface="Bierstadt" panose="020F0502020204030204" pitchFamily="34" charset="0"/>
                        </a:rPr>
                        <a:t>Retail</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Balancing inventory, Customer refund/complaint support, Supply chain monitoring, procurement and contracting</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740M</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chemeClr val="bg1"/>
                          </a:solidFill>
                          <a:effectLst/>
                          <a:latin typeface="Bierstadt" panose="020F0502020204030204" pitchFamily="34" charset="0"/>
                        </a:rPr>
                        <a:t>$1.38 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966"/>
                    </a:solidFill>
                  </a:tcPr>
                </a:tc>
                <a:tc>
                  <a:txBody>
                    <a:bodyPr/>
                    <a:lstStyle/>
                    <a:p>
                      <a:pPr rtl="0" fontAlgn="t">
                        <a:buNone/>
                      </a:pPr>
                      <a:r>
                        <a:rPr lang="en-US" sz="1400" b="0">
                          <a:solidFill>
                            <a:schemeClr val="bg1"/>
                          </a:solidFill>
                          <a:effectLst/>
                          <a:latin typeface="Bierstadt" panose="020F0502020204030204" pitchFamily="34" charset="0"/>
                        </a:rPr>
                        <a:t>Medium - Varying adoption rates</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99"/>
                    </a:solidFill>
                  </a:tcPr>
                </a:tc>
                <a:tc>
                  <a:txBody>
                    <a:bodyPr/>
                    <a:lstStyle/>
                    <a:p>
                      <a:pPr algn="r" rtl="0" fontAlgn="t">
                        <a:buNone/>
                      </a:pPr>
                      <a:r>
                        <a:rPr lang="en-US" sz="1400" b="0">
                          <a:solidFill>
                            <a:schemeClr val="bg1"/>
                          </a:solidFill>
                          <a:effectLst/>
                          <a:latin typeface="Bierstadt" panose="020F0502020204030204" pitchFamily="34" charset="0"/>
                        </a:rPr>
                        <a:t>37%</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00"/>
                    </a:solidFill>
                  </a:tcPr>
                </a:tc>
                <a:extLst>
                  <a:ext uri="{0D108BD9-81ED-4DB2-BD59-A6C34878D82A}">
                    <a16:rowId xmlns:a16="http://schemas.microsoft.com/office/drawing/2014/main" val="2884493209"/>
                  </a:ext>
                </a:extLst>
              </a:tr>
              <a:tr h="806220">
                <a:tc>
                  <a:txBody>
                    <a:bodyPr/>
                    <a:lstStyle/>
                    <a:p>
                      <a:pPr rtl="0" fontAlgn="t">
                        <a:buNone/>
                      </a:pPr>
                      <a:r>
                        <a:rPr lang="en-US" sz="1400" b="0">
                          <a:solidFill>
                            <a:srgbClr val="F3F3F3"/>
                          </a:solidFill>
                          <a:effectLst/>
                          <a:latin typeface="Bierstadt" panose="020F0502020204030204" pitchFamily="34" charset="0"/>
                        </a:rPr>
                        <a:t>Energy</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Permits/compliance/ approval document generation , load balancing , In- field technical assistance</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950M</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chemeClr val="bg1"/>
                          </a:solidFill>
                          <a:effectLst/>
                          <a:latin typeface="Bierstadt" panose="020F0502020204030204" pitchFamily="34" charset="0"/>
                        </a:rPr>
                        <a:t>$1.46 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966"/>
                    </a:solidFill>
                  </a:tcPr>
                </a:tc>
                <a:tc>
                  <a:txBody>
                    <a:bodyPr/>
                    <a:lstStyle/>
                    <a:p>
                      <a:pPr rtl="0" fontAlgn="t">
                        <a:buNone/>
                      </a:pPr>
                      <a:r>
                        <a:rPr lang="en-US" sz="1400" b="0">
                          <a:solidFill>
                            <a:schemeClr val="bg1"/>
                          </a:solidFill>
                          <a:effectLst/>
                          <a:latin typeface="Bierstadt" panose="020F0502020204030204" pitchFamily="34" charset="0"/>
                        </a:rPr>
                        <a:t>High - Low adoption (based on current incoming investments)</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3C47D"/>
                    </a:solidFill>
                  </a:tcPr>
                </a:tc>
                <a:tc>
                  <a:txBody>
                    <a:bodyPr/>
                    <a:lstStyle/>
                    <a:p>
                      <a:pPr algn="r" rtl="0" fontAlgn="t">
                        <a:buNone/>
                      </a:pPr>
                      <a:r>
                        <a:rPr lang="en-US" sz="1400" b="0" u="sng">
                          <a:solidFill>
                            <a:schemeClr val="bg1"/>
                          </a:solidFill>
                          <a:effectLst/>
                          <a:latin typeface="Bierstadt" panose="020F0502020204030204" pitchFamily="34" charset="0"/>
                          <a:hlinkClick r:id="rId7">
                            <a:extLst>
                              <a:ext uri="{A12FA001-AC4F-418D-AE19-62706E023703}">
                                <ahyp:hlinkClr xmlns:ahyp="http://schemas.microsoft.com/office/drawing/2018/hyperlinkcolor" val="tx"/>
                              </a:ext>
                            </a:extLst>
                          </a:hlinkClick>
                        </a:rPr>
                        <a:t>24%</a:t>
                      </a:r>
                      <a:endParaRPr lang="en-US" sz="1400" b="0" u="sng">
                        <a:solidFill>
                          <a:schemeClr val="bg1"/>
                        </a:solidFill>
                        <a:effectLst/>
                        <a:latin typeface="Bierstadt" panose="020F0502020204030204" pitchFamily="34" charset="0"/>
                      </a:endParaRP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016393218"/>
                  </a:ext>
                </a:extLst>
              </a:tr>
              <a:tr h="1191985">
                <a:tc>
                  <a:txBody>
                    <a:bodyPr/>
                    <a:lstStyle/>
                    <a:p>
                      <a:pPr rtl="0" fontAlgn="t">
                        <a:buNone/>
                      </a:pPr>
                      <a:r>
                        <a:rPr lang="en-US" sz="1400" b="0">
                          <a:solidFill>
                            <a:srgbClr val="F3F3F3"/>
                          </a:solidFill>
                          <a:effectLst/>
                          <a:latin typeface="Bierstadt" panose="020F0502020204030204" pitchFamily="34" charset="0"/>
                        </a:rPr>
                        <a:t>Education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Learning material creation(quiz,worksheet etc) , Personal tutoring, multimodal content generation, administrative activities, Language translation</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rgbClr val="F3F3F3"/>
                          </a:solidFill>
                          <a:effectLst/>
                          <a:latin typeface="Bierstadt" panose="020F0502020204030204" pitchFamily="34" charset="0"/>
                        </a:rPr>
                        <a:t>1B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34343"/>
                    </a:solidFill>
                  </a:tcPr>
                </a:tc>
                <a:tc>
                  <a:txBody>
                    <a:bodyPr/>
                    <a:lstStyle/>
                    <a:p>
                      <a:pPr rtl="0" fontAlgn="t">
                        <a:buNone/>
                      </a:pPr>
                      <a:r>
                        <a:rPr lang="en-US" sz="1400" b="0">
                          <a:solidFill>
                            <a:schemeClr val="bg1"/>
                          </a:solidFill>
                          <a:effectLst/>
                          <a:latin typeface="Bierstadt" panose="020F0502020204030204" pitchFamily="34" charset="0"/>
                        </a:rPr>
                        <a:t>$1.82 B</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rtl="0" fontAlgn="t">
                        <a:buNone/>
                      </a:pPr>
                      <a:r>
                        <a:rPr lang="en-US" sz="1400" b="0">
                          <a:solidFill>
                            <a:schemeClr val="bg1"/>
                          </a:solidFill>
                          <a:effectLst/>
                          <a:latin typeface="Bierstadt" panose="020F0502020204030204" pitchFamily="34" charset="0"/>
                        </a:rPr>
                        <a:t>Low - High adoption (based on investments</a:t>
                      </a: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r" rtl="0" fontAlgn="t">
                        <a:buNone/>
                      </a:pPr>
                      <a:r>
                        <a:rPr lang="en-US" sz="1400" b="0" i="0" u="sng" dirty="0">
                          <a:solidFill>
                            <a:schemeClr val="bg1"/>
                          </a:solidFill>
                          <a:effectLst/>
                          <a:latin typeface="Bierstadt" panose="020F0502020204030204" pitchFamily="34" charset="0"/>
                          <a:hlinkClick r:id="rId8">
                            <a:extLst>
                              <a:ext uri="{A12FA001-AC4F-418D-AE19-62706E023703}">
                                <ahyp:hlinkClr xmlns:ahyp="http://schemas.microsoft.com/office/drawing/2018/hyperlinkcolor" val="tx"/>
                              </a:ext>
                            </a:extLst>
                          </a:hlinkClick>
                        </a:rPr>
                        <a:t>30-40%</a:t>
                      </a:r>
                      <a:endParaRPr lang="en-US" sz="1400" b="0" u="sng" dirty="0">
                        <a:solidFill>
                          <a:schemeClr val="bg1"/>
                        </a:solidFill>
                        <a:effectLst/>
                        <a:latin typeface="Bierstadt" panose="020F0502020204030204" pitchFamily="34" charset="0"/>
                      </a:endParaRPr>
                    </a:p>
                  </a:txBody>
                  <a:tcPr marL="20556" marR="20556" marT="13704" marB="137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00"/>
                    </a:solidFill>
                  </a:tcPr>
                </a:tc>
                <a:extLst>
                  <a:ext uri="{0D108BD9-81ED-4DB2-BD59-A6C34878D82A}">
                    <a16:rowId xmlns:a16="http://schemas.microsoft.com/office/drawing/2014/main" val="1023191151"/>
                  </a:ext>
                </a:extLst>
              </a:tr>
            </a:tbl>
          </a:graphicData>
        </a:graphic>
      </p:graphicFrame>
      <p:sp>
        <p:nvSpPr>
          <p:cNvPr id="68" name="Text 0">
            <a:extLst>
              <a:ext uri="{FF2B5EF4-FFF2-40B4-BE49-F238E27FC236}">
                <a16:creationId xmlns:a16="http://schemas.microsoft.com/office/drawing/2014/main" id="{A3E4497C-7F37-3542-5446-CD55D31E7930}"/>
              </a:ext>
            </a:extLst>
          </p:cNvPr>
          <p:cNvSpPr/>
          <p:nvPr/>
        </p:nvSpPr>
        <p:spPr>
          <a:xfrm>
            <a:off x="6354698" y="274115"/>
            <a:ext cx="6539369" cy="374094"/>
          </a:xfrm>
          <a:prstGeom prst="rect">
            <a:avLst/>
          </a:prstGeom>
          <a:noFill/>
          <a:ln/>
        </p:spPr>
        <p:txBody>
          <a:bodyPr wrap="none" lIns="0" tIns="0" rIns="0" bIns="0" rtlCol="0" anchor="t"/>
          <a:lstStyle/>
          <a:p>
            <a:pPr marL="0" indent="0" algn="l">
              <a:lnSpc>
                <a:spcPts val="2900"/>
              </a:lnSpc>
              <a:buNone/>
            </a:pPr>
            <a:endParaRPr lang="en-US" sz="2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9506" y="572214"/>
            <a:ext cx="5097780" cy="365284"/>
          </a:xfrm>
          <a:prstGeom prst="rect">
            <a:avLst/>
          </a:prstGeom>
          <a:noFill/>
          <a:ln/>
        </p:spPr>
        <p:txBody>
          <a:bodyPr wrap="none" lIns="0" tIns="0" rIns="0" bIns="0" rtlCol="0" anchor="t"/>
          <a:lstStyle/>
          <a:p>
            <a:pPr marL="0" indent="0" algn="l">
              <a:lnSpc>
                <a:spcPts val="2850"/>
              </a:lnSpc>
              <a:buNone/>
            </a:pPr>
            <a:r>
              <a:rPr lang="en-US" sz="2300" b="1" dirty="0">
                <a:solidFill>
                  <a:srgbClr val="FFE14D"/>
                </a:solidFill>
                <a:latin typeface="Comfortaa Bold" pitchFamily="34" charset="0"/>
                <a:ea typeface="Comfortaa Bold" pitchFamily="34" charset="-122"/>
                <a:cs typeface="Comfortaa Bold" pitchFamily="34" charset="-120"/>
              </a:rPr>
              <a:t>Voice Agents vs non-voice agents</a:t>
            </a:r>
            <a:endParaRPr lang="en-US" sz="2300" dirty="0"/>
          </a:p>
        </p:txBody>
      </p:sp>
      <p:sp>
        <p:nvSpPr>
          <p:cNvPr id="3" name="Text 1"/>
          <p:cNvSpPr/>
          <p:nvPr/>
        </p:nvSpPr>
        <p:spPr>
          <a:xfrm>
            <a:off x="809506" y="1200507"/>
            <a:ext cx="13011388" cy="263009"/>
          </a:xfrm>
          <a:prstGeom prst="rect">
            <a:avLst/>
          </a:prstGeom>
          <a:noFill/>
          <a:ln/>
        </p:spPr>
        <p:txBody>
          <a:bodyPr wrap="none" lIns="0" tIns="0" rIns="0" bIns="0" rtlCol="0" anchor="t"/>
          <a:lstStyle/>
          <a:p>
            <a:pPr marL="0" indent="0" algn="l">
              <a:lnSpc>
                <a:spcPts val="2050"/>
              </a:lnSpc>
              <a:buNone/>
            </a:pPr>
            <a:r>
              <a:rPr lang="en-US" sz="1250" dirty="0">
                <a:solidFill>
                  <a:srgbClr val="FFE14D"/>
                </a:solidFill>
                <a:latin typeface="Raleway Medium" pitchFamily="34" charset="0"/>
                <a:ea typeface="Raleway Medium" pitchFamily="34" charset="-122"/>
                <a:cs typeface="Raleway Medium" pitchFamily="34" charset="-120"/>
              </a:rPr>
              <a:t>Advantages of AI agents</a:t>
            </a:r>
            <a:endParaRPr lang="en-US" sz="1250" dirty="0"/>
          </a:p>
        </p:txBody>
      </p:sp>
      <p:sp>
        <p:nvSpPr>
          <p:cNvPr id="4" name="Shape 2"/>
          <p:cNvSpPr/>
          <p:nvPr/>
        </p:nvSpPr>
        <p:spPr>
          <a:xfrm>
            <a:off x="809506" y="1611392"/>
            <a:ext cx="13011388" cy="1039178"/>
          </a:xfrm>
          <a:prstGeom prst="roundRect">
            <a:avLst>
              <a:gd name="adj" fmla="val 18989"/>
            </a:avLst>
          </a:prstGeom>
          <a:solidFill>
            <a:srgbClr val="343438"/>
          </a:solidFill>
          <a:ln/>
        </p:spPr>
        <p:txBody>
          <a:bodyPr/>
          <a:lstStyle/>
          <a:p>
            <a:endParaRPr lang="en-US"/>
          </a:p>
        </p:txBody>
      </p:sp>
      <p:sp>
        <p:nvSpPr>
          <p:cNvPr id="5" name="Shape 3"/>
          <p:cNvSpPr/>
          <p:nvPr/>
        </p:nvSpPr>
        <p:spPr>
          <a:xfrm>
            <a:off x="802958" y="1611392"/>
            <a:ext cx="13024485" cy="1039178"/>
          </a:xfrm>
          <a:prstGeom prst="roundRect">
            <a:avLst>
              <a:gd name="adj" fmla="val 1899"/>
            </a:avLst>
          </a:prstGeom>
          <a:solidFill>
            <a:srgbClr val="343438"/>
          </a:solidFill>
          <a:ln/>
        </p:spPr>
        <p:txBody>
          <a:bodyPr/>
          <a:lstStyle/>
          <a:p>
            <a:endParaRPr lang="en-US"/>
          </a:p>
        </p:txBody>
      </p:sp>
      <p:sp>
        <p:nvSpPr>
          <p:cNvPr id="6" name="Text 4"/>
          <p:cNvSpPr/>
          <p:nvPr/>
        </p:nvSpPr>
        <p:spPr>
          <a:xfrm>
            <a:off x="934403" y="1709976"/>
            <a:ext cx="12761595" cy="842010"/>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highlight>
                  <a:srgbClr val="343438"/>
                </a:highlight>
                <a:latin typeface="Consolas Medium" pitchFamily="34" charset="0"/>
                <a:ea typeface="Consolas Medium" pitchFamily="34" charset="-122"/>
                <a:cs typeface="Consolas Medium" pitchFamily="34" charset="-120"/>
              </a:rPr>
              <a:t>1.End-to-end autonomous execution</a:t>
            </a:r>
          </a:p>
          <a:p>
            <a:pPr marL="0" indent="0" algn="l">
              <a:lnSpc>
                <a:spcPts val="1650"/>
              </a:lnSpc>
              <a:buNone/>
            </a:pPr>
            <a:r>
              <a:rPr lang="en-US" sz="1000" dirty="0">
                <a:solidFill>
                  <a:srgbClr val="D7D4CC"/>
                </a:solidFill>
                <a:highlight>
                  <a:srgbClr val="343438"/>
                </a:highlight>
                <a:latin typeface="Consolas Medium" pitchFamily="34" charset="0"/>
                <a:ea typeface="Consolas Medium" pitchFamily="34" charset="-122"/>
                <a:cs typeface="Consolas Medium" pitchFamily="34" charset="-120"/>
              </a:rPr>
              <a:t>2.Adaptive and self-improving</a:t>
            </a:r>
          </a:p>
          <a:p>
            <a:pPr marL="0" indent="0" algn="l">
              <a:lnSpc>
                <a:spcPts val="1650"/>
              </a:lnSpc>
              <a:buNone/>
            </a:pPr>
            <a:r>
              <a:rPr lang="en-US" sz="1000" dirty="0">
                <a:solidFill>
                  <a:srgbClr val="D7D4CC"/>
                </a:solidFill>
                <a:highlight>
                  <a:srgbClr val="343438"/>
                </a:highlight>
                <a:latin typeface="Consolas Medium" pitchFamily="34" charset="0"/>
                <a:ea typeface="Consolas Medium" pitchFamily="34" charset="-122"/>
                <a:cs typeface="Consolas Medium" pitchFamily="34" charset="-120"/>
              </a:rPr>
              <a:t>3.Multi-system orchestration</a:t>
            </a:r>
          </a:p>
          <a:p>
            <a:pPr marL="0" indent="0" algn="l">
              <a:lnSpc>
                <a:spcPts val="1650"/>
              </a:lnSpc>
              <a:buNone/>
            </a:pPr>
            <a:r>
              <a:rPr lang="en-US" sz="1000" dirty="0">
                <a:solidFill>
                  <a:srgbClr val="D7D4CC"/>
                </a:solidFill>
                <a:highlight>
                  <a:srgbClr val="343438"/>
                </a:highlight>
                <a:latin typeface="Consolas Medium" pitchFamily="34" charset="0"/>
                <a:ea typeface="Consolas Medium" pitchFamily="34" charset="-122"/>
                <a:cs typeface="Consolas Medium" pitchFamily="34" charset="-120"/>
              </a:rPr>
              <a:t>4.Scales by complexity, not headcount</a:t>
            </a:r>
            <a:endParaRPr lang="en-US" sz="1000" dirty="0"/>
          </a:p>
        </p:txBody>
      </p:sp>
      <p:sp>
        <p:nvSpPr>
          <p:cNvPr id="7" name="Text 5"/>
          <p:cNvSpPr/>
          <p:nvPr/>
        </p:nvSpPr>
        <p:spPr>
          <a:xfrm>
            <a:off x="809506" y="2798445"/>
            <a:ext cx="13011388" cy="263009"/>
          </a:xfrm>
          <a:prstGeom prst="rect">
            <a:avLst/>
          </a:prstGeom>
          <a:noFill/>
          <a:ln/>
        </p:spPr>
        <p:txBody>
          <a:bodyPr wrap="none" lIns="0" tIns="0" rIns="0" bIns="0" rtlCol="0" anchor="t"/>
          <a:lstStyle/>
          <a:p>
            <a:pPr marL="0" indent="0" algn="l">
              <a:lnSpc>
                <a:spcPts val="2050"/>
              </a:lnSpc>
              <a:buNone/>
            </a:pPr>
            <a:r>
              <a:rPr lang="en-US" sz="1250" dirty="0">
                <a:solidFill>
                  <a:srgbClr val="FFE14D"/>
                </a:solidFill>
                <a:latin typeface="Raleway Medium" pitchFamily="34" charset="0"/>
                <a:ea typeface="Raleway Medium" pitchFamily="34" charset="-122"/>
                <a:cs typeface="Raleway Medium" pitchFamily="34" charset="-120"/>
              </a:rPr>
              <a:t>Application of AI agents</a:t>
            </a:r>
            <a:endParaRPr lang="en-US" sz="1250" dirty="0"/>
          </a:p>
        </p:txBody>
      </p:sp>
      <p:sp>
        <p:nvSpPr>
          <p:cNvPr id="8" name="Shape 6"/>
          <p:cNvSpPr/>
          <p:nvPr/>
        </p:nvSpPr>
        <p:spPr>
          <a:xfrm>
            <a:off x="809506" y="3209330"/>
            <a:ext cx="13011388" cy="4089678"/>
          </a:xfrm>
          <a:prstGeom prst="roundRect">
            <a:avLst>
              <a:gd name="adj" fmla="val 4825"/>
            </a:avLst>
          </a:prstGeom>
          <a:noFill/>
          <a:ln w="7620">
            <a:solidFill>
              <a:srgbClr val="FFFFFF">
                <a:alpha val="24000"/>
              </a:srgbClr>
            </a:solidFill>
            <a:prstDash val="solid"/>
          </a:ln>
        </p:spPr>
        <p:txBody>
          <a:bodyPr/>
          <a:lstStyle/>
          <a:p>
            <a:endParaRPr lang="en-US"/>
          </a:p>
        </p:txBody>
      </p:sp>
      <p:sp>
        <p:nvSpPr>
          <p:cNvPr id="9" name="Shape 7"/>
          <p:cNvSpPr/>
          <p:nvPr/>
        </p:nvSpPr>
        <p:spPr>
          <a:xfrm>
            <a:off x="817126" y="3216950"/>
            <a:ext cx="12996148" cy="435888"/>
          </a:xfrm>
          <a:prstGeom prst="rect">
            <a:avLst/>
          </a:prstGeom>
          <a:solidFill>
            <a:srgbClr val="FFFFFF">
              <a:alpha val="4000"/>
            </a:srgbClr>
          </a:solidFill>
          <a:ln/>
        </p:spPr>
        <p:txBody>
          <a:bodyPr/>
          <a:lstStyle/>
          <a:p>
            <a:endParaRPr lang="en-US"/>
          </a:p>
        </p:txBody>
      </p:sp>
      <p:sp>
        <p:nvSpPr>
          <p:cNvPr id="10" name="Text 8"/>
          <p:cNvSpPr/>
          <p:nvPr/>
        </p:nvSpPr>
        <p:spPr>
          <a:xfrm>
            <a:off x="948809" y="3303389"/>
            <a:ext cx="2199918" cy="263009"/>
          </a:xfrm>
          <a:prstGeom prst="rect">
            <a:avLst/>
          </a:prstGeom>
          <a:noFill/>
          <a:ln/>
        </p:spPr>
        <p:txBody>
          <a:bodyPr wrap="none" lIns="0" tIns="0" rIns="0" bIns="0" rtlCol="0" anchor="t"/>
          <a:lstStyle/>
          <a:p>
            <a:pPr marL="0" indent="0" algn="l">
              <a:lnSpc>
                <a:spcPts val="2050"/>
              </a:lnSpc>
              <a:buNone/>
            </a:pPr>
            <a:r>
              <a:rPr lang="en-US" sz="1250" b="1" dirty="0">
                <a:solidFill>
                  <a:srgbClr val="D7D4CC"/>
                </a:solidFill>
                <a:latin typeface="Raleway Medium" pitchFamily="34" charset="0"/>
                <a:ea typeface="Raleway Medium" pitchFamily="34" charset="-122"/>
                <a:cs typeface="Raleway Medium" pitchFamily="34" charset="-120"/>
              </a:rPr>
              <a:t>Category</a:t>
            </a:r>
            <a:endParaRPr lang="en-US" sz="1250" dirty="0"/>
          </a:p>
        </p:txBody>
      </p:sp>
      <p:sp>
        <p:nvSpPr>
          <p:cNvPr id="11" name="Text 9"/>
          <p:cNvSpPr/>
          <p:nvPr/>
        </p:nvSpPr>
        <p:spPr>
          <a:xfrm>
            <a:off x="3419237" y="3303389"/>
            <a:ext cx="4818698" cy="263009"/>
          </a:xfrm>
          <a:prstGeom prst="rect">
            <a:avLst/>
          </a:prstGeom>
          <a:noFill/>
          <a:ln/>
        </p:spPr>
        <p:txBody>
          <a:bodyPr wrap="none" lIns="0" tIns="0" rIns="0" bIns="0" rtlCol="0" anchor="t"/>
          <a:lstStyle/>
          <a:p>
            <a:pPr marL="0" indent="0" algn="l">
              <a:lnSpc>
                <a:spcPts val="2050"/>
              </a:lnSpc>
              <a:buNone/>
            </a:pPr>
            <a:r>
              <a:rPr lang="en-US" sz="1250" b="1" dirty="0">
                <a:solidFill>
                  <a:srgbClr val="D7D4CC"/>
                </a:solidFill>
                <a:latin typeface="Raleway Medium" pitchFamily="34" charset="0"/>
                <a:ea typeface="Raleway Medium" pitchFamily="34" charset="-122"/>
                <a:cs typeface="Raleway Medium" pitchFamily="34" charset="-120"/>
              </a:rPr>
              <a:t>Key Metrics</a:t>
            </a:r>
            <a:endParaRPr lang="en-US" sz="1250" dirty="0"/>
          </a:p>
        </p:txBody>
      </p:sp>
      <p:sp>
        <p:nvSpPr>
          <p:cNvPr id="12" name="Text 10"/>
          <p:cNvSpPr/>
          <p:nvPr/>
        </p:nvSpPr>
        <p:spPr>
          <a:xfrm>
            <a:off x="8508444" y="3303389"/>
            <a:ext cx="5173385" cy="263009"/>
          </a:xfrm>
          <a:prstGeom prst="rect">
            <a:avLst/>
          </a:prstGeom>
          <a:noFill/>
          <a:ln/>
        </p:spPr>
        <p:txBody>
          <a:bodyPr wrap="none" lIns="0" tIns="0" rIns="0" bIns="0" rtlCol="0" anchor="t"/>
          <a:lstStyle/>
          <a:p>
            <a:pPr marL="0" indent="0" algn="l">
              <a:lnSpc>
                <a:spcPts val="2050"/>
              </a:lnSpc>
              <a:buNone/>
            </a:pPr>
            <a:r>
              <a:rPr lang="en-US" sz="1250" b="1" dirty="0">
                <a:solidFill>
                  <a:srgbClr val="D7D4CC"/>
                </a:solidFill>
                <a:latin typeface="Raleway Medium" pitchFamily="34" charset="0"/>
                <a:ea typeface="Raleway Medium" pitchFamily="34" charset="-122"/>
                <a:cs typeface="Raleway Medium" pitchFamily="34" charset="-120"/>
              </a:rPr>
              <a:t>Addressable Human Labor Pool (Global)</a:t>
            </a:r>
            <a:endParaRPr lang="en-US" sz="1250" dirty="0"/>
          </a:p>
        </p:txBody>
      </p:sp>
      <p:sp>
        <p:nvSpPr>
          <p:cNvPr id="13" name="Shape 11"/>
          <p:cNvSpPr/>
          <p:nvPr/>
        </p:nvSpPr>
        <p:spPr>
          <a:xfrm>
            <a:off x="817126" y="3652838"/>
            <a:ext cx="12996148" cy="804386"/>
          </a:xfrm>
          <a:prstGeom prst="rect">
            <a:avLst/>
          </a:prstGeom>
          <a:solidFill>
            <a:srgbClr val="000000">
              <a:alpha val="4000"/>
            </a:srgbClr>
          </a:solidFill>
          <a:ln/>
        </p:spPr>
        <p:txBody>
          <a:bodyPr/>
          <a:lstStyle/>
          <a:p>
            <a:endParaRPr lang="en-US"/>
          </a:p>
        </p:txBody>
      </p:sp>
      <p:sp>
        <p:nvSpPr>
          <p:cNvPr id="14" name="Text 12"/>
          <p:cNvSpPr/>
          <p:nvPr/>
        </p:nvSpPr>
        <p:spPr>
          <a:xfrm>
            <a:off x="948809" y="3739277"/>
            <a:ext cx="2199918" cy="421005"/>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1. Workflow &amp; Back-Office Automation</a:t>
            </a:r>
            <a:endParaRPr lang="en-US" sz="1000" dirty="0"/>
          </a:p>
        </p:txBody>
      </p:sp>
      <p:sp>
        <p:nvSpPr>
          <p:cNvPr id="15" name="Text 13"/>
          <p:cNvSpPr/>
          <p:nvPr/>
        </p:nvSpPr>
        <p:spPr>
          <a:xfrm>
            <a:off x="3419237" y="3739277"/>
            <a:ext cx="4818698" cy="631507"/>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Agents autonomously orchestrate multi-step internal processes (e.g., invoice processing, procurement sourcing, HR onboarding, IT ticketing) across systems, make decisions and execute without human prompts.</a:t>
            </a:r>
            <a:endParaRPr lang="en-US" sz="1000" dirty="0"/>
          </a:p>
        </p:txBody>
      </p:sp>
      <p:sp>
        <p:nvSpPr>
          <p:cNvPr id="16" name="Text 14"/>
          <p:cNvSpPr/>
          <p:nvPr/>
        </p:nvSpPr>
        <p:spPr>
          <a:xfrm>
            <a:off x="8508444" y="3739277"/>
            <a:ext cx="5173385" cy="421005"/>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Up to $2–4 trillion annually globally from Gen AI/agentic AI across back-office workflows. </a:t>
            </a:r>
            <a:r>
              <a:rPr lang="en-US" sz="1000" u="sng" dirty="0">
                <a:solidFill>
                  <a:srgbClr val="FFE14D"/>
                </a:solidFill>
                <a:latin typeface="Raleway Medium" pitchFamily="34" charset="0"/>
                <a:ea typeface="Raleway Medium" pitchFamily="34" charset="-122"/>
                <a:cs typeface="Raleway Medium" pitchFamily="34" charset="-120"/>
                <a:hlinkClick r:id="rId3">
                  <a:extLst>
                    <a:ext uri="{A12FA001-AC4F-418D-AE19-62706E023703}">
                      <ahyp:hlinkClr xmlns:ahyp="http://schemas.microsoft.com/office/drawing/2018/hyperlinkcolor" val="tx"/>
                    </a:ext>
                  </a:extLst>
                </a:hlinkClick>
              </a:rPr>
              <a:t>McKinsey &amp; Company+1</a:t>
            </a:r>
            <a:endParaRPr lang="en-US" sz="1000" dirty="0"/>
          </a:p>
        </p:txBody>
      </p:sp>
      <p:sp>
        <p:nvSpPr>
          <p:cNvPr id="17" name="Shape 15"/>
          <p:cNvSpPr/>
          <p:nvPr/>
        </p:nvSpPr>
        <p:spPr>
          <a:xfrm>
            <a:off x="817126" y="4457224"/>
            <a:ext cx="12996148" cy="804386"/>
          </a:xfrm>
          <a:prstGeom prst="rect">
            <a:avLst/>
          </a:prstGeom>
          <a:solidFill>
            <a:srgbClr val="FFFFFF">
              <a:alpha val="4000"/>
            </a:srgbClr>
          </a:solidFill>
          <a:ln/>
        </p:spPr>
        <p:txBody>
          <a:bodyPr/>
          <a:lstStyle/>
          <a:p>
            <a:endParaRPr lang="en-US"/>
          </a:p>
        </p:txBody>
      </p:sp>
      <p:sp>
        <p:nvSpPr>
          <p:cNvPr id="18" name="Text 16"/>
          <p:cNvSpPr/>
          <p:nvPr/>
        </p:nvSpPr>
        <p:spPr>
          <a:xfrm>
            <a:off x="948809" y="4543663"/>
            <a:ext cx="2199918" cy="210502"/>
          </a:xfrm>
          <a:prstGeom prst="rect">
            <a:avLst/>
          </a:prstGeom>
          <a:noFill/>
          <a:ln/>
        </p:spPr>
        <p:txBody>
          <a:bodyPr wrap="non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2. Customer-Facing Process Agents</a:t>
            </a:r>
            <a:endParaRPr lang="en-US" sz="1000" dirty="0"/>
          </a:p>
        </p:txBody>
      </p:sp>
      <p:sp>
        <p:nvSpPr>
          <p:cNvPr id="19" name="Text 17"/>
          <p:cNvSpPr/>
          <p:nvPr/>
        </p:nvSpPr>
        <p:spPr>
          <a:xfrm>
            <a:off x="3419237" y="4543663"/>
            <a:ext cx="4818698" cy="631507"/>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Agents handle end-to-end customer workflows (e.g., support ticket resolution, claims handling, dynamic routing, proactive outreach) with minimal human intervention, leading to cost reductions and improved satisfaction.</a:t>
            </a:r>
            <a:endParaRPr lang="en-US" sz="1000" dirty="0"/>
          </a:p>
        </p:txBody>
      </p:sp>
      <p:sp>
        <p:nvSpPr>
          <p:cNvPr id="20" name="Text 18"/>
          <p:cNvSpPr/>
          <p:nvPr/>
        </p:nvSpPr>
        <p:spPr>
          <a:xfrm>
            <a:off x="8508444" y="4543663"/>
            <a:ext cx="5173385" cy="421005"/>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Potential savings + revenue uplift in customer functions estimated at $300-500 billion globally. (Part of the $2.6-4.4T total) </a:t>
            </a:r>
            <a:r>
              <a:rPr lang="en-US" sz="1000" u="sng" dirty="0">
                <a:solidFill>
                  <a:srgbClr val="FFE14D"/>
                </a:solidFill>
                <a:latin typeface="Raleway Medium" pitchFamily="34" charset="0"/>
                <a:ea typeface="Raleway Medium" pitchFamily="34" charset="-122"/>
                <a:cs typeface="Raleway Medium" pitchFamily="34" charset="-120"/>
                <a:hlinkClick r:id="rId3">
                  <a:extLst>
                    <a:ext uri="{A12FA001-AC4F-418D-AE19-62706E023703}">
                      <ahyp:hlinkClr xmlns:ahyp="http://schemas.microsoft.com/office/drawing/2018/hyperlinkcolor" val="tx"/>
                    </a:ext>
                  </a:extLst>
                </a:hlinkClick>
              </a:rPr>
              <a:t>McKinsey &amp; Company+1</a:t>
            </a:r>
            <a:endParaRPr lang="en-US" sz="1000" dirty="0"/>
          </a:p>
        </p:txBody>
      </p:sp>
      <p:sp>
        <p:nvSpPr>
          <p:cNvPr id="21" name="Shape 19"/>
          <p:cNvSpPr/>
          <p:nvPr/>
        </p:nvSpPr>
        <p:spPr>
          <a:xfrm>
            <a:off x="817126" y="5261610"/>
            <a:ext cx="12996148" cy="1014889"/>
          </a:xfrm>
          <a:prstGeom prst="rect">
            <a:avLst/>
          </a:prstGeom>
          <a:solidFill>
            <a:srgbClr val="000000">
              <a:alpha val="4000"/>
            </a:srgbClr>
          </a:solidFill>
          <a:ln/>
        </p:spPr>
        <p:txBody>
          <a:bodyPr/>
          <a:lstStyle/>
          <a:p>
            <a:endParaRPr lang="en-US"/>
          </a:p>
        </p:txBody>
      </p:sp>
      <p:sp>
        <p:nvSpPr>
          <p:cNvPr id="22" name="Text 20"/>
          <p:cNvSpPr/>
          <p:nvPr/>
        </p:nvSpPr>
        <p:spPr>
          <a:xfrm>
            <a:off x="948809" y="5348049"/>
            <a:ext cx="2199918" cy="421005"/>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3. Decision-Making &amp; Orchestration Agents</a:t>
            </a:r>
            <a:endParaRPr lang="en-US" sz="1000" dirty="0"/>
          </a:p>
        </p:txBody>
      </p:sp>
      <p:sp>
        <p:nvSpPr>
          <p:cNvPr id="23" name="Text 21"/>
          <p:cNvSpPr/>
          <p:nvPr/>
        </p:nvSpPr>
        <p:spPr>
          <a:xfrm>
            <a:off x="3419237" y="5348049"/>
            <a:ext cx="4818698" cy="842010"/>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Agents monitor conditions (data, systems, environment), reason &amp; plan actions (reroute supply chain, adjust budget, allocate resources) and execute cross-system changes. This drives agility and new revenue/opportunity rather than just cost savings.</a:t>
            </a:r>
            <a:endParaRPr lang="en-US" sz="1000" dirty="0"/>
          </a:p>
        </p:txBody>
      </p:sp>
      <p:sp>
        <p:nvSpPr>
          <p:cNvPr id="24" name="Text 22"/>
          <p:cNvSpPr/>
          <p:nvPr/>
        </p:nvSpPr>
        <p:spPr>
          <a:xfrm>
            <a:off x="8508444" y="5348049"/>
            <a:ext cx="5173385" cy="421005"/>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Large enterprises see equivalent to 25-40% of cost base in areas like asset management. </a:t>
            </a:r>
            <a:r>
              <a:rPr lang="en-US" sz="1000" u="sng" dirty="0">
                <a:solidFill>
                  <a:srgbClr val="FFE14D"/>
                </a:solidFill>
                <a:latin typeface="Raleway Medium" pitchFamily="34" charset="0"/>
                <a:ea typeface="Raleway Medium" pitchFamily="34" charset="-122"/>
                <a:cs typeface="Raleway Medium" pitchFamily="34" charset="-120"/>
                <a:hlinkClick r:id="rId4">
                  <a:extLst>
                    <a:ext uri="{A12FA001-AC4F-418D-AE19-62706E023703}">
                      <ahyp:hlinkClr xmlns:ahyp="http://schemas.microsoft.com/office/drawing/2018/hyperlinkcolor" val="tx"/>
                    </a:ext>
                  </a:extLst>
                </a:hlinkClick>
              </a:rPr>
              <a:t>McKinsey &amp; Company</a:t>
            </a:r>
            <a:endParaRPr lang="en-US" sz="1000" dirty="0"/>
          </a:p>
        </p:txBody>
      </p:sp>
      <p:sp>
        <p:nvSpPr>
          <p:cNvPr id="25" name="Shape 23"/>
          <p:cNvSpPr/>
          <p:nvPr/>
        </p:nvSpPr>
        <p:spPr>
          <a:xfrm>
            <a:off x="817126" y="6276499"/>
            <a:ext cx="12996148" cy="1014889"/>
          </a:xfrm>
          <a:prstGeom prst="rect">
            <a:avLst/>
          </a:prstGeom>
          <a:solidFill>
            <a:srgbClr val="FFFFFF">
              <a:alpha val="4000"/>
            </a:srgbClr>
          </a:solidFill>
          <a:ln/>
        </p:spPr>
        <p:txBody>
          <a:bodyPr/>
          <a:lstStyle/>
          <a:p>
            <a:endParaRPr lang="en-US"/>
          </a:p>
        </p:txBody>
      </p:sp>
      <p:sp>
        <p:nvSpPr>
          <p:cNvPr id="26" name="Text 24"/>
          <p:cNvSpPr/>
          <p:nvPr/>
        </p:nvSpPr>
        <p:spPr>
          <a:xfrm>
            <a:off x="948809" y="6362938"/>
            <a:ext cx="2199918" cy="421005"/>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4. Developer / Knowledge-Work Augmentation Agents</a:t>
            </a:r>
            <a:endParaRPr lang="en-US" sz="1000" dirty="0"/>
          </a:p>
        </p:txBody>
      </p:sp>
      <p:sp>
        <p:nvSpPr>
          <p:cNvPr id="27" name="Text 25"/>
          <p:cNvSpPr/>
          <p:nvPr/>
        </p:nvSpPr>
        <p:spPr>
          <a:xfrm>
            <a:off x="3419237" y="6362938"/>
            <a:ext cx="4818698" cy="842010"/>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Agents support knowledge workers and developers by autonomously generating/maintaining code, drafting contracts, summarizing research, updating models, enabling faster innovation. While not full human replacement, they multiply productivity and accelerate cycle time.</a:t>
            </a:r>
            <a:endParaRPr lang="en-US" sz="1000" dirty="0"/>
          </a:p>
        </p:txBody>
      </p:sp>
      <p:sp>
        <p:nvSpPr>
          <p:cNvPr id="28" name="Text 26"/>
          <p:cNvSpPr/>
          <p:nvPr/>
        </p:nvSpPr>
        <p:spPr>
          <a:xfrm>
            <a:off x="8508444" y="6362938"/>
            <a:ext cx="5173385" cy="421005"/>
          </a:xfrm>
          <a:prstGeom prst="rect">
            <a:avLst/>
          </a:prstGeom>
          <a:noFill/>
          <a:ln/>
        </p:spPr>
        <p:txBody>
          <a:bodyPr wrap="square" lIns="0" tIns="0" rIns="0" bIns="0" rtlCol="0" anchor="t"/>
          <a:lstStyle/>
          <a:p>
            <a:pPr marL="0" indent="0" algn="l">
              <a:lnSpc>
                <a:spcPts val="1650"/>
              </a:lnSpc>
              <a:buNone/>
            </a:pPr>
            <a:r>
              <a:rPr lang="en-US" sz="1000" dirty="0">
                <a:solidFill>
                  <a:srgbClr val="D7D4CC"/>
                </a:solidFill>
                <a:latin typeface="Raleway Medium" pitchFamily="34" charset="0"/>
                <a:ea typeface="Raleway Medium" pitchFamily="34" charset="-122"/>
                <a:cs typeface="Raleway Medium" pitchFamily="34" charset="-120"/>
              </a:rPr>
              <a:t>For companies building these capabilities, productivity gains can translate into hundreds of millions of dollars annually. </a:t>
            </a:r>
            <a:r>
              <a:rPr lang="en-US" sz="1000" u="sng" dirty="0">
                <a:solidFill>
                  <a:srgbClr val="FFE14D"/>
                </a:solidFill>
                <a:latin typeface="Raleway Medium" pitchFamily="34" charset="0"/>
                <a:ea typeface="Raleway Medium" pitchFamily="34" charset="-122"/>
                <a:cs typeface="Raleway Medium" pitchFamily="34" charset="-120"/>
                <a:hlinkClick r:id="rId5">
                  <a:extLst>
                    <a:ext uri="{A12FA001-AC4F-418D-AE19-62706E023703}">
                      <ahyp:hlinkClr xmlns:ahyp="http://schemas.microsoft.com/office/drawing/2018/hyperlinkcolor" val="tx"/>
                    </a:ext>
                  </a:extLst>
                </a:hlinkClick>
              </a:rPr>
              <a:t>itpro.com+1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41415" y="578406"/>
            <a:ext cx="5297091" cy="379809"/>
          </a:xfrm>
          <a:prstGeom prst="rect">
            <a:avLst/>
          </a:prstGeom>
          <a:noFill/>
          <a:ln/>
        </p:spPr>
        <p:txBody>
          <a:bodyPr wrap="none" lIns="0" tIns="0" rIns="0" bIns="0" rtlCol="0" anchor="t"/>
          <a:lstStyle/>
          <a:p>
            <a:pPr marL="0" indent="0" algn="l">
              <a:lnSpc>
                <a:spcPts val="2950"/>
              </a:lnSpc>
              <a:buNone/>
            </a:pPr>
            <a:r>
              <a:rPr lang="en-US" sz="2350" b="1" dirty="0">
                <a:solidFill>
                  <a:srgbClr val="FFE14D"/>
                </a:solidFill>
                <a:latin typeface="Comfortaa Bold" pitchFamily="34" charset="0"/>
                <a:ea typeface="Comfortaa Bold" pitchFamily="34" charset="-122"/>
                <a:cs typeface="Comfortaa Bold" pitchFamily="34" charset="-120"/>
              </a:rPr>
              <a:t>Voice Agents vs non-voice agents</a:t>
            </a:r>
            <a:endParaRPr lang="en-US" sz="2350" dirty="0"/>
          </a:p>
        </p:txBody>
      </p:sp>
      <p:sp>
        <p:nvSpPr>
          <p:cNvPr id="3" name="Text 1"/>
          <p:cNvSpPr/>
          <p:nvPr/>
        </p:nvSpPr>
        <p:spPr>
          <a:xfrm>
            <a:off x="841415" y="1231583"/>
            <a:ext cx="12947571" cy="273487"/>
          </a:xfrm>
          <a:prstGeom prst="rect">
            <a:avLst/>
          </a:prstGeom>
          <a:noFill/>
          <a:ln/>
        </p:spPr>
        <p:txBody>
          <a:bodyPr wrap="none" lIns="0" tIns="0" rIns="0" bIns="0" rtlCol="0" anchor="t"/>
          <a:lstStyle/>
          <a:p>
            <a:pPr marL="0" indent="0" algn="l">
              <a:lnSpc>
                <a:spcPts val="2150"/>
              </a:lnSpc>
              <a:buNone/>
            </a:pPr>
            <a:r>
              <a:rPr lang="en-US" sz="1300" dirty="0">
                <a:solidFill>
                  <a:srgbClr val="FFE14D"/>
                </a:solidFill>
                <a:latin typeface="Raleway Medium" pitchFamily="34" charset="0"/>
                <a:ea typeface="Raleway Medium" pitchFamily="34" charset="-122"/>
                <a:cs typeface="Raleway Medium" pitchFamily="34" charset="-120"/>
              </a:rPr>
              <a:t>Advantages of voice agents</a:t>
            </a:r>
            <a:endParaRPr lang="en-US" sz="1300" dirty="0"/>
          </a:p>
        </p:txBody>
      </p:sp>
      <p:sp>
        <p:nvSpPr>
          <p:cNvPr id="4" name="Shape 2"/>
          <p:cNvSpPr/>
          <p:nvPr/>
        </p:nvSpPr>
        <p:spPr>
          <a:xfrm>
            <a:off x="841415" y="1658779"/>
            <a:ext cx="12947571" cy="1298019"/>
          </a:xfrm>
          <a:prstGeom prst="roundRect">
            <a:avLst>
              <a:gd name="adj" fmla="val 15801"/>
            </a:avLst>
          </a:prstGeom>
          <a:solidFill>
            <a:srgbClr val="343438"/>
          </a:solidFill>
          <a:ln/>
        </p:spPr>
        <p:txBody>
          <a:bodyPr/>
          <a:lstStyle/>
          <a:p>
            <a:endParaRPr lang="en-US"/>
          </a:p>
        </p:txBody>
      </p:sp>
      <p:sp>
        <p:nvSpPr>
          <p:cNvPr id="5" name="Shape 3"/>
          <p:cNvSpPr/>
          <p:nvPr/>
        </p:nvSpPr>
        <p:spPr>
          <a:xfrm>
            <a:off x="834628" y="1658779"/>
            <a:ext cx="12961144" cy="1298019"/>
          </a:xfrm>
          <a:prstGeom prst="roundRect">
            <a:avLst>
              <a:gd name="adj" fmla="val 1580"/>
            </a:avLst>
          </a:prstGeom>
          <a:solidFill>
            <a:srgbClr val="343438"/>
          </a:solidFill>
          <a:ln/>
        </p:spPr>
        <p:txBody>
          <a:bodyPr/>
          <a:lstStyle/>
          <a:p>
            <a:endParaRPr lang="en-US"/>
          </a:p>
        </p:txBody>
      </p:sp>
      <p:sp>
        <p:nvSpPr>
          <p:cNvPr id="6" name="Text 4"/>
          <p:cNvSpPr/>
          <p:nvPr/>
        </p:nvSpPr>
        <p:spPr>
          <a:xfrm>
            <a:off x="971312" y="1761292"/>
            <a:ext cx="12687776" cy="1092994"/>
          </a:xfrm>
          <a:prstGeom prst="rect">
            <a:avLst/>
          </a:prstGeom>
          <a:noFill/>
          <a:ln/>
        </p:spPr>
        <p:txBody>
          <a:bodyPr wrap="square" lIns="0" tIns="0" rIns="0" bIns="0" rtlCol="0" anchor="t"/>
          <a:lstStyle/>
          <a:p>
            <a:pPr algn="l">
              <a:lnSpc>
                <a:spcPts val="1700"/>
              </a:lnSpc>
            </a:pPr>
            <a:r>
              <a:rPr lang="en-US" sz="1050" dirty="0">
                <a:solidFill>
                  <a:srgbClr val="D7D4CC"/>
                </a:solidFill>
                <a:highlight>
                  <a:srgbClr val="343438"/>
                </a:highlight>
                <a:latin typeface="Consolas Medium" pitchFamily="34" charset="0"/>
                <a:ea typeface="Consolas Medium" pitchFamily="34" charset="-122"/>
                <a:cs typeface="Consolas Medium" pitchFamily="34" charset="-120"/>
              </a:rPr>
              <a:t>1.Decrease cost per call simultaneously increase customer satisfaction scores</a:t>
            </a:r>
          </a:p>
          <a:p>
            <a:pPr algn="l">
              <a:lnSpc>
                <a:spcPts val="1700"/>
              </a:lnSpc>
            </a:pPr>
            <a:r>
              <a:rPr lang="en-US" sz="1050" dirty="0">
                <a:solidFill>
                  <a:srgbClr val="D7D4CC"/>
                </a:solidFill>
                <a:highlight>
                  <a:srgbClr val="343438"/>
                </a:highlight>
                <a:latin typeface="Consolas Medium" pitchFamily="34" charset="0"/>
                <a:ea typeface="Consolas Medium" pitchFamily="34" charset="-122"/>
                <a:cs typeface="Consolas Medium" pitchFamily="34" charset="-120"/>
              </a:rPr>
              <a:t>2.Consistent and available 24/7, scalable</a:t>
            </a:r>
          </a:p>
          <a:p>
            <a:pPr algn="l">
              <a:lnSpc>
                <a:spcPts val="1700"/>
              </a:lnSpc>
            </a:pPr>
            <a:r>
              <a:rPr lang="en-US" sz="1050" dirty="0">
                <a:solidFill>
                  <a:srgbClr val="D7D4CC"/>
                </a:solidFill>
                <a:highlight>
                  <a:srgbClr val="343438"/>
                </a:highlight>
                <a:latin typeface="Consolas Medium" pitchFamily="34" charset="0"/>
                <a:ea typeface="Consolas Medium" pitchFamily="34" charset="-122"/>
                <a:cs typeface="Consolas Medium" pitchFamily="34" charset="-120"/>
              </a:rPr>
              <a:t>3.Multi-language support</a:t>
            </a:r>
          </a:p>
          <a:p>
            <a:pPr algn="l">
              <a:lnSpc>
                <a:spcPts val="1700"/>
              </a:lnSpc>
            </a:pPr>
            <a:r>
              <a:rPr lang="en-US" sz="1050" dirty="0">
                <a:solidFill>
                  <a:srgbClr val="D7D4CC"/>
                </a:solidFill>
                <a:highlight>
                  <a:srgbClr val="343438"/>
                </a:highlight>
                <a:latin typeface="Consolas Medium" pitchFamily="34" charset="0"/>
                <a:ea typeface="Consolas Medium" pitchFamily="34" charset="-122"/>
                <a:cs typeface="Consolas Medium" pitchFamily="34" charset="-120"/>
              </a:rPr>
              <a:t>4.Cross channel support</a:t>
            </a:r>
            <a:endParaRPr lang="en-US" sz="1050" dirty="0"/>
          </a:p>
        </p:txBody>
      </p:sp>
      <p:sp>
        <p:nvSpPr>
          <p:cNvPr id="7" name="Text 5"/>
          <p:cNvSpPr/>
          <p:nvPr/>
        </p:nvSpPr>
        <p:spPr>
          <a:xfrm>
            <a:off x="841415" y="3110508"/>
            <a:ext cx="12947571" cy="273487"/>
          </a:xfrm>
          <a:prstGeom prst="rect">
            <a:avLst/>
          </a:prstGeom>
          <a:noFill/>
          <a:ln/>
        </p:spPr>
        <p:txBody>
          <a:bodyPr wrap="none" lIns="0" tIns="0" rIns="0" bIns="0" rtlCol="0" anchor="t"/>
          <a:lstStyle/>
          <a:p>
            <a:pPr marL="0" indent="0" algn="l">
              <a:lnSpc>
                <a:spcPts val="2150"/>
              </a:lnSpc>
              <a:buNone/>
            </a:pPr>
            <a:r>
              <a:rPr lang="en-US" sz="1300" dirty="0">
                <a:solidFill>
                  <a:srgbClr val="FFE14D"/>
                </a:solidFill>
                <a:latin typeface="Raleway Medium" pitchFamily="34" charset="0"/>
                <a:ea typeface="Raleway Medium" pitchFamily="34" charset="-122"/>
                <a:cs typeface="Raleway Medium" pitchFamily="34" charset="-120"/>
              </a:rPr>
              <a:t>Application of voice agents </a:t>
            </a:r>
            <a:endParaRPr lang="en-US" sz="1300" dirty="0"/>
          </a:p>
        </p:txBody>
      </p:sp>
      <p:sp>
        <p:nvSpPr>
          <p:cNvPr id="8" name="Shape 6"/>
          <p:cNvSpPr/>
          <p:nvPr/>
        </p:nvSpPr>
        <p:spPr>
          <a:xfrm>
            <a:off x="841415" y="3537704"/>
            <a:ext cx="12947571" cy="3373160"/>
          </a:xfrm>
          <a:prstGeom prst="roundRect">
            <a:avLst>
              <a:gd name="adj" fmla="val 6080"/>
            </a:avLst>
          </a:prstGeom>
          <a:noFill/>
          <a:ln w="7620">
            <a:solidFill>
              <a:srgbClr val="FFFFFF">
                <a:alpha val="24000"/>
              </a:srgbClr>
            </a:solidFill>
            <a:prstDash val="solid"/>
          </a:ln>
        </p:spPr>
        <p:txBody>
          <a:bodyPr/>
          <a:lstStyle/>
          <a:p>
            <a:endParaRPr lang="en-US"/>
          </a:p>
        </p:txBody>
      </p:sp>
      <p:sp>
        <p:nvSpPr>
          <p:cNvPr id="9" name="Shape 7"/>
          <p:cNvSpPr/>
          <p:nvPr/>
        </p:nvSpPr>
        <p:spPr>
          <a:xfrm>
            <a:off x="849035" y="3545324"/>
            <a:ext cx="12932331" cy="452795"/>
          </a:xfrm>
          <a:prstGeom prst="rect">
            <a:avLst/>
          </a:prstGeom>
          <a:solidFill>
            <a:srgbClr val="FFFFFF">
              <a:alpha val="4000"/>
            </a:srgbClr>
          </a:solidFill>
          <a:ln/>
        </p:spPr>
        <p:txBody>
          <a:bodyPr/>
          <a:lstStyle/>
          <a:p>
            <a:endParaRPr lang="en-US"/>
          </a:p>
        </p:txBody>
      </p:sp>
      <p:sp>
        <p:nvSpPr>
          <p:cNvPr id="10" name="Text 8"/>
          <p:cNvSpPr/>
          <p:nvPr/>
        </p:nvSpPr>
        <p:spPr>
          <a:xfrm>
            <a:off x="985957" y="3634978"/>
            <a:ext cx="1015960" cy="273487"/>
          </a:xfrm>
          <a:prstGeom prst="rect">
            <a:avLst/>
          </a:prstGeom>
          <a:noFill/>
          <a:ln/>
        </p:spPr>
        <p:txBody>
          <a:bodyPr wrap="none" lIns="0" tIns="0" rIns="0" bIns="0" rtlCol="0" anchor="t"/>
          <a:lstStyle/>
          <a:p>
            <a:pPr marL="0" indent="0" algn="l">
              <a:lnSpc>
                <a:spcPts val="2150"/>
              </a:lnSpc>
              <a:buNone/>
            </a:pPr>
            <a:r>
              <a:rPr lang="en-US" sz="1300" b="1" dirty="0">
                <a:solidFill>
                  <a:srgbClr val="D7D4CC"/>
                </a:solidFill>
                <a:latin typeface="Raleway Medium" pitchFamily="34" charset="0"/>
                <a:ea typeface="Raleway Medium" pitchFamily="34" charset="-122"/>
                <a:cs typeface="Raleway Medium" pitchFamily="34" charset="-120"/>
              </a:rPr>
              <a:t>Category</a:t>
            </a:r>
            <a:endParaRPr lang="en-US" sz="1300" dirty="0"/>
          </a:p>
        </p:txBody>
      </p:sp>
      <p:sp>
        <p:nvSpPr>
          <p:cNvPr id="11" name="Text 9"/>
          <p:cNvSpPr/>
          <p:nvPr/>
        </p:nvSpPr>
        <p:spPr>
          <a:xfrm>
            <a:off x="2282904" y="3634978"/>
            <a:ext cx="5344478" cy="273487"/>
          </a:xfrm>
          <a:prstGeom prst="rect">
            <a:avLst/>
          </a:prstGeom>
          <a:noFill/>
          <a:ln/>
        </p:spPr>
        <p:txBody>
          <a:bodyPr wrap="none" lIns="0" tIns="0" rIns="0" bIns="0" rtlCol="0" anchor="t"/>
          <a:lstStyle/>
          <a:p>
            <a:pPr marL="0" indent="0" algn="l">
              <a:lnSpc>
                <a:spcPts val="2150"/>
              </a:lnSpc>
              <a:buNone/>
            </a:pPr>
            <a:r>
              <a:rPr lang="en-US" sz="1300" b="1" dirty="0">
                <a:solidFill>
                  <a:srgbClr val="D7D4CC"/>
                </a:solidFill>
                <a:latin typeface="Raleway Medium" pitchFamily="34" charset="0"/>
                <a:ea typeface="Raleway Medium" pitchFamily="34" charset="-122"/>
                <a:cs typeface="Raleway Medium" pitchFamily="34" charset="-120"/>
              </a:rPr>
              <a:t>Key Metrics</a:t>
            </a:r>
            <a:endParaRPr lang="en-US" sz="1300" dirty="0"/>
          </a:p>
        </p:txBody>
      </p:sp>
      <p:sp>
        <p:nvSpPr>
          <p:cNvPr id="12" name="Text 10"/>
          <p:cNvSpPr/>
          <p:nvPr/>
        </p:nvSpPr>
        <p:spPr>
          <a:xfrm>
            <a:off x="7908369" y="3634978"/>
            <a:ext cx="5736312" cy="273487"/>
          </a:xfrm>
          <a:prstGeom prst="rect">
            <a:avLst/>
          </a:prstGeom>
          <a:noFill/>
          <a:ln/>
        </p:spPr>
        <p:txBody>
          <a:bodyPr wrap="none" lIns="0" tIns="0" rIns="0" bIns="0" rtlCol="0" anchor="t"/>
          <a:lstStyle/>
          <a:p>
            <a:pPr marL="0" indent="0" algn="l">
              <a:lnSpc>
                <a:spcPts val="2150"/>
              </a:lnSpc>
              <a:buNone/>
            </a:pPr>
            <a:r>
              <a:rPr lang="en-US" sz="1300" b="1" dirty="0">
                <a:solidFill>
                  <a:srgbClr val="D7D4CC"/>
                </a:solidFill>
                <a:latin typeface="Raleway Medium" pitchFamily="34" charset="0"/>
                <a:ea typeface="Raleway Medium" pitchFamily="34" charset="-122"/>
                <a:cs typeface="Raleway Medium" pitchFamily="34" charset="-120"/>
              </a:rPr>
              <a:t>Addressable Human Labor Pool (Global)</a:t>
            </a:r>
            <a:endParaRPr lang="en-US" sz="1300" dirty="0"/>
          </a:p>
        </p:txBody>
      </p:sp>
      <p:sp>
        <p:nvSpPr>
          <p:cNvPr id="13" name="Shape 11"/>
          <p:cNvSpPr/>
          <p:nvPr/>
        </p:nvSpPr>
        <p:spPr>
          <a:xfrm>
            <a:off x="849035" y="3998119"/>
            <a:ext cx="12932331" cy="726281"/>
          </a:xfrm>
          <a:prstGeom prst="rect">
            <a:avLst/>
          </a:prstGeom>
          <a:solidFill>
            <a:srgbClr val="000000">
              <a:alpha val="4000"/>
            </a:srgbClr>
          </a:solidFill>
          <a:ln/>
        </p:spPr>
        <p:txBody>
          <a:bodyPr/>
          <a:lstStyle/>
          <a:p>
            <a:endParaRPr lang="en-US"/>
          </a:p>
        </p:txBody>
      </p:sp>
      <p:sp>
        <p:nvSpPr>
          <p:cNvPr id="14" name="Text 12"/>
          <p:cNvSpPr/>
          <p:nvPr/>
        </p:nvSpPr>
        <p:spPr>
          <a:xfrm>
            <a:off x="985957" y="4087773"/>
            <a:ext cx="1015960" cy="273487"/>
          </a:xfrm>
          <a:prstGeom prst="rect">
            <a:avLst/>
          </a:prstGeom>
          <a:noFill/>
          <a:ln/>
        </p:spPr>
        <p:txBody>
          <a:bodyPr wrap="non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Sales</a:t>
            </a:r>
            <a:endParaRPr lang="en-US" sz="1300" dirty="0"/>
          </a:p>
        </p:txBody>
      </p:sp>
      <p:sp>
        <p:nvSpPr>
          <p:cNvPr id="15" name="Text 13"/>
          <p:cNvSpPr/>
          <p:nvPr/>
        </p:nvSpPr>
        <p:spPr>
          <a:xfrm>
            <a:off x="2282904" y="4087773"/>
            <a:ext cx="5344478" cy="546973"/>
          </a:xfrm>
          <a:prstGeom prst="rect">
            <a:avLst/>
          </a:prstGeom>
          <a:noFill/>
          <a:ln/>
        </p:spPr>
        <p:txBody>
          <a:bodyPr wrap="squar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“50% increase in leads &amp; appointments while cutting acquisition costs by 40-60%” (</a:t>
            </a:r>
            <a:r>
              <a:rPr lang="en-US" sz="1300" u="sng" dirty="0">
                <a:solidFill>
                  <a:srgbClr val="FFE14D"/>
                </a:solidFill>
                <a:latin typeface="Raleway Medium" pitchFamily="34" charset="0"/>
                <a:ea typeface="Raleway Medium" pitchFamily="34" charset="-122"/>
                <a:cs typeface="Raleway Medium" pitchFamily="34" charset="-120"/>
                <a:hlinkClick r:id="rId3">
                  <a:extLst>
                    <a:ext uri="{A12FA001-AC4F-418D-AE19-62706E023703}">
                      <ahyp:hlinkClr xmlns:ahyp="http://schemas.microsoft.com/office/drawing/2018/hyperlinkcolor" val="tx"/>
                    </a:ext>
                  </a:extLst>
                </a:hlinkClick>
              </a:rPr>
              <a:t>SPOTIO</a:t>
            </a:r>
            <a:r>
              <a:rPr lang="en-US" sz="1300" dirty="0">
                <a:solidFill>
                  <a:srgbClr val="D7D4CC"/>
                </a:solidFill>
                <a:latin typeface="Raleway Medium" pitchFamily="34" charset="0"/>
                <a:ea typeface="Raleway Medium" pitchFamily="34" charset="-122"/>
                <a:cs typeface="Raleway Medium" pitchFamily="34" charset="-120"/>
              </a:rPr>
              <a:t>)</a:t>
            </a:r>
            <a:endParaRPr lang="en-US" sz="1300" dirty="0"/>
          </a:p>
        </p:txBody>
      </p:sp>
      <p:sp>
        <p:nvSpPr>
          <p:cNvPr id="16" name="Text 14"/>
          <p:cNvSpPr/>
          <p:nvPr/>
        </p:nvSpPr>
        <p:spPr>
          <a:xfrm>
            <a:off x="7908369" y="4087773"/>
            <a:ext cx="5736312" cy="273487"/>
          </a:xfrm>
          <a:prstGeom prst="rect">
            <a:avLst/>
          </a:prstGeom>
          <a:noFill/>
          <a:ln/>
        </p:spPr>
        <p:txBody>
          <a:bodyPr wrap="non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~25 million sales professionals</a:t>
            </a:r>
            <a:endParaRPr lang="en-US" sz="1300" dirty="0"/>
          </a:p>
        </p:txBody>
      </p:sp>
      <p:sp>
        <p:nvSpPr>
          <p:cNvPr id="17" name="Shape 15"/>
          <p:cNvSpPr/>
          <p:nvPr/>
        </p:nvSpPr>
        <p:spPr>
          <a:xfrm>
            <a:off x="849035" y="4724400"/>
            <a:ext cx="12932331" cy="726281"/>
          </a:xfrm>
          <a:prstGeom prst="rect">
            <a:avLst/>
          </a:prstGeom>
          <a:solidFill>
            <a:srgbClr val="FFFFFF">
              <a:alpha val="4000"/>
            </a:srgbClr>
          </a:solidFill>
          <a:ln/>
        </p:spPr>
        <p:txBody>
          <a:bodyPr/>
          <a:lstStyle/>
          <a:p>
            <a:endParaRPr lang="en-US"/>
          </a:p>
        </p:txBody>
      </p:sp>
      <p:sp>
        <p:nvSpPr>
          <p:cNvPr id="18" name="Text 16"/>
          <p:cNvSpPr/>
          <p:nvPr/>
        </p:nvSpPr>
        <p:spPr>
          <a:xfrm>
            <a:off x="985957" y="4814054"/>
            <a:ext cx="1015960" cy="273487"/>
          </a:xfrm>
          <a:prstGeom prst="rect">
            <a:avLst/>
          </a:prstGeom>
          <a:noFill/>
          <a:ln/>
        </p:spPr>
        <p:txBody>
          <a:bodyPr wrap="non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Renewals</a:t>
            </a:r>
            <a:endParaRPr lang="en-US" sz="1300" dirty="0"/>
          </a:p>
        </p:txBody>
      </p:sp>
      <p:sp>
        <p:nvSpPr>
          <p:cNvPr id="19" name="Text 17"/>
          <p:cNvSpPr/>
          <p:nvPr/>
        </p:nvSpPr>
        <p:spPr>
          <a:xfrm>
            <a:off x="2282904" y="4814054"/>
            <a:ext cx="5344478" cy="546973"/>
          </a:xfrm>
          <a:prstGeom prst="rect">
            <a:avLst/>
          </a:prstGeom>
          <a:noFill/>
          <a:ln/>
        </p:spPr>
        <p:txBody>
          <a:bodyPr wrap="squar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“Increase customer-satisfaction by 15-20%, boost revenue by 5-8%, cut service costs by 20-30%” (</a:t>
            </a:r>
            <a:r>
              <a:rPr lang="en-US" sz="1300" u="sng" dirty="0">
                <a:solidFill>
                  <a:srgbClr val="FFE14D"/>
                </a:solidFill>
                <a:latin typeface="Raleway Medium" pitchFamily="34" charset="0"/>
                <a:ea typeface="Raleway Medium" pitchFamily="34" charset="-122"/>
                <a:cs typeface="Raleway Medium" pitchFamily="34" charset="-120"/>
                <a:hlinkClick r:id="rId4">
                  <a:extLst>
                    <a:ext uri="{A12FA001-AC4F-418D-AE19-62706E023703}">
                      <ahyp:hlinkClr xmlns:ahyp="http://schemas.microsoft.com/office/drawing/2018/hyperlinkcolor" val="tx"/>
                    </a:ext>
                  </a:extLst>
                </a:hlinkClick>
              </a:rPr>
              <a:t>Zety</a:t>
            </a:r>
            <a:r>
              <a:rPr lang="en-US" sz="1300" dirty="0">
                <a:solidFill>
                  <a:srgbClr val="D7D4CC"/>
                </a:solidFill>
                <a:latin typeface="Raleway Medium" pitchFamily="34" charset="0"/>
                <a:ea typeface="Raleway Medium" pitchFamily="34" charset="-122"/>
                <a:cs typeface="Raleway Medium" pitchFamily="34" charset="-120"/>
              </a:rPr>
              <a:t>)</a:t>
            </a:r>
            <a:endParaRPr lang="en-US" sz="1300" dirty="0"/>
          </a:p>
        </p:txBody>
      </p:sp>
      <p:sp>
        <p:nvSpPr>
          <p:cNvPr id="20" name="Text 18"/>
          <p:cNvSpPr/>
          <p:nvPr/>
        </p:nvSpPr>
        <p:spPr>
          <a:xfrm>
            <a:off x="7908369" y="4814054"/>
            <a:ext cx="5736312" cy="273487"/>
          </a:xfrm>
          <a:prstGeom prst="rect">
            <a:avLst/>
          </a:prstGeom>
          <a:noFill/>
          <a:ln/>
        </p:spPr>
        <p:txBody>
          <a:bodyPr wrap="non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~10 million customer-success/renewals staff </a:t>
            </a:r>
            <a:endParaRPr lang="en-US" sz="1300" dirty="0"/>
          </a:p>
        </p:txBody>
      </p:sp>
      <p:sp>
        <p:nvSpPr>
          <p:cNvPr id="21" name="Shape 19"/>
          <p:cNvSpPr/>
          <p:nvPr/>
        </p:nvSpPr>
        <p:spPr>
          <a:xfrm>
            <a:off x="849035" y="5450681"/>
            <a:ext cx="12932331" cy="726281"/>
          </a:xfrm>
          <a:prstGeom prst="rect">
            <a:avLst/>
          </a:prstGeom>
          <a:solidFill>
            <a:srgbClr val="000000">
              <a:alpha val="4000"/>
            </a:srgbClr>
          </a:solidFill>
          <a:ln/>
        </p:spPr>
        <p:txBody>
          <a:bodyPr/>
          <a:lstStyle/>
          <a:p>
            <a:endParaRPr lang="en-US"/>
          </a:p>
        </p:txBody>
      </p:sp>
      <p:sp>
        <p:nvSpPr>
          <p:cNvPr id="22" name="Text 20"/>
          <p:cNvSpPr/>
          <p:nvPr/>
        </p:nvSpPr>
        <p:spPr>
          <a:xfrm>
            <a:off x="985957" y="5540335"/>
            <a:ext cx="1015960" cy="273487"/>
          </a:xfrm>
          <a:prstGeom prst="rect">
            <a:avLst/>
          </a:prstGeom>
          <a:noFill/>
          <a:ln/>
        </p:spPr>
        <p:txBody>
          <a:bodyPr wrap="non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Support</a:t>
            </a:r>
            <a:endParaRPr lang="en-US" sz="1300" dirty="0"/>
          </a:p>
        </p:txBody>
      </p:sp>
      <p:sp>
        <p:nvSpPr>
          <p:cNvPr id="23" name="Text 21"/>
          <p:cNvSpPr/>
          <p:nvPr/>
        </p:nvSpPr>
        <p:spPr>
          <a:xfrm>
            <a:off x="2282904" y="5540335"/>
            <a:ext cx="5344478" cy="546973"/>
          </a:xfrm>
          <a:prstGeom prst="rect">
            <a:avLst/>
          </a:prstGeom>
          <a:noFill/>
          <a:ln/>
        </p:spPr>
        <p:txBody>
          <a:bodyPr wrap="squar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“AI-driven call-center solutions can cut operational costs by about 40%” (</a:t>
            </a:r>
            <a:r>
              <a:rPr lang="en-US" sz="1300" u="sng" dirty="0">
                <a:solidFill>
                  <a:srgbClr val="FFE14D"/>
                </a:solidFill>
                <a:latin typeface="Raleway Medium" pitchFamily="34" charset="0"/>
                <a:ea typeface="Raleway Medium" pitchFamily="34" charset="-122"/>
                <a:cs typeface="Raleway Medium" pitchFamily="34" charset="-120"/>
                <a:hlinkClick r:id="rId5">
                  <a:extLst>
                    <a:ext uri="{A12FA001-AC4F-418D-AE19-62706E023703}">
                      <ahyp:hlinkClr xmlns:ahyp="http://schemas.microsoft.com/office/drawing/2018/hyperlinkcolor" val="tx"/>
                    </a:ext>
                  </a:extLst>
                </a:hlinkClick>
              </a:rPr>
              <a:t>San Francisco Chronicle</a:t>
            </a:r>
            <a:r>
              <a:rPr lang="en-US" sz="1300" dirty="0">
                <a:solidFill>
                  <a:srgbClr val="D7D4CC"/>
                </a:solidFill>
                <a:latin typeface="Raleway Medium" pitchFamily="34" charset="0"/>
                <a:ea typeface="Raleway Medium" pitchFamily="34" charset="-122"/>
                <a:cs typeface="Raleway Medium" pitchFamily="34" charset="-120"/>
              </a:rPr>
              <a:t>)</a:t>
            </a:r>
            <a:endParaRPr lang="en-US" sz="1300" dirty="0"/>
          </a:p>
        </p:txBody>
      </p:sp>
      <p:sp>
        <p:nvSpPr>
          <p:cNvPr id="24" name="Text 22"/>
          <p:cNvSpPr/>
          <p:nvPr/>
        </p:nvSpPr>
        <p:spPr>
          <a:xfrm>
            <a:off x="7908369" y="5540335"/>
            <a:ext cx="5736312" cy="273487"/>
          </a:xfrm>
          <a:prstGeom prst="rect">
            <a:avLst/>
          </a:prstGeom>
          <a:noFill/>
          <a:ln/>
        </p:spPr>
        <p:txBody>
          <a:bodyPr wrap="non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~8 million support agents</a:t>
            </a:r>
            <a:endParaRPr lang="en-US" sz="1300" dirty="0"/>
          </a:p>
        </p:txBody>
      </p:sp>
      <p:sp>
        <p:nvSpPr>
          <p:cNvPr id="25" name="Shape 23"/>
          <p:cNvSpPr/>
          <p:nvPr/>
        </p:nvSpPr>
        <p:spPr>
          <a:xfrm>
            <a:off x="849035" y="6176963"/>
            <a:ext cx="12932331" cy="726281"/>
          </a:xfrm>
          <a:prstGeom prst="rect">
            <a:avLst/>
          </a:prstGeom>
          <a:solidFill>
            <a:srgbClr val="FFFFFF">
              <a:alpha val="4000"/>
            </a:srgbClr>
          </a:solidFill>
          <a:ln/>
        </p:spPr>
        <p:txBody>
          <a:bodyPr/>
          <a:lstStyle/>
          <a:p>
            <a:endParaRPr lang="en-US"/>
          </a:p>
        </p:txBody>
      </p:sp>
      <p:sp>
        <p:nvSpPr>
          <p:cNvPr id="26" name="Text 24"/>
          <p:cNvSpPr/>
          <p:nvPr/>
        </p:nvSpPr>
        <p:spPr>
          <a:xfrm>
            <a:off x="985957" y="6266617"/>
            <a:ext cx="1015960" cy="273487"/>
          </a:xfrm>
          <a:prstGeom prst="rect">
            <a:avLst/>
          </a:prstGeom>
          <a:noFill/>
          <a:ln/>
        </p:spPr>
        <p:txBody>
          <a:bodyPr wrap="non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Collections</a:t>
            </a:r>
            <a:endParaRPr lang="en-US" sz="1300" dirty="0"/>
          </a:p>
        </p:txBody>
      </p:sp>
      <p:sp>
        <p:nvSpPr>
          <p:cNvPr id="27" name="Text 25"/>
          <p:cNvSpPr/>
          <p:nvPr/>
        </p:nvSpPr>
        <p:spPr>
          <a:xfrm>
            <a:off x="2282904" y="6266617"/>
            <a:ext cx="5344478" cy="546973"/>
          </a:xfrm>
          <a:prstGeom prst="rect">
            <a:avLst/>
          </a:prstGeom>
          <a:noFill/>
          <a:ln/>
        </p:spPr>
        <p:txBody>
          <a:bodyPr wrap="squar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“40% reduction in operational expenses while improving recovery rates by ~10% on average”</a:t>
            </a:r>
            <a:endParaRPr lang="en-US" sz="1300" dirty="0"/>
          </a:p>
        </p:txBody>
      </p:sp>
      <p:sp>
        <p:nvSpPr>
          <p:cNvPr id="28" name="Text 26"/>
          <p:cNvSpPr/>
          <p:nvPr/>
        </p:nvSpPr>
        <p:spPr>
          <a:xfrm>
            <a:off x="7908369" y="6266617"/>
            <a:ext cx="5736312" cy="273487"/>
          </a:xfrm>
          <a:prstGeom prst="rect">
            <a:avLst/>
          </a:prstGeom>
          <a:noFill/>
          <a:ln/>
        </p:spPr>
        <p:txBody>
          <a:bodyPr wrap="none" lIns="0" tIns="0" rIns="0" bIns="0" rtlCol="0" anchor="t"/>
          <a:lstStyle/>
          <a:p>
            <a:pPr marL="0" indent="0" algn="l">
              <a:lnSpc>
                <a:spcPts val="2150"/>
              </a:lnSpc>
              <a:buNone/>
            </a:pPr>
            <a:r>
              <a:rPr lang="en-US" sz="1300" dirty="0">
                <a:solidFill>
                  <a:srgbClr val="D7D4CC"/>
                </a:solidFill>
                <a:latin typeface="Raleway Medium" pitchFamily="34" charset="0"/>
                <a:ea typeface="Raleway Medium" pitchFamily="34" charset="-122"/>
                <a:cs typeface="Raleway Medium" pitchFamily="34" charset="-120"/>
              </a:rPr>
              <a:t>~3 million collections/financial-services agents </a:t>
            </a:r>
            <a:endParaRPr lang="en-US" sz="1300" dirty="0"/>
          </a:p>
        </p:txBody>
      </p:sp>
      <p:sp>
        <p:nvSpPr>
          <p:cNvPr id="29" name="Text 27"/>
          <p:cNvSpPr/>
          <p:nvPr/>
        </p:nvSpPr>
        <p:spPr>
          <a:xfrm>
            <a:off x="841415" y="7064573"/>
            <a:ext cx="12947571" cy="218599"/>
          </a:xfrm>
          <a:prstGeom prst="rect">
            <a:avLst/>
          </a:prstGeom>
          <a:noFill/>
          <a:ln/>
        </p:spPr>
        <p:txBody>
          <a:bodyPr wrap="none" lIns="0" tIns="0" rIns="0" bIns="0" rtlCol="0" anchor="t"/>
          <a:lstStyle/>
          <a:p>
            <a:pPr marL="0" indent="0" algn="l">
              <a:lnSpc>
                <a:spcPts val="1700"/>
              </a:lnSpc>
              <a:buNone/>
            </a:pPr>
            <a:r>
              <a:rPr lang="en-US" sz="1050" dirty="0">
                <a:solidFill>
                  <a:srgbClr val="D7D4CC"/>
                </a:solidFill>
                <a:latin typeface="Raleway Medium" pitchFamily="34" charset="0"/>
                <a:ea typeface="Raleway Medium" pitchFamily="34" charset="-122"/>
                <a:cs typeface="Raleway Medium" pitchFamily="34" charset="-120"/>
              </a:rPr>
              <a:t>Non-voice agents </a:t>
            </a:r>
            <a:endParaRPr lang="en-US" sz="1050" dirty="0"/>
          </a:p>
        </p:txBody>
      </p:sp>
      <p:sp>
        <p:nvSpPr>
          <p:cNvPr id="30" name="Text 28"/>
          <p:cNvSpPr/>
          <p:nvPr/>
        </p:nvSpPr>
        <p:spPr>
          <a:xfrm>
            <a:off x="841415" y="7436882"/>
            <a:ext cx="12947571" cy="218599"/>
          </a:xfrm>
          <a:prstGeom prst="rect">
            <a:avLst/>
          </a:prstGeom>
          <a:noFill/>
          <a:ln/>
        </p:spPr>
        <p:txBody>
          <a:bodyPr wrap="none" lIns="0" tIns="0" rIns="0" bIns="0" rtlCol="0" anchor="t"/>
          <a:lstStyle/>
          <a:p>
            <a:pPr marL="0" indent="0" algn="l">
              <a:lnSpc>
                <a:spcPts val="1700"/>
              </a:lnSpc>
              <a:buNone/>
            </a:pP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81063" y="792599"/>
            <a:ext cx="12061269" cy="391478"/>
          </a:xfrm>
          <a:prstGeom prst="rect">
            <a:avLst/>
          </a:prstGeom>
          <a:noFill/>
          <a:ln/>
        </p:spPr>
        <p:txBody>
          <a:bodyPr wrap="none" lIns="0" tIns="0" rIns="0" bIns="0" rtlCol="0" anchor="t"/>
          <a:lstStyle/>
          <a:p>
            <a:pPr marL="0" indent="0" algn="l">
              <a:lnSpc>
                <a:spcPts val="3050"/>
              </a:lnSpc>
              <a:buNone/>
            </a:pPr>
            <a:r>
              <a:rPr lang="en-US" sz="2400" b="1" dirty="0">
                <a:solidFill>
                  <a:srgbClr val="FFE14D"/>
                </a:solidFill>
                <a:latin typeface="Aptos Display" panose="020B0004020202020204" pitchFamily="34" charset="0"/>
                <a:ea typeface="Comfortaa Bold" pitchFamily="34" charset="-122"/>
                <a:cs typeface="Comfortaa Bold" pitchFamily="34" charset="-120"/>
              </a:rPr>
              <a:t>Short-Term vs Long-Term Evolution: Voice Agents vs Agentic (Non-Voice) AI</a:t>
            </a:r>
            <a:endParaRPr lang="en-US" sz="2400" dirty="0">
              <a:latin typeface="Aptos Display" panose="020B0004020202020204" pitchFamily="34" charset="0"/>
            </a:endParaRPr>
          </a:p>
        </p:txBody>
      </p:sp>
      <p:sp>
        <p:nvSpPr>
          <p:cNvPr id="3" name="Text 1"/>
          <p:cNvSpPr/>
          <p:nvPr/>
        </p:nvSpPr>
        <p:spPr>
          <a:xfrm>
            <a:off x="881063" y="1624608"/>
            <a:ext cx="2653665" cy="293727"/>
          </a:xfrm>
          <a:prstGeom prst="rect">
            <a:avLst/>
          </a:prstGeom>
          <a:noFill/>
          <a:ln/>
        </p:spPr>
        <p:txBody>
          <a:bodyPr wrap="none" lIns="0" tIns="0" rIns="0" bIns="0" rtlCol="0" anchor="t"/>
          <a:lstStyle/>
          <a:p>
            <a:pPr marL="0" indent="0" algn="l">
              <a:lnSpc>
                <a:spcPts val="2300"/>
              </a:lnSpc>
              <a:buNone/>
            </a:pPr>
            <a:r>
              <a:rPr lang="en-US" sz="1600" b="1" dirty="0">
                <a:solidFill>
                  <a:srgbClr val="FFE14D"/>
                </a:solidFill>
                <a:latin typeface="Aptos Display" panose="020B0004020202020204" pitchFamily="34" charset="0"/>
                <a:ea typeface="Comfortaa Bold" pitchFamily="34" charset="-122"/>
                <a:cs typeface="Comfortaa Bold" pitchFamily="34" charset="-120"/>
              </a:rPr>
              <a:t>Short Term (0–2 Years)</a:t>
            </a:r>
            <a:endParaRPr lang="en-US" sz="1600" dirty="0">
              <a:latin typeface="Aptos Display" panose="020B0004020202020204" pitchFamily="34" charset="0"/>
            </a:endParaRPr>
          </a:p>
        </p:txBody>
      </p:sp>
      <p:sp>
        <p:nvSpPr>
          <p:cNvPr id="4" name="Text 2"/>
          <p:cNvSpPr/>
          <p:nvPr/>
        </p:nvSpPr>
        <p:spPr>
          <a:xfrm>
            <a:off x="881063" y="1988820"/>
            <a:ext cx="1958102" cy="244793"/>
          </a:xfrm>
          <a:prstGeom prst="rect">
            <a:avLst/>
          </a:prstGeom>
          <a:noFill/>
          <a:ln/>
        </p:spPr>
        <p:txBody>
          <a:bodyPr wrap="none" lIns="0" tIns="0" rIns="0" bIns="0" rtlCol="0" anchor="t"/>
          <a:lstStyle/>
          <a:p>
            <a:pPr marL="0" indent="0" algn="l">
              <a:lnSpc>
                <a:spcPts val="1900"/>
              </a:lnSpc>
              <a:buNone/>
            </a:pPr>
            <a:r>
              <a:rPr lang="en-US" sz="1600" b="1" dirty="0">
                <a:solidFill>
                  <a:srgbClr val="FFE14D"/>
                </a:solidFill>
                <a:latin typeface="Aptos Display" panose="020B0004020202020204" pitchFamily="34" charset="0"/>
                <a:ea typeface="Comfortaa Bold" pitchFamily="34" charset="-122"/>
                <a:cs typeface="Comfortaa Bold" pitchFamily="34" charset="-120"/>
              </a:rPr>
              <a:t>Voice Agents</a:t>
            </a:r>
            <a:endParaRPr lang="en-US" sz="1600" dirty="0">
              <a:latin typeface="Aptos Display" panose="020B0004020202020204" pitchFamily="34" charset="0"/>
            </a:endParaRPr>
          </a:p>
        </p:txBody>
      </p:sp>
      <p:sp>
        <p:nvSpPr>
          <p:cNvPr id="5" name="Text 3"/>
          <p:cNvSpPr/>
          <p:nvPr/>
        </p:nvSpPr>
        <p:spPr>
          <a:xfrm>
            <a:off x="881063" y="2409825"/>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Rapid adoption in sales, support, renewals.</a:t>
            </a:r>
            <a:endParaRPr lang="en-US" sz="1600" dirty="0">
              <a:latin typeface="Aptos Display" panose="020B0004020202020204" pitchFamily="34" charset="0"/>
            </a:endParaRPr>
          </a:p>
        </p:txBody>
      </p:sp>
      <p:sp>
        <p:nvSpPr>
          <p:cNvPr id="6" name="Text 4"/>
          <p:cNvSpPr/>
          <p:nvPr/>
        </p:nvSpPr>
        <p:spPr>
          <a:xfrm>
            <a:off x="881063" y="2753439"/>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Cost savings: up to </a:t>
            </a:r>
            <a:r>
              <a:rPr lang="en-US" sz="1600" b="1" dirty="0">
                <a:solidFill>
                  <a:srgbClr val="D7D4CC"/>
                </a:solidFill>
                <a:latin typeface="Aptos Display" panose="020B0004020202020204" pitchFamily="34" charset="0"/>
                <a:ea typeface="Raleway Medium" pitchFamily="34" charset="-122"/>
                <a:cs typeface="Raleway Medium" pitchFamily="34" charset="-120"/>
              </a:rPr>
              <a:t>40–60% reduction</a:t>
            </a:r>
            <a:r>
              <a:rPr lang="en-US" sz="1600" dirty="0">
                <a:solidFill>
                  <a:srgbClr val="D7D4CC"/>
                </a:solidFill>
                <a:latin typeface="Aptos Display" panose="020B0004020202020204" pitchFamily="34" charset="0"/>
                <a:ea typeface="Raleway Medium" pitchFamily="34" charset="-122"/>
                <a:cs typeface="Raleway Medium" pitchFamily="34" charset="-120"/>
              </a:rPr>
              <a:t> in acquisition costs.</a:t>
            </a:r>
            <a:endParaRPr lang="en-US" sz="1600" dirty="0">
              <a:latin typeface="Aptos Display" panose="020B0004020202020204" pitchFamily="34" charset="0"/>
            </a:endParaRPr>
          </a:p>
        </p:txBody>
      </p:sp>
      <p:sp>
        <p:nvSpPr>
          <p:cNvPr id="7" name="Text 5"/>
          <p:cNvSpPr/>
          <p:nvPr/>
        </p:nvSpPr>
        <p:spPr>
          <a:xfrm>
            <a:off x="881063" y="3097054"/>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Pricing pressure due to commoditization of speech models.</a:t>
            </a:r>
            <a:endParaRPr lang="en-US" sz="1600" dirty="0">
              <a:latin typeface="Aptos Display" panose="020B0004020202020204" pitchFamily="34" charset="0"/>
            </a:endParaRPr>
          </a:p>
        </p:txBody>
      </p:sp>
      <p:sp>
        <p:nvSpPr>
          <p:cNvPr id="8" name="Text 6"/>
          <p:cNvSpPr/>
          <p:nvPr/>
        </p:nvSpPr>
        <p:spPr>
          <a:xfrm>
            <a:off x="881063" y="3440668"/>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Heavy competition from CCaaS vendors &amp; GenAI startups.</a:t>
            </a:r>
            <a:endParaRPr lang="en-US" sz="1600" dirty="0">
              <a:latin typeface="Aptos Display" panose="020B0004020202020204" pitchFamily="34" charset="0"/>
            </a:endParaRPr>
          </a:p>
        </p:txBody>
      </p:sp>
      <p:sp>
        <p:nvSpPr>
          <p:cNvPr id="9" name="Text 7"/>
          <p:cNvSpPr/>
          <p:nvPr/>
        </p:nvSpPr>
        <p:spPr>
          <a:xfrm>
            <a:off x="881063" y="3898821"/>
            <a:ext cx="3269456" cy="244793"/>
          </a:xfrm>
          <a:prstGeom prst="rect">
            <a:avLst/>
          </a:prstGeom>
          <a:noFill/>
          <a:ln/>
        </p:spPr>
        <p:txBody>
          <a:bodyPr wrap="none" lIns="0" tIns="0" rIns="0" bIns="0" rtlCol="0" anchor="t"/>
          <a:lstStyle/>
          <a:p>
            <a:pPr marL="0" indent="0" algn="l">
              <a:lnSpc>
                <a:spcPts val="1900"/>
              </a:lnSpc>
              <a:buNone/>
            </a:pPr>
            <a:r>
              <a:rPr lang="en-US" sz="1600" b="1" dirty="0">
                <a:solidFill>
                  <a:srgbClr val="FFE14D"/>
                </a:solidFill>
                <a:latin typeface="Aptos Display" panose="020B0004020202020204" pitchFamily="34" charset="0"/>
                <a:ea typeface="Comfortaa Bold" pitchFamily="34" charset="-122"/>
                <a:cs typeface="Comfortaa Bold" pitchFamily="34" charset="-120"/>
              </a:rPr>
              <a:t>Agentic Workflow/Back-Office AI</a:t>
            </a:r>
            <a:endParaRPr lang="en-US" sz="1600" dirty="0">
              <a:latin typeface="Aptos Display" panose="020B0004020202020204" pitchFamily="34" charset="0"/>
            </a:endParaRPr>
          </a:p>
        </p:txBody>
      </p:sp>
      <p:sp>
        <p:nvSpPr>
          <p:cNvPr id="10" name="Text 8"/>
          <p:cNvSpPr/>
          <p:nvPr/>
        </p:nvSpPr>
        <p:spPr>
          <a:xfrm>
            <a:off x="881063" y="4319826"/>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Slower buying cycle (integration-heavy).</a:t>
            </a:r>
            <a:endParaRPr lang="en-US" sz="1600" dirty="0">
              <a:latin typeface="Aptos Display" panose="020B0004020202020204" pitchFamily="34" charset="0"/>
            </a:endParaRPr>
          </a:p>
        </p:txBody>
      </p:sp>
      <p:sp>
        <p:nvSpPr>
          <p:cNvPr id="11" name="Text 9"/>
          <p:cNvSpPr/>
          <p:nvPr/>
        </p:nvSpPr>
        <p:spPr>
          <a:xfrm>
            <a:off x="881063" y="4663440"/>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Larger value pool ($2–4T in back-office workflows).</a:t>
            </a:r>
            <a:endParaRPr lang="en-US" sz="1600" dirty="0">
              <a:latin typeface="Aptos Display" panose="020B0004020202020204" pitchFamily="34" charset="0"/>
            </a:endParaRPr>
          </a:p>
        </p:txBody>
      </p:sp>
      <p:sp>
        <p:nvSpPr>
          <p:cNvPr id="12" name="Text 10"/>
          <p:cNvSpPr/>
          <p:nvPr/>
        </p:nvSpPr>
        <p:spPr>
          <a:xfrm>
            <a:off x="881063" y="5007054"/>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Multi-system automation, beyond interaction gains.</a:t>
            </a:r>
            <a:endParaRPr lang="en-US" sz="1600" dirty="0">
              <a:latin typeface="Aptos Display" panose="020B0004020202020204" pitchFamily="34" charset="0"/>
            </a:endParaRPr>
          </a:p>
        </p:txBody>
      </p:sp>
      <p:sp>
        <p:nvSpPr>
          <p:cNvPr id="13" name="Text 11"/>
          <p:cNvSpPr/>
          <p:nvPr/>
        </p:nvSpPr>
        <p:spPr>
          <a:xfrm>
            <a:off x="881063" y="5350669"/>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Competitive edge in enterprise integration, not UX.</a:t>
            </a:r>
            <a:endParaRPr lang="en-US" sz="1600" dirty="0">
              <a:latin typeface="Aptos Display" panose="020B0004020202020204" pitchFamily="34" charset="0"/>
            </a:endParaRPr>
          </a:p>
        </p:txBody>
      </p:sp>
      <p:sp>
        <p:nvSpPr>
          <p:cNvPr id="14" name="Text 12"/>
          <p:cNvSpPr/>
          <p:nvPr/>
        </p:nvSpPr>
        <p:spPr>
          <a:xfrm>
            <a:off x="7537728" y="1624608"/>
            <a:ext cx="2699385" cy="293727"/>
          </a:xfrm>
          <a:prstGeom prst="rect">
            <a:avLst/>
          </a:prstGeom>
          <a:noFill/>
          <a:ln/>
        </p:spPr>
        <p:txBody>
          <a:bodyPr wrap="none" lIns="0" tIns="0" rIns="0" bIns="0" rtlCol="0" anchor="t"/>
          <a:lstStyle/>
          <a:p>
            <a:pPr marL="0" indent="0" algn="l">
              <a:lnSpc>
                <a:spcPts val="2300"/>
              </a:lnSpc>
              <a:buNone/>
            </a:pPr>
            <a:r>
              <a:rPr lang="en-US" sz="1600" b="1" dirty="0">
                <a:solidFill>
                  <a:srgbClr val="FFE14D"/>
                </a:solidFill>
                <a:latin typeface="Aptos Display" panose="020B0004020202020204" pitchFamily="34" charset="0"/>
                <a:ea typeface="Comfortaa Bold" pitchFamily="34" charset="-122"/>
                <a:cs typeface="Comfortaa Bold" pitchFamily="34" charset="-120"/>
              </a:rPr>
              <a:t>Long Term (3–10 Years)</a:t>
            </a:r>
            <a:endParaRPr lang="en-US" sz="1600" dirty="0">
              <a:latin typeface="Aptos Display" panose="020B0004020202020204" pitchFamily="34" charset="0"/>
            </a:endParaRPr>
          </a:p>
        </p:txBody>
      </p:sp>
      <p:sp>
        <p:nvSpPr>
          <p:cNvPr id="15" name="Text 13"/>
          <p:cNvSpPr/>
          <p:nvPr/>
        </p:nvSpPr>
        <p:spPr>
          <a:xfrm>
            <a:off x="7537728" y="1988820"/>
            <a:ext cx="1958102" cy="244793"/>
          </a:xfrm>
          <a:prstGeom prst="rect">
            <a:avLst/>
          </a:prstGeom>
          <a:noFill/>
          <a:ln/>
        </p:spPr>
        <p:txBody>
          <a:bodyPr wrap="none" lIns="0" tIns="0" rIns="0" bIns="0" rtlCol="0" anchor="t"/>
          <a:lstStyle/>
          <a:p>
            <a:pPr marL="0" indent="0" algn="l">
              <a:lnSpc>
                <a:spcPts val="1900"/>
              </a:lnSpc>
              <a:buNone/>
            </a:pPr>
            <a:r>
              <a:rPr lang="en-US" sz="1600" b="1" dirty="0">
                <a:solidFill>
                  <a:srgbClr val="FFE14D"/>
                </a:solidFill>
                <a:latin typeface="Aptos Display" panose="020B0004020202020204" pitchFamily="34" charset="0"/>
                <a:ea typeface="Comfortaa Bold" pitchFamily="34" charset="-122"/>
                <a:cs typeface="Comfortaa Bold" pitchFamily="34" charset="-120"/>
              </a:rPr>
              <a:t>Voice Agents</a:t>
            </a:r>
            <a:endParaRPr lang="en-US" sz="1600" dirty="0">
              <a:latin typeface="Aptos Display" panose="020B0004020202020204" pitchFamily="34" charset="0"/>
            </a:endParaRPr>
          </a:p>
        </p:txBody>
      </p:sp>
      <p:sp>
        <p:nvSpPr>
          <p:cNvPr id="16" name="Text 14"/>
          <p:cNvSpPr/>
          <p:nvPr/>
        </p:nvSpPr>
        <p:spPr>
          <a:xfrm>
            <a:off x="7537728" y="2409825"/>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Mature into multimodal interaction layers (voice + text + screen).</a:t>
            </a:r>
            <a:endParaRPr lang="en-US" sz="1600" dirty="0">
              <a:latin typeface="Aptos Display" panose="020B0004020202020204" pitchFamily="34" charset="0"/>
            </a:endParaRPr>
          </a:p>
        </p:txBody>
      </p:sp>
      <p:sp>
        <p:nvSpPr>
          <p:cNvPr id="17" name="Text 15"/>
          <p:cNvSpPr/>
          <p:nvPr/>
        </p:nvSpPr>
        <p:spPr>
          <a:xfrm>
            <a:off x="7537728" y="2753439"/>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Risk of "race to the bottom" without proprietary data/expertise.</a:t>
            </a:r>
            <a:endParaRPr lang="en-US" sz="1600" dirty="0">
              <a:latin typeface="Aptos Display" panose="020B0004020202020204" pitchFamily="34" charset="0"/>
            </a:endParaRPr>
          </a:p>
        </p:txBody>
      </p:sp>
      <p:sp>
        <p:nvSpPr>
          <p:cNvPr id="18" name="Text 16"/>
          <p:cNvSpPr/>
          <p:nvPr/>
        </p:nvSpPr>
        <p:spPr>
          <a:xfrm>
            <a:off x="7537728" y="3097054"/>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Becomes a </a:t>
            </a:r>
            <a:r>
              <a:rPr lang="en-US" sz="1600" b="1" dirty="0">
                <a:solidFill>
                  <a:srgbClr val="D7D4CC"/>
                </a:solidFill>
                <a:latin typeface="Aptos Display" panose="020B0004020202020204" pitchFamily="34" charset="0"/>
                <a:ea typeface="Raleway Medium" pitchFamily="34" charset="-122"/>
                <a:cs typeface="Raleway Medium" pitchFamily="34" charset="-120"/>
              </a:rPr>
              <a:t>front-end channel</a:t>
            </a:r>
            <a:r>
              <a:rPr lang="en-US" sz="1600" dirty="0">
                <a:solidFill>
                  <a:srgbClr val="D7D4CC"/>
                </a:solidFill>
                <a:latin typeface="Aptos Display" panose="020B0004020202020204" pitchFamily="34" charset="0"/>
                <a:ea typeface="Raleway Medium" pitchFamily="34" charset="-122"/>
                <a:cs typeface="Raleway Medium" pitchFamily="34" charset="-120"/>
              </a:rPr>
              <a:t> for wider agent ecosystems.</a:t>
            </a:r>
            <a:endParaRPr lang="en-US" sz="1600" dirty="0">
              <a:latin typeface="Aptos Display" panose="020B0004020202020204" pitchFamily="34" charset="0"/>
            </a:endParaRPr>
          </a:p>
        </p:txBody>
      </p:sp>
      <p:sp>
        <p:nvSpPr>
          <p:cNvPr id="19" name="Text 17"/>
          <p:cNvSpPr/>
          <p:nvPr/>
        </p:nvSpPr>
        <p:spPr>
          <a:xfrm>
            <a:off x="7537728" y="3555206"/>
            <a:ext cx="1982153" cy="244793"/>
          </a:xfrm>
          <a:prstGeom prst="rect">
            <a:avLst/>
          </a:prstGeom>
          <a:noFill/>
          <a:ln/>
        </p:spPr>
        <p:txBody>
          <a:bodyPr wrap="none" lIns="0" tIns="0" rIns="0" bIns="0" rtlCol="0" anchor="t"/>
          <a:lstStyle/>
          <a:p>
            <a:pPr marL="0" indent="0" algn="l">
              <a:lnSpc>
                <a:spcPts val="1900"/>
              </a:lnSpc>
              <a:buNone/>
            </a:pPr>
            <a:r>
              <a:rPr lang="en-US" sz="1600" b="1" dirty="0">
                <a:solidFill>
                  <a:srgbClr val="FFE14D"/>
                </a:solidFill>
                <a:latin typeface="Aptos Display" panose="020B0004020202020204" pitchFamily="34" charset="0"/>
                <a:ea typeface="Comfortaa Bold" pitchFamily="34" charset="-122"/>
                <a:cs typeface="Comfortaa Bold" pitchFamily="34" charset="-120"/>
              </a:rPr>
              <a:t>Agentic Workflow AI</a:t>
            </a:r>
            <a:endParaRPr lang="en-US" sz="1600" dirty="0">
              <a:latin typeface="Aptos Display" panose="020B0004020202020204" pitchFamily="34" charset="0"/>
            </a:endParaRPr>
          </a:p>
        </p:txBody>
      </p:sp>
      <p:sp>
        <p:nvSpPr>
          <p:cNvPr id="20" name="Text 18"/>
          <p:cNvSpPr/>
          <p:nvPr/>
        </p:nvSpPr>
        <p:spPr>
          <a:xfrm>
            <a:off x="7537728" y="3976211"/>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Evolves into an </a:t>
            </a:r>
            <a:r>
              <a:rPr lang="en-US" sz="1600" b="1" dirty="0">
                <a:solidFill>
                  <a:srgbClr val="D7D4CC"/>
                </a:solidFill>
                <a:latin typeface="Aptos Display" panose="020B0004020202020204" pitchFamily="34" charset="0"/>
                <a:ea typeface="Raleway Medium" pitchFamily="34" charset="-122"/>
                <a:cs typeface="Raleway Medium" pitchFamily="34" charset="-120"/>
              </a:rPr>
              <a:t>"enterprise execution layer"</a:t>
            </a:r>
            <a:r>
              <a:rPr lang="en-US" sz="1600" dirty="0">
                <a:solidFill>
                  <a:srgbClr val="D7D4CC"/>
                </a:solidFill>
                <a:latin typeface="Aptos Display" panose="020B0004020202020204" pitchFamily="34" charset="0"/>
                <a:ea typeface="Raleway Medium" pitchFamily="34" charset="-122"/>
                <a:cs typeface="Raleway Medium" pitchFamily="34" charset="-120"/>
              </a:rPr>
              <a:t>.</a:t>
            </a:r>
            <a:endParaRPr lang="en-US" sz="1600" dirty="0">
              <a:latin typeface="Aptos Display" panose="020B0004020202020204" pitchFamily="34" charset="0"/>
            </a:endParaRPr>
          </a:p>
        </p:txBody>
      </p:sp>
      <p:sp>
        <p:nvSpPr>
          <p:cNvPr id="21" name="Text 19"/>
          <p:cNvSpPr/>
          <p:nvPr/>
        </p:nvSpPr>
        <p:spPr>
          <a:xfrm>
            <a:off x="7537728" y="4319826"/>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Performs reasoning, planning, and multi-step actions autonomously.</a:t>
            </a:r>
            <a:endParaRPr lang="en-US" sz="1600" dirty="0">
              <a:latin typeface="Aptos Display" panose="020B0004020202020204" pitchFamily="34" charset="0"/>
            </a:endParaRPr>
          </a:p>
        </p:txBody>
      </p:sp>
      <p:sp>
        <p:nvSpPr>
          <p:cNvPr id="22" name="Text 20"/>
          <p:cNvSpPr/>
          <p:nvPr/>
        </p:nvSpPr>
        <p:spPr>
          <a:xfrm>
            <a:off x="7537728" y="4663440"/>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High defensibility &amp; switching costs once embedded in ERP/CRM/IT.</a:t>
            </a:r>
            <a:endParaRPr lang="en-US" sz="1600" dirty="0">
              <a:latin typeface="Aptos Display" panose="020B0004020202020204" pitchFamily="34" charset="0"/>
            </a:endParaRPr>
          </a:p>
        </p:txBody>
      </p:sp>
      <p:sp>
        <p:nvSpPr>
          <p:cNvPr id="23" name="Text 21"/>
          <p:cNvSpPr/>
          <p:nvPr/>
        </p:nvSpPr>
        <p:spPr>
          <a:xfrm>
            <a:off x="7537728" y="5007054"/>
            <a:ext cx="6219230"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Scales by complexity, not call volume.</a:t>
            </a:r>
            <a:endParaRPr lang="en-US" sz="1600" dirty="0">
              <a:latin typeface="Aptos Display" panose="020B0004020202020204" pitchFamily="34" charset="0"/>
            </a:endParaRPr>
          </a:p>
        </p:txBody>
      </p:sp>
      <p:sp>
        <p:nvSpPr>
          <p:cNvPr id="24" name="Text 22"/>
          <p:cNvSpPr/>
          <p:nvPr/>
        </p:nvSpPr>
        <p:spPr>
          <a:xfrm>
            <a:off x="881063" y="5958602"/>
            <a:ext cx="1958102" cy="244793"/>
          </a:xfrm>
          <a:prstGeom prst="rect">
            <a:avLst/>
          </a:prstGeom>
          <a:noFill/>
          <a:ln/>
        </p:spPr>
        <p:txBody>
          <a:bodyPr wrap="none" lIns="0" tIns="0" rIns="0" bIns="0" rtlCol="0" anchor="t"/>
          <a:lstStyle/>
          <a:p>
            <a:pPr marL="0" indent="0" algn="l">
              <a:lnSpc>
                <a:spcPts val="1900"/>
              </a:lnSpc>
              <a:buNone/>
            </a:pPr>
            <a:r>
              <a:rPr lang="en-US" sz="1600" b="1" dirty="0">
                <a:solidFill>
                  <a:srgbClr val="FFE14D"/>
                </a:solidFill>
                <a:latin typeface="Aptos Display" panose="020B0004020202020204" pitchFamily="34" charset="0"/>
                <a:ea typeface="Comfortaa Bold" pitchFamily="34" charset="-122"/>
                <a:cs typeface="Comfortaa Bold" pitchFamily="34" charset="-120"/>
              </a:rPr>
              <a:t>Bottom Line</a:t>
            </a:r>
            <a:endParaRPr lang="en-US" sz="1600" dirty="0">
              <a:latin typeface="Aptos Display" panose="020B0004020202020204" pitchFamily="34" charset="0"/>
            </a:endParaRPr>
          </a:p>
        </p:txBody>
      </p:sp>
      <p:sp>
        <p:nvSpPr>
          <p:cNvPr id="25" name="Text 23"/>
          <p:cNvSpPr/>
          <p:nvPr/>
        </p:nvSpPr>
        <p:spPr>
          <a:xfrm>
            <a:off x="881063" y="6467713"/>
            <a:ext cx="12868275" cy="281940"/>
          </a:xfrm>
          <a:prstGeom prst="rect">
            <a:avLst/>
          </a:prstGeom>
          <a:noFill/>
          <a:ln/>
        </p:spPr>
        <p:txBody>
          <a:bodyPr wrap="none" lIns="0" tIns="0" rIns="0" bIns="0" rtlCol="0" anchor="t"/>
          <a:lstStyle/>
          <a:p>
            <a:pPr marL="342900" indent="-342900" algn="l">
              <a:lnSpc>
                <a:spcPts val="2200"/>
              </a:lnSpc>
              <a:buSzPct val="100000"/>
              <a:buChar char="•"/>
            </a:pPr>
            <a:r>
              <a:rPr lang="en-US" sz="1600" b="1" dirty="0">
                <a:solidFill>
                  <a:srgbClr val="D7D4CC"/>
                </a:solidFill>
                <a:latin typeface="Aptos Display" panose="020B0004020202020204" pitchFamily="34" charset="0"/>
                <a:ea typeface="Raleway Medium" pitchFamily="34" charset="-122"/>
                <a:cs typeface="Raleway Medium" pitchFamily="34" charset="-120"/>
              </a:rPr>
              <a:t>Voice AI</a:t>
            </a:r>
            <a:r>
              <a:rPr lang="en-US" sz="1600" dirty="0">
                <a:solidFill>
                  <a:srgbClr val="D7D4CC"/>
                </a:solidFill>
                <a:latin typeface="Aptos Display" panose="020B0004020202020204" pitchFamily="34" charset="0"/>
                <a:ea typeface="Raleway Medium" pitchFamily="34" charset="-122"/>
                <a:cs typeface="Raleway Medium" pitchFamily="34" charset="-120"/>
              </a:rPr>
              <a:t> = fast time-to-value in customer-facing workflows.</a:t>
            </a:r>
            <a:endParaRPr lang="en-US" sz="1600" dirty="0">
              <a:latin typeface="Aptos Display" panose="020B0004020202020204" pitchFamily="34" charset="0"/>
            </a:endParaRPr>
          </a:p>
        </p:txBody>
      </p:sp>
      <p:sp>
        <p:nvSpPr>
          <p:cNvPr id="26" name="Text 24"/>
          <p:cNvSpPr/>
          <p:nvPr/>
        </p:nvSpPr>
        <p:spPr>
          <a:xfrm>
            <a:off x="881063" y="6811328"/>
            <a:ext cx="12868275" cy="281940"/>
          </a:xfrm>
          <a:prstGeom prst="rect">
            <a:avLst/>
          </a:prstGeom>
          <a:noFill/>
          <a:ln/>
        </p:spPr>
        <p:txBody>
          <a:bodyPr wrap="none" lIns="0" tIns="0" rIns="0" bIns="0" rtlCol="0" anchor="t"/>
          <a:lstStyle/>
          <a:p>
            <a:pPr marL="342900" indent="-342900" algn="l">
              <a:lnSpc>
                <a:spcPts val="2200"/>
              </a:lnSpc>
              <a:buSzPct val="100000"/>
              <a:buChar char="•"/>
            </a:pPr>
            <a:r>
              <a:rPr lang="en-US" sz="1600" b="1" dirty="0">
                <a:solidFill>
                  <a:srgbClr val="D7D4CC"/>
                </a:solidFill>
                <a:latin typeface="Aptos Display" panose="020B0004020202020204" pitchFamily="34" charset="0"/>
                <a:ea typeface="Raleway Medium" pitchFamily="34" charset="-122"/>
                <a:cs typeface="Raleway Medium" pitchFamily="34" charset="-120"/>
              </a:rPr>
              <a:t>Agentic workflow AI</a:t>
            </a:r>
            <a:r>
              <a:rPr lang="en-US" sz="1600" dirty="0">
                <a:solidFill>
                  <a:srgbClr val="D7D4CC"/>
                </a:solidFill>
                <a:latin typeface="Aptos Display" panose="020B0004020202020204" pitchFamily="34" charset="0"/>
                <a:ea typeface="Raleway Medium" pitchFamily="34" charset="-122"/>
                <a:cs typeface="Raleway Medium" pitchFamily="34" charset="-120"/>
              </a:rPr>
              <a:t> = deeper, more durable value across functions (finance, ops, HR, logistics).</a:t>
            </a:r>
            <a:endParaRPr lang="en-US" sz="1600" dirty="0">
              <a:latin typeface="Aptos Display" panose="020B0004020202020204" pitchFamily="34" charset="0"/>
            </a:endParaRPr>
          </a:p>
        </p:txBody>
      </p:sp>
      <p:sp>
        <p:nvSpPr>
          <p:cNvPr id="27" name="Text 25"/>
          <p:cNvSpPr/>
          <p:nvPr/>
        </p:nvSpPr>
        <p:spPr>
          <a:xfrm>
            <a:off x="881063" y="7154942"/>
            <a:ext cx="12868275" cy="281940"/>
          </a:xfrm>
          <a:prstGeom prst="rect">
            <a:avLst/>
          </a:prstGeom>
          <a:noFill/>
          <a:ln/>
        </p:spPr>
        <p:txBody>
          <a:bodyPr wrap="none" lIns="0" tIns="0" rIns="0" bIns="0" rtlCol="0" anchor="t"/>
          <a:lstStyle/>
          <a:p>
            <a:pPr marL="342900" indent="-342900" algn="l">
              <a:lnSpc>
                <a:spcPts val="2200"/>
              </a:lnSpc>
              <a:buSzPct val="100000"/>
              <a:buChar char="•"/>
            </a:pPr>
            <a:r>
              <a:rPr lang="en-US" sz="1600" dirty="0">
                <a:solidFill>
                  <a:srgbClr val="D7D4CC"/>
                </a:solidFill>
                <a:latin typeface="Aptos Display" panose="020B0004020202020204" pitchFamily="34" charset="0"/>
                <a:ea typeface="Raleway Medium" pitchFamily="34" charset="-122"/>
                <a:cs typeface="Raleway Medium" pitchFamily="34" charset="-120"/>
              </a:rPr>
              <a:t>Both will coexist: one at the edge (users), one at the core (systems).</a:t>
            </a:r>
            <a:endParaRPr lang="en-US" sz="1600" dirty="0">
              <a:latin typeface="Aptos Display"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81063" y="779264"/>
            <a:ext cx="4302562" cy="416123"/>
          </a:xfrm>
          <a:prstGeom prst="rect">
            <a:avLst/>
          </a:prstGeom>
          <a:noFill/>
          <a:ln/>
        </p:spPr>
        <p:txBody>
          <a:bodyPr wrap="none" lIns="0" tIns="0" rIns="0" bIns="0" rtlCol="0" anchor="t"/>
          <a:lstStyle/>
          <a:p>
            <a:pPr marL="0" indent="0" algn="l">
              <a:lnSpc>
                <a:spcPts val="3250"/>
              </a:lnSpc>
              <a:buNone/>
            </a:pPr>
            <a:r>
              <a:rPr lang="en-US" sz="2600" b="1" dirty="0">
                <a:solidFill>
                  <a:srgbClr val="FFE14D"/>
                </a:solidFill>
                <a:latin typeface="Comfortaa Bold" pitchFamily="34" charset="0"/>
                <a:ea typeface="Comfortaa Bold" pitchFamily="34" charset="-122"/>
                <a:cs typeface="Comfortaa Bold" pitchFamily="34" charset="-120"/>
              </a:rPr>
              <a:t>Most Promising Verticals</a:t>
            </a:r>
            <a:endParaRPr lang="en-US" sz="2600" dirty="0"/>
          </a:p>
        </p:txBody>
      </p:sp>
      <p:sp>
        <p:nvSpPr>
          <p:cNvPr id="3" name="Shape 1"/>
          <p:cNvSpPr/>
          <p:nvPr/>
        </p:nvSpPr>
        <p:spPr>
          <a:xfrm>
            <a:off x="881063" y="1850708"/>
            <a:ext cx="4164568" cy="5599628"/>
          </a:xfrm>
          <a:prstGeom prst="roundRect">
            <a:avLst>
              <a:gd name="adj" fmla="val 2635"/>
            </a:avLst>
          </a:prstGeom>
          <a:solidFill>
            <a:srgbClr val="27272B"/>
          </a:solidFill>
          <a:ln/>
        </p:spPr>
        <p:txBody>
          <a:bodyPr/>
          <a:lstStyle/>
          <a:p>
            <a:endParaRPr lang="en-US"/>
          </a:p>
        </p:txBody>
      </p:sp>
      <p:sp>
        <p:nvSpPr>
          <p:cNvPr id="4" name="Shape 2"/>
          <p:cNvSpPr/>
          <p:nvPr/>
        </p:nvSpPr>
        <p:spPr>
          <a:xfrm>
            <a:off x="881063" y="1827848"/>
            <a:ext cx="4164568" cy="91440"/>
          </a:xfrm>
          <a:prstGeom prst="roundRect">
            <a:avLst>
              <a:gd name="adj" fmla="val 307170"/>
            </a:avLst>
          </a:prstGeom>
          <a:solidFill>
            <a:srgbClr val="FFE14D"/>
          </a:solidFill>
          <a:ln/>
        </p:spPr>
        <p:txBody>
          <a:bodyPr/>
          <a:lstStyle/>
          <a:p>
            <a:endParaRPr lang="en-US"/>
          </a:p>
        </p:txBody>
      </p:sp>
      <p:sp>
        <p:nvSpPr>
          <p:cNvPr id="5" name="Shape 3"/>
          <p:cNvSpPr/>
          <p:nvPr/>
        </p:nvSpPr>
        <p:spPr>
          <a:xfrm>
            <a:off x="2682478" y="1569839"/>
            <a:ext cx="561737" cy="561737"/>
          </a:xfrm>
          <a:prstGeom prst="roundRect">
            <a:avLst>
              <a:gd name="adj" fmla="val 162781"/>
            </a:avLst>
          </a:prstGeom>
          <a:solidFill>
            <a:srgbClr val="FFE14D"/>
          </a:solidFill>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0952" y="1738313"/>
            <a:ext cx="224671" cy="224671"/>
          </a:xfrm>
          <a:prstGeom prst="rect">
            <a:avLst/>
          </a:prstGeom>
        </p:spPr>
      </p:pic>
      <p:sp>
        <p:nvSpPr>
          <p:cNvPr id="7" name="Text 4"/>
          <p:cNvSpPr/>
          <p:nvPr/>
        </p:nvSpPr>
        <p:spPr>
          <a:xfrm>
            <a:off x="1091089" y="2318742"/>
            <a:ext cx="3744516" cy="519827"/>
          </a:xfrm>
          <a:prstGeom prst="rect">
            <a:avLst/>
          </a:prstGeom>
          <a:noFill/>
          <a:ln/>
        </p:spPr>
        <p:txBody>
          <a:bodyPr wrap="square" lIns="0" tIns="0" rIns="0" bIns="0" rtlCol="0" anchor="t"/>
          <a:lstStyle/>
          <a:p>
            <a:pPr marL="0" indent="0" algn="l">
              <a:lnSpc>
                <a:spcPts val="2000"/>
              </a:lnSpc>
              <a:buNone/>
            </a:pPr>
            <a:r>
              <a:rPr lang="en-US" sz="1600" b="1" dirty="0">
                <a:solidFill>
                  <a:srgbClr val="D7D4CC"/>
                </a:solidFill>
                <a:latin typeface="Comfortaa Bold" pitchFamily="34" charset="0"/>
                <a:ea typeface="Comfortaa Bold" pitchFamily="34" charset="-122"/>
                <a:cs typeface="Comfortaa Bold" pitchFamily="34" charset="-120"/>
              </a:rPr>
              <a:t>Government/Courts: Greenfield Opportunity</a:t>
            </a:r>
            <a:endParaRPr lang="en-US" sz="1600" dirty="0"/>
          </a:p>
        </p:txBody>
      </p:sp>
      <p:sp>
        <p:nvSpPr>
          <p:cNvPr id="8" name="Text 5"/>
          <p:cNvSpPr/>
          <p:nvPr/>
        </p:nvSpPr>
        <p:spPr>
          <a:xfrm>
            <a:off x="1091089" y="2950845"/>
            <a:ext cx="3744516"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Market Size:</a:t>
            </a:r>
            <a:r>
              <a:rPr lang="en-US" sz="1450" dirty="0">
                <a:solidFill>
                  <a:srgbClr val="D7D4CC"/>
                </a:solidFill>
                <a:latin typeface="Raleway Medium" pitchFamily="34" charset="0"/>
                <a:ea typeface="Raleway Medium" pitchFamily="34" charset="-122"/>
                <a:cs typeface="Raleway Medium" pitchFamily="34" charset="-120"/>
              </a:rPr>
              <a:t> $2.98 B TAM</a:t>
            </a:r>
            <a:endParaRPr lang="en-US" sz="1450" dirty="0"/>
          </a:p>
        </p:txBody>
      </p:sp>
      <p:sp>
        <p:nvSpPr>
          <p:cNvPr id="9" name="Text 6"/>
          <p:cNvSpPr/>
          <p:nvPr/>
        </p:nvSpPr>
        <p:spPr>
          <a:xfrm>
            <a:off x="1091089" y="3315891"/>
            <a:ext cx="3744516"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Current Adoption:</a:t>
            </a:r>
            <a:r>
              <a:rPr lang="en-US" sz="1450" dirty="0">
                <a:solidFill>
                  <a:srgbClr val="D7D4CC"/>
                </a:solidFill>
                <a:latin typeface="Raleway Medium" pitchFamily="34" charset="0"/>
                <a:ea typeface="Raleway Medium" pitchFamily="34" charset="-122"/>
                <a:cs typeface="Raleway Medium" pitchFamily="34" charset="-120"/>
              </a:rPr>
              <a:t> Very Low (2%)</a:t>
            </a:r>
            <a:endParaRPr lang="en-US" sz="1450" dirty="0"/>
          </a:p>
        </p:txBody>
      </p:sp>
      <p:sp>
        <p:nvSpPr>
          <p:cNvPr id="10" name="Text 7"/>
          <p:cNvSpPr/>
          <p:nvPr/>
        </p:nvSpPr>
        <p:spPr>
          <a:xfrm>
            <a:off x="1091089" y="3680936"/>
            <a:ext cx="3744516"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Growth Rate:</a:t>
            </a:r>
            <a:r>
              <a:rPr lang="en-US" sz="1450" dirty="0">
                <a:solidFill>
                  <a:srgbClr val="D7D4CC"/>
                </a:solidFill>
                <a:latin typeface="Raleway Medium" pitchFamily="34" charset="0"/>
                <a:ea typeface="Raleway Medium" pitchFamily="34" charset="-122"/>
                <a:cs typeface="Raleway Medium" pitchFamily="34" charset="-120"/>
              </a:rPr>
              <a:t> 22% CAGR</a:t>
            </a:r>
            <a:endParaRPr lang="en-US" sz="1450" dirty="0"/>
          </a:p>
        </p:txBody>
      </p:sp>
      <p:sp>
        <p:nvSpPr>
          <p:cNvPr id="11" name="Text 8"/>
          <p:cNvSpPr/>
          <p:nvPr/>
        </p:nvSpPr>
        <p:spPr>
          <a:xfrm>
            <a:off x="1091089" y="4092773"/>
            <a:ext cx="3744516" cy="1797368"/>
          </a:xfrm>
          <a:prstGeom prst="rect">
            <a:avLst/>
          </a:prstGeom>
          <a:noFill/>
          <a:ln/>
        </p:spPr>
        <p:txBody>
          <a:bodyPr wrap="squar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A classic early-stage investor profile: huge TAM, near-zero adoption, and no clear incumbent. This market is still </a:t>
            </a:r>
            <a:r>
              <a:rPr lang="en-US" sz="1450" i="1" dirty="0">
                <a:solidFill>
                  <a:srgbClr val="D7D4CC"/>
                </a:solidFill>
                <a:latin typeface="Raleway Medium" pitchFamily="34" charset="0"/>
                <a:ea typeface="Raleway Medium" pitchFamily="34" charset="-122"/>
                <a:cs typeface="Raleway Medium" pitchFamily="34" charset="-120"/>
              </a:rPr>
              <a:t>greenfield</a:t>
            </a:r>
            <a:r>
              <a:rPr lang="en-US" sz="1450" dirty="0">
                <a:solidFill>
                  <a:srgbClr val="D7D4CC"/>
                </a:solidFill>
                <a:latin typeface="Raleway Medium" pitchFamily="34" charset="0"/>
                <a:ea typeface="Raleway Medium" pitchFamily="34" charset="-122"/>
                <a:cs typeface="Raleway Medium" pitchFamily="34" charset="-120"/>
              </a:rPr>
              <a:t>, not competitive, meaning a $50M fund could buy category leadership before the market matures.</a:t>
            </a:r>
            <a:endParaRPr lang="en-US" sz="1450" dirty="0"/>
          </a:p>
        </p:txBody>
      </p:sp>
      <p:sp>
        <p:nvSpPr>
          <p:cNvPr id="12" name="Text 9"/>
          <p:cNvSpPr/>
          <p:nvPr/>
        </p:nvSpPr>
        <p:spPr>
          <a:xfrm>
            <a:off x="1091089" y="6002417"/>
            <a:ext cx="3744516" cy="1198245"/>
          </a:xfrm>
          <a:prstGeom prst="rect">
            <a:avLst/>
          </a:prstGeom>
          <a:noFill/>
          <a:ln/>
        </p:spPr>
        <p:txBody>
          <a:bodyPr wrap="squar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Agentic AI is currently underutilized, offering substantial upside even with a lower growth rate. We project a 6x return by capturing just 10% of the TAM.</a:t>
            </a:r>
            <a:endParaRPr lang="en-US" sz="1450" dirty="0"/>
          </a:p>
        </p:txBody>
      </p:sp>
      <p:sp>
        <p:nvSpPr>
          <p:cNvPr id="13" name="Shape 10"/>
          <p:cNvSpPr/>
          <p:nvPr/>
        </p:nvSpPr>
        <p:spPr>
          <a:xfrm>
            <a:off x="5232797" y="1850708"/>
            <a:ext cx="4164687" cy="5599628"/>
          </a:xfrm>
          <a:prstGeom prst="roundRect">
            <a:avLst>
              <a:gd name="adj" fmla="val 2635"/>
            </a:avLst>
          </a:prstGeom>
          <a:solidFill>
            <a:srgbClr val="27272B"/>
          </a:solidFill>
          <a:ln/>
        </p:spPr>
        <p:txBody>
          <a:bodyPr/>
          <a:lstStyle/>
          <a:p>
            <a:endParaRPr lang="en-US"/>
          </a:p>
        </p:txBody>
      </p:sp>
      <p:sp>
        <p:nvSpPr>
          <p:cNvPr id="14" name="Shape 11"/>
          <p:cNvSpPr/>
          <p:nvPr/>
        </p:nvSpPr>
        <p:spPr>
          <a:xfrm>
            <a:off x="5232797" y="1827848"/>
            <a:ext cx="4164687" cy="91440"/>
          </a:xfrm>
          <a:prstGeom prst="roundRect">
            <a:avLst>
              <a:gd name="adj" fmla="val 307170"/>
            </a:avLst>
          </a:prstGeom>
          <a:solidFill>
            <a:srgbClr val="FFE14D"/>
          </a:solidFill>
          <a:ln/>
        </p:spPr>
        <p:txBody>
          <a:bodyPr/>
          <a:lstStyle/>
          <a:p>
            <a:endParaRPr lang="en-US"/>
          </a:p>
        </p:txBody>
      </p:sp>
      <p:sp>
        <p:nvSpPr>
          <p:cNvPr id="15" name="Shape 12"/>
          <p:cNvSpPr/>
          <p:nvPr/>
        </p:nvSpPr>
        <p:spPr>
          <a:xfrm>
            <a:off x="7034213" y="1569839"/>
            <a:ext cx="561737" cy="561737"/>
          </a:xfrm>
          <a:prstGeom prst="roundRect">
            <a:avLst>
              <a:gd name="adj" fmla="val 162781"/>
            </a:avLst>
          </a:prstGeom>
          <a:solidFill>
            <a:srgbClr val="FFE14D"/>
          </a:solidFill>
          <a:ln/>
        </p:spPr>
        <p:txBody>
          <a:bodyPr/>
          <a:lstStyle/>
          <a:p>
            <a:endParaRPr lang="en-US"/>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02686" y="1738313"/>
            <a:ext cx="224671" cy="224671"/>
          </a:xfrm>
          <a:prstGeom prst="rect">
            <a:avLst/>
          </a:prstGeom>
        </p:spPr>
      </p:pic>
      <p:sp>
        <p:nvSpPr>
          <p:cNvPr id="17" name="Text 13"/>
          <p:cNvSpPr/>
          <p:nvPr/>
        </p:nvSpPr>
        <p:spPr>
          <a:xfrm>
            <a:off x="5442823" y="2318742"/>
            <a:ext cx="2646878" cy="259913"/>
          </a:xfrm>
          <a:prstGeom prst="rect">
            <a:avLst/>
          </a:prstGeom>
          <a:noFill/>
          <a:ln/>
        </p:spPr>
        <p:txBody>
          <a:bodyPr wrap="none" lIns="0" tIns="0" rIns="0" bIns="0" rtlCol="0" anchor="t"/>
          <a:lstStyle/>
          <a:p>
            <a:pPr marL="0" indent="0" algn="l">
              <a:lnSpc>
                <a:spcPts val="2000"/>
              </a:lnSpc>
              <a:buNone/>
            </a:pPr>
            <a:r>
              <a:rPr lang="en-US" sz="1600" b="1" dirty="0">
                <a:solidFill>
                  <a:srgbClr val="D7D4CC"/>
                </a:solidFill>
                <a:latin typeface="Comfortaa Bold" pitchFamily="34" charset="0"/>
                <a:ea typeface="Comfortaa Bold" pitchFamily="34" charset="-122"/>
                <a:cs typeface="Comfortaa Bold" pitchFamily="34" charset="-120"/>
              </a:rPr>
              <a:t>Retail: Momentum Curve</a:t>
            </a:r>
            <a:endParaRPr lang="en-US" sz="1600" dirty="0"/>
          </a:p>
        </p:txBody>
      </p:sp>
      <p:sp>
        <p:nvSpPr>
          <p:cNvPr id="18" name="Text 14"/>
          <p:cNvSpPr/>
          <p:nvPr/>
        </p:nvSpPr>
        <p:spPr>
          <a:xfrm>
            <a:off x="5442823" y="2690932"/>
            <a:ext cx="3744635"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Market Size:</a:t>
            </a:r>
            <a:r>
              <a:rPr lang="en-US" sz="1450" dirty="0">
                <a:solidFill>
                  <a:srgbClr val="D7D4CC"/>
                </a:solidFill>
                <a:latin typeface="Raleway Medium" pitchFamily="34" charset="0"/>
                <a:ea typeface="Raleway Medium" pitchFamily="34" charset="-122"/>
                <a:cs typeface="Raleway Medium" pitchFamily="34" charset="-120"/>
              </a:rPr>
              <a:t> $1.38 B TAM</a:t>
            </a:r>
            <a:endParaRPr lang="en-US" sz="1450" dirty="0"/>
          </a:p>
        </p:txBody>
      </p:sp>
      <p:sp>
        <p:nvSpPr>
          <p:cNvPr id="19" name="Text 15"/>
          <p:cNvSpPr/>
          <p:nvPr/>
        </p:nvSpPr>
        <p:spPr>
          <a:xfrm>
            <a:off x="5442823" y="3055977"/>
            <a:ext cx="3744635"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Current Adoption:</a:t>
            </a:r>
            <a:r>
              <a:rPr lang="en-US" sz="1450" dirty="0">
                <a:solidFill>
                  <a:srgbClr val="D7D4CC"/>
                </a:solidFill>
                <a:latin typeface="Raleway Medium" pitchFamily="34" charset="0"/>
                <a:ea typeface="Raleway Medium" pitchFamily="34" charset="-122"/>
                <a:cs typeface="Raleway Medium" pitchFamily="34" charset="-120"/>
              </a:rPr>
              <a:t> Medium (Varying)</a:t>
            </a:r>
            <a:endParaRPr lang="en-US" sz="1450" dirty="0"/>
          </a:p>
        </p:txBody>
      </p:sp>
      <p:sp>
        <p:nvSpPr>
          <p:cNvPr id="20" name="Text 16"/>
          <p:cNvSpPr/>
          <p:nvPr/>
        </p:nvSpPr>
        <p:spPr>
          <a:xfrm>
            <a:off x="5442823" y="3421023"/>
            <a:ext cx="3744635"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Growth Rate:</a:t>
            </a:r>
            <a:r>
              <a:rPr lang="en-US" sz="1450" dirty="0">
                <a:solidFill>
                  <a:srgbClr val="D7D4CC"/>
                </a:solidFill>
                <a:latin typeface="Raleway Medium" pitchFamily="34" charset="0"/>
                <a:ea typeface="Raleway Medium" pitchFamily="34" charset="-122"/>
                <a:cs typeface="Raleway Medium" pitchFamily="34" charset="-120"/>
              </a:rPr>
              <a:t> 37% CAGR</a:t>
            </a:r>
            <a:endParaRPr lang="en-US" sz="1450" dirty="0"/>
          </a:p>
        </p:txBody>
      </p:sp>
      <p:sp>
        <p:nvSpPr>
          <p:cNvPr id="21" name="Text 17"/>
          <p:cNvSpPr/>
          <p:nvPr/>
        </p:nvSpPr>
        <p:spPr>
          <a:xfrm>
            <a:off x="5442823" y="3832860"/>
            <a:ext cx="3744635" cy="1797368"/>
          </a:xfrm>
          <a:prstGeom prst="rect">
            <a:avLst/>
          </a:prstGeom>
          <a:noFill/>
          <a:ln/>
        </p:spPr>
        <p:txBody>
          <a:bodyPr wrap="squar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Shows the strongest adoption momentum and scalability curve, driven by an extremely high growth rate and underutilization of voice agents. AI budgets are expanding (37% CAGR), but most spend is stuck in CX tooling.</a:t>
            </a:r>
            <a:endParaRPr lang="en-US" sz="1450" dirty="0"/>
          </a:p>
        </p:txBody>
      </p:sp>
      <p:sp>
        <p:nvSpPr>
          <p:cNvPr id="22" name="Text 18"/>
          <p:cNvSpPr/>
          <p:nvPr/>
        </p:nvSpPr>
        <p:spPr>
          <a:xfrm>
            <a:off x="5442823" y="5742503"/>
            <a:ext cx="3744635" cy="1198245"/>
          </a:xfrm>
          <a:prstGeom prst="rect">
            <a:avLst/>
          </a:prstGeom>
          <a:noFill/>
          <a:ln/>
        </p:spPr>
        <p:txBody>
          <a:bodyPr wrap="squar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This leaves supply-chain, procurement, and returns automation </a:t>
            </a:r>
            <a:r>
              <a:rPr lang="en-US" sz="1450" i="1" dirty="0">
                <a:solidFill>
                  <a:srgbClr val="D7D4CC"/>
                </a:solidFill>
                <a:latin typeface="Raleway Medium" pitchFamily="34" charset="0"/>
                <a:ea typeface="Raleway Medium" pitchFamily="34" charset="-122"/>
                <a:cs typeface="Raleway Medium" pitchFamily="34" charset="-120"/>
              </a:rPr>
              <a:t>wide open</a:t>
            </a:r>
            <a:r>
              <a:rPr lang="en-US" sz="1450" dirty="0">
                <a:solidFill>
                  <a:srgbClr val="D7D4CC"/>
                </a:solidFill>
                <a:latin typeface="Raleway Medium" pitchFamily="34" charset="0"/>
                <a:ea typeface="Raleway Medium" pitchFamily="34" charset="-122"/>
                <a:cs typeface="Raleway Medium" pitchFamily="34" charset="-120"/>
              </a:rPr>
              <a:t> for agent-based platforms with real defensibility (deep integrations, not UI).</a:t>
            </a:r>
            <a:endParaRPr lang="en-US" sz="1450" dirty="0"/>
          </a:p>
        </p:txBody>
      </p:sp>
      <p:sp>
        <p:nvSpPr>
          <p:cNvPr id="23" name="Shape 19"/>
          <p:cNvSpPr/>
          <p:nvPr/>
        </p:nvSpPr>
        <p:spPr>
          <a:xfrm>
            <a:off x="9584650" y="1850708"/>
            <a:ext cx="4164687" cy="5599628"/>
          </a:xfrm>
          <a:prstGeom prst="roundRect">
            <a:avLst>
              <a:gd name="adj" fmla="val 2635"/>
            </a:avLst>
          </a:prstGeom>
          <a:solidFill>
            <a:srgbClr val="27272B"/>
          </a:solidFill>
          <a:ln/>
        </p:spPr>
        <p:txBody>
          <a:bodyPr/>
          <a:lstStyle/>
          <a:p>
            <a:endParaRPr lang="en-US"/>
          </a:p>
        </p:txBody>
      </p:sp>
      <p:sp>
        <p:nvSpPr>
          <p:cNvPr id="24" name="Shape 20"/>
          <p:cNvSpPr/>
          <p:nvPr/>
        </p:nvSpPr>
        <p:spPr>
          <a:xfrm>
            <a:off x="9584650" y="1827848"/>
            <a:ext cx="4164687" cy="91440"/>
          </a:xfrm>
          <a:prstGeom prst="roundRect">
            <a:avLst>
              <a:gd name="adj" fmla="val 307170"/>
            </a:avLst>
          </a:prstGeom>
          <a:solidFill>
            <a:srgbClr val="FFE14D"/>
          </a:solidFill>
          <a:ln/>
        </p:spPr>
        <p:txBody>
          <a:bodyPr/>
          <a:lstStyle/>
          <a:p>
            <a:endParaRPr lang="en-US"/>
          </a:p>
        </p:txBody>
      </p:sp>
      <p:sp>
        <p:nvSpPr>
          <p:cNvPr id="25" name="Shape 21"/>
          <p:cNvSpPr/>
          <p:nvPr/>
        </p:nvSpPr>
        <p:spPr>
          <a:xfrm>
            <a:off x="11386066" y="1569839"/>
            <a:ext cx="561737" cy="561737"/>
          </a:xfrm>
          <a:prstGeom prst="roundRect">
            <a:avLst>
              <a:gd name="adj" fmla="val 162781"/>
            </a:avLst>
          </a:prstGeom>
          <a:solidFill>
            <a:srgbClr val="FFE14D"/>
          </a:solidFill>
          <a:ln/>
        </p:spPr>
        <p:txBody>
          <a:bodyPr/>
          <a:lstStyle/>
          <a:p>
            <a:endParaRPr lang="en-US"/>
          </a:p>
        </p:txBody>
      </p:sp>
      <p:pic>
        <p:nvPicPr>
          <p:cNvPr id="2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54539" y="1738313"/>
            <a:ext cx="224671" cy="224671"/>
          </a:xfrm>
          <a:prstGeom prst="rect">
            <a:avLst/>
          </a:prstGeom>
        </p:spPr>
      </p:pic>
      <p:sp>
        <p:nvSpPr>
          <p:cNvPr id="27" name="Text 22"/>
          <p:cNvSpPr/>
          <p:nvPr/>
        </p:nvSpPr>
        <p:spPr>
          <a:xfrm>
            <a:off x="9794677" y="2318742"/>
            <a:ext cx="2830354" cy="259913"/>
          </a:xfrm>
          <a:prstGeom prst="rect">
            <a:avLst/>
          </a:prstGeom>
          <a:noFill/>
          <a:ln/>
        </p:spPr>
        <p:txBody>
          <a:bodyPr wrap="none" lIns="0" tIns="0" rIns="0" bIns="0" rtlCol="0" anchor="t"/>
          <a:lstStyle/>
          <a:p>
            <a:pPr marL="0" indent="0" algn="l">
              <a:lnSpc>
                <a:spcPts val="2000"/>
              </a:lnSpc>
              <a:buNone/>
            </a:pPr>
            <a:r>
              <a:rPr lang="en-US" sz="1600" b="1" dirty="0">
                <a:solidFill>
                  <a:srgbClr val="D7D4CC"/>
                </a:solidFill>
                <a:latin typeface="Comfortaa Bold" pitchFamily="34" charset="0"/>
                <a:ea typeface="Comfortaa Bold" pitchFamily="34" charset="-122"/>
                <a:cs typeface="Comfortaa Bold" pitchFamily="34" charset="-120"/>
              </a:rPr>
              <a:t>Healthcare: Dual ROI Path</a:t>
            </a:r>
            <a:endParaRPr lang="en-US" sz="1600" dirty="0"/>
          </a:p>
        </p:txBody>
      </p:sp>
      <p:sp>
        <p:nvSpPr>
          <p:cNvPr id="28" name="Text 23"/>
          <p:cNvSpPr/>
          <p:nvPr/>
        </p:nvSpPr>
        <p:spPr>
          <a:xfrm>
            <a:off x="9794677" y="2690932"/>
            <a:ext cx="3744635"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Market Size:</a:t>
            </a:r>
            <a:r>
              <a:rPr lang="en-US" sz="1450" dirty="0">
                <a:solidFill>
                  <a:srgbClr val="D7D4CC"/>
                </a:solidFill>
                <a:latin typeface="Raleway Medium" pitchFamily="34" charset="0"/>
                <a:ea typeface="Raleway Medium" pitchFamily="34" charset="-122"/>
                <a:cs typeface="Raleway Medium" pitchFamily="34" charset="-120"/>
              </a:rPr>
              <a:t> $3.83 B TAM</a:t>
            </a:r>
            <a:endParaRPr lang="en-US" sz="1450" dirty="0"/>
          </a:p>
        </p:txBody>
      </p:sp>
      <p:sp>
        <p:nvSpPr>
          <p:cNvPr id="29" name="Text 24"/>
          <p:cNvSpPr/>
          <p:nvPr/>
        </p:nvSpPr>
        <p:spPr>
          <a:xfrm>
            <a:off x="9794677" y="3055977"/>
            <a:ext cx="3744635"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Current Adoption:</a:t>
            </a:r>
            <a:r>
              <a:rPr lang="en-US" sz="1450" dirty="0">
                <a:solidFill>
                  <a:srgbClr val="D7D4CC"/>
                </a:solidFill>
                <a:latin typeface="Raleway Medium" pitchFamily="34" charset="0"/>
                <a:ea typeface="Raleway Medium" pitchFamily="34" charset="-122"/>
                <a:cs typeface="Raleway Medium" pitchFamily="34" charset="-120"/>
              </a:rPr>
              <a:t> Medium (45%)</a:t>
            </a:r>
            <a:endParaRPr lang="en-US" sz="1450" dirty="0"/>
          </a:p>
        </p:txBody>
      </p:sp>
      <p:sp>
        <p:nvSpPr>
          <p:cNvPr id="30" name="Text 25"/>
          <p:cNvSpPr/>
          <p:nvPr/>
        </p:nvSpPr>
        <p:spPr>
          <a:xfrm>
            <a:off x="9794677" y="3421023"/>
            <a:ext cx="3744635" cy="299561"/>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D7D4CC"/>
                </a:solidFill>
                <a:latin typeface="Raleway Medium" pitchFamily="34" charset="0"/>
                <a:ea typeface="Raleway Medium" pitchFamily="34" charset="-122"/>
                <a:cs typeface="Raleway Medium" pitchFamily="34" charset="-120"/>
              </a:rPr>
              <a:t>Growth Rate:</a:t>
            </a:r>
            <a:r>
              <a:rPr lang="en-US" sz="1450" dirty="0">
                <a:solidFill>
                  <a:srgbClr val="D7D4CC"/>
                </a:solidFill>
                <a:latin typeface="Raleway Medium" pitchFamily="34" charset="0"/>
                <a:ea typeface="Raleway Medium" pitchFamily="34" charset="-122"/>
                <a:cs typeface="Raleway Medium" pitchFamily="34" charset="-120"/>
              </a:rPr>
              <a:t> 32% CAGR</a:t>
            </a:r>
            <a:endParaRPr lang="en-US" sz="1450" dirty="0"/>
          </a:p>
        </p:txBody>
      </p:sp>
      <p:sp>
        <p:nvSpPr>
          <p:cNvPr id="31" name="Text 26"/>
          <p:cNvSpPr/>
          <p:nvPr/>
        </p:nvSpPr>
        <p:spPr>
          <a:xfrm>
            <a:off x="9794677" y="3832860"/>
            <a:ext cx="3744635" cy="1797368"/>
          </a:xfrm>
          <a:prstGeom prst="rect">
            <a:avLst/>
          </a:prstGeom>
          <a:noFill/>
          <a:ln/>
        </p:spPr>
        <p:txBody>
          <a:bodyPr wrap="squar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Delivers the fastest path to conviction because ROI is both cost-saving and revenue-generating. Automating claims, billing, and clinical documentation doesn’t just remove labor, it </a:t>
            </a:r>
            <a:r>
              <a:rPr lang="en-US" sz="1450" i="1" dirty="0">
                <a:solidFill>
                  <a:srgbClr val="D7D4CC"/>
                </a:solidFill>
                <a:latin typeface="Raleway Medium" pitchFamily="34" charset="0"/>
                <a:ea typeface="Raleway Medium" pitchFamily="34" charset="-122"/>
                <a:cs typeface="Raleway Medium" pitchFamily="34" charset="-120"/>
              </a:rPr>
              <a:t>recovers lost reimbursement dollars</a:t>
            </a:r>
            <a:r>
              <a:rPr lang="en-US" sz="1450" dirty="0">
                <a:solidFill>
                  <a:srgbClr val="D7D4CC"/>
                </a:solidFill>
                <a:latin typeface="Raleway Medium" pitchFamily="34" charset="0"/>
                <a:ea typeface="Raleway Medium" pitchFamily="34" charset="-122"/>
                <a:cs typeface="Raleway Medium" pitchFamily="34" charset="-120"/>
              </a:rPr>
              <a:t>.</a:t>
            </a:r>
            <a:endParaRPr lang="en-US" sz="1450" dirty="0"/>
          </a:p>
        </p:txBody>
      </p:sp>
      <p:sp>
        <p:nvSpPr>
          <p:cNvPr id="32" name="Text 27"/>
          <p:cNvSpPr/>
          <p:nvPr/>
        </p:nvSpPr>
        <p:spPr>
          <a:xfrm>
            <a:off x="9794677" y="5742503"/>
            <a:ext cx="3744635" cy="1497806"/>
          </a:xfrm>
          <a:prstGeom prst="rect">
            <a:avLst/>
          </a:prstGeom>
          <a:noFill/>
          <a:ln/>
        </p:spPr>
        <p:txBody>
          <a:bodyPr wrap="square" lIns="0" tIns="0" rIns="0" bIns="0" rtlCol="0" anchor="t"/>
          <a:lstStyle/>
          <a:p>
            <a:pPr marL="0" indent="0" algn="l">
              <a:lnSpc>
                <a:spcPts val="2350"/>
              </a:lnSpc>
              <a:buNone/>
            </a:pPr>
            <a:r>
              <a:rPr lang="en-US" sz="1450" dirty="0">
                <a:solidFill>
                  <a:srgbClr val="D7D4CC"/>
                </a:solidFill>
                <a:latin typeface="Raleway Medium" pitchFamily="34" charset="0"/>
                <a:ea typeface="Raleway Medium" pitchFamily="34" charset="-122"/>
                <a:cs typeface="Raleway Medium" pitchFamily="34" charset="-120"/>
              </a:rPr>
              <a:t>This rare dual benefit compounds, allowing TAM to grow even at 45% adoption. Key use cases include triage routing, billing claims/denials, scribe/note generation, and setup/service support.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73799" y="535901"/>
            <a:ext cx="1663917" cy="263128"/>
          </a:xfrm>
          <a:prstGeom prst="rect">
            <a:avLst/>
          </a:prstGeom>
          <a:noFill/>
          <a:ln/>
        </p:spPr>
        <p:txBody>
          <a:bodyPr wrap="none" lIns="0" tIns="0" rIns="0" bIns="0" rtlCol="0" anchor="t"/>
          <a:lstStyle/>
          <a:p>
            <a:pPr marL="0" indent="0" algn="l">
              <a:lnSpc>
                <a:spcPts val="1550"/>
              </a:lnSpc>
              <a:buNone/>
            </a:pPr>
            <a:r>
              <a:rPr lang="en-US" sz="2000" b="1" dirty="0">
                <a:solidFill>
                  <a:srgbClr val="FFE14D"/>
                </a:solidFill>
                <a:latin typeface="Comfortaa Bold" pitchFamily="34" charset="0"/>
                <a:ea typeface="Comfortaa Bold" pitchFamily="34" charset="-122"/>
                <a:cs typeface="Comfortaa Bold" pitchFamily="34" charset="-120"/>
              </a:rPr>
              <a:t>Healthcare </a:t>
            </a:r>
            <a:endParaRPr lang="en-US" sz="2000" dirty="0"/>
          </a:p>
        </p:txBody>
      </p:sp>
      <p:sp>
        <p:nvSpPr>
          <p:cNvPr id="3" name="Shape 1"/>
          <p:cNvSpPr/>
          <p:nvPr/>
        </p:nvSpPr>
        <p:spPr>
          <a:xfrm>
            <a:off x="873800" y="1082993"/>
            <a:ext cx="12882801" cy="5217319"/>
          </a:xfrm>
          <a:prstGeom prst="roundRect">
            <a:avLst>
              <a:gd name="adj" fmla="val 4083"/>
            </a:avLst>
          </a:prstGeom>
          <a:noFill/>
          <a:ln w="7620">
            <a:solidFill>
              <a:srgbClr val="FFFFFF">
                <a:alpha val="24000"/>
              </a:srgbClr>
            </a:solidFill>
            <a:prstDash val="solid"/>
          </a:ln>
        </p:spPr>
        <p:txBody>
          <a:bodyPr/>
          <a:lstStyle/>
          <a:p>
            <a:endParaRPr lang="en-US"/>
          </a:p>
        </p:txBody>
      </p:sp>
      <p:sp>
        <p:nvSpPr>
          <p:cNvPr id="4" name="Shape 2"/>
          <p:cNvSpPr/>
          <p:nvPr/>
        </p:nvSpPr>
        <p:spPr>
          <a:xfrm>
            <a:off x="881420" y="1090613"/>
            <a:ext cx="12870061" cy="412671"/>
          </a:xfrm>
          <a:prstGeom prst="rect">
            <a:avLst/>
          </a:prstGeom>
          <a:solidFill>
            <a:srgbClr val="FFFFFF">
              <a:alpha val="4000"/>
            </a:srgbClr>
          </a:solidFill>
          <a:ln/>
        </p:spPr>
        <p:txBody>
          <a:bodyPr/>
          <a:lstStyle/>
          <a:p>
            <a:endParaRPr lang="en-US"/>
          </a:p>
        </p:txBody>
      </p:sp>
      <p:sp>
        <p:nvSpPr>
          <p:cNvPr id="5" name="Text 3"/>
          <p:cNvSpPr/>
          <p:nvPr/>
        </p:nvSpPr>
        <p:spPr>
          <a:xfrm>
            <a:off x="1023938" y="1183362"/>
            <a:ext cx="185725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Application Layer</a:t>
            </a:r>
            <a:endParaRPr lang="en-US" sz="1100" dirty="0"/>
          </a:p>
        </p:txBody>
      </p:sp>
      <p:sp>
        <p:nvSpPr>
          <p:cNvPr id="6" name="Text 4"/>
          <p:cNvSpPr/>
          <p:nvPr/>
        </p:nvSpPr>
        <p:spPr>
          <a:xfrm>
            <a:off x="3172658" y="1183362"/>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What it does (1-line)</a:t>
            </a:r>
            <a:endParaRPr lang="en-US" sz="1100" dirty="0"/>
          </a:p>
        </p:txBody>
      </p:sp>
      <p:sp>
        <p:nvSpPr>
          <p:cNvPr id="7" name="Text 5"/>
          <p:cNvSpPr/>
          <p:nvPr/>
        </p:nvSpPr>
        <p:spPr>
          <a:xfrm>
            <a:off x="5317569" y="1183362"/>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Infrastructure</a:t>
            </a:r>
            <a:endParaRPr lang="en-US" sz="1100" dirty="0"/>
          </a:p>
        </p:txBody>
      </p:sp>
      <p:sp>
        <p:nvSpPr>
          <p:cNvPr id="8" name="Text 6"/>
          <p:cNvSpPr/>
          <p:nvPr/>
        </p:nvSpPr>
        <p:spPr>
          <a:xfrm>
            <a:off x="7462480" y="1183362"/>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What it provides (1-line)</a:t>
            </a:r>
            <a:endParaRPr lang="en-US" sz="1100" dirty="0"/>
          </a:p>
        </p:txBody>
      </p:sp>
      <p:sp>
        <p:nvSpPr>
          <p:cNvPr id="9" name="Text 7"/>
          <p:cNvSpPr/>
          <p:nvPr/>
        </p:nvSpPr>
        <p:spPr>
          <a:xfrm>
            <a:off x="9607391" y="1183362"/>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Service Layer</a:t>
            </a:r>
            <a:endParaRPr lang="en-US" sz="1100" dirty="0"/>
          </a:p>
        </p:txBody>
      </p:sp>
      <p:sp>
        <p:nvSpPr>
          <p:cNvPr id="10" name="Text 8"/>
          <p:cNvSpPr/>
          <p:nvPr/>
        </p:nvSpPr>
        <p:spPr>
          <a:xfrm>
            <a:off x="11752302" y="1183362"/>
            <a:ext cx="185725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What it does (1-line)</a:t>
            </a:r>
            <a:endParaRPr lang="en-US" sz="1100" dirty="0"/>
          </a:p>
        </p:txBody>
      </p:sp>
      <p:sp>
        <p:nvSpPr>
          <p:cNvPr id="11" name="Shape 9"/>
          <p:cNvSpPr/>
          <p:nvPr/>
        </p:nvSpPr>
        <p:spPr>
          <a:xfrm>
            <a:off x="881420" y="1503283"/>
            <a:ext cx="12870061" cy="1094184"/>
          </a:xfrm>
          <a:prstGeom prst="rect">
            <a:avLst/>
          </a:prstGeom>
          <a:solidFill>
            <a:srgbClr val="000000">
              <a:alpha val="4000"/>
            </a:srgbClr>
          </a:solidFill>
          <a:ln/>
        </p:spPr>
        <p:txBody>
          <a:bodyPr/>
          <a:lstStyle/>
          <a:p>
            <a:endParaRPr lang="en-US"/>
          </a:p>
        </p:txBody>
      </p:sp>
      <p:sp>
        <p:nvSpPr>
          <p:cNvPr id="12" name="Text 10"/>
          <p:cNvSpPr/>
          <p:nvPr/>
        </p:nvSpPr>
        <p:spPr>
          <a:xfrm>
            <a:off x="1023938" y="1596033"/>
            <a:ext cx="185725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Sully.ai</a:t>
            </a:r>
            <a:endParaRPr lang="en-US" sz="1100" dirty="0"/>
          </a:p>
        </p:txBody>
      </p:sp>
      <p:sp>
        <p:nvSpPr>
          <p:cNvPr id="13" name="Text 11"/>
          <p:cNvSpPr/>
          <p:nvPr/>
        </p:nvSpPr>
        <p:spPr>
          <a:xfrm>
            <a:off x="3172658" y="1596033"/>
            <a:ext cx="1853446" cy="908685"/>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Voice-based clinical assistant for doctors, automating note-taking + charting</a:t>
            </a:r>
            <a:endParaRPr lang="en-US" sz="1100" dirty="0"/>
          </a:p>
        </p:txBody>
      </p:sp>
      <p:sp>
        <p:nvSpPr>
          <p:cNvPr id="14" name="Text 12"/>
          <p:cNvSpPr/>
          <p:nvPr/>
        </p:nvSpPr>
        <p:spPr>
          <a:xfrm>
            <a:off x="5317569" y="1596033"/>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AWS Healthcare</a:t>
            </a:r>
            <a:endParaRPr lang="en-US" sz="1100" dirty="0"/>
          </a:p>
        </p:txBody>
      </p:sp>
      <p:sp>
        <p:nvSpPr>
          <p:cNvPr id="15" name="Text 13"/>
          <p:cNvSpPr/>
          <p:nvPr/>
        </p:nvSpPr>
        <p:spPr>
          <a:xfrm>
            <a:off x="7462480" y="1596033"/>
            <a:ext cx="185344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HIPAA-compliant cloud, medical data storage + AI hosting</a:t>
            </a:r>
            <a:endParaRPr lang="en-US" sz="1100" dirty="0"/>
          </a:p>
        </p:txBody>
      </p:sp>
      <p:sp>
        <p:nvSpPr>
          <p:cNvPr id="16" name="Text 14"/>
          <p:cNvSpPr/>
          <p:nvPr/>
        </p:nvSpPr>
        <p:spPr>
          <a:xfrm>
            <a:off x="9607391" y="1596033"/>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Medchat.ai</a:t>
            </a:r>
            <a:endParaRPr lang="en-US" sz="1100" dirty="0"/>
          </a:p>
        </p:txBody>
      </p:sp>
      <p:sp>
        <p:nvSpPr>
          <p:cNvPr id="17" name="Text 15"/>
          <p:cNvSpPr/>
          <p:nvPr/>
        </p:nvSpPr>
        <p:spPr>
          <a:xfrm>
            <a:off x="11752302" y="1596033"/>
            <a:ext cx="185725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AI chat + triage tool for patient messaging and intake</a:t>
            </a:r>
            <a:endParaRPr lang="en-US" sz="1100" dirty="0"/>
          </a:p>
        </p:txBody>
      </p:sp>
      <p:sp>
        <p:nvSpPr>
          <p:cNvPr id="18" name="Shape 16"/>
          <p:cNvSpPr/>
          <p:nvPr/>
        </p:nvSpPr>
        <p:spPr>
          <a:xfrm>
            <a:off x="881420" y="2597468"/>
            <a:ext cx="12870061" cy="1094184"/>
          </a:xfrm>
          <a:prstGeom prst="rect">
            <a:avLst/>
          </a:prstGeom>
          <a:solidFill>
            <a:srgbClr val="FFFFFF">
              <a:alpha val="4000"/>
            </a:srgbClr>
          </a:solidFill>
          <a:ln/>
        </p:spPr>
        <p:txBody>
          <a:bodyPr/>
          <a:lstStyle/>
          <a:p>
            <a:endParaRPr lang="en-US"/>
          </a:p>
        </p:txBody>
      </p:sp>
      <p:sp>
        <p:nvSpPr>
          <p:cNvPr id="19" name="Text 17"/>
          <p:cNvSpPr/>
          <p:nvPr/>
        </p:nvSpPr>
        <p:spPr>
          <a:xfrm>
            <a:off x="1023938" y="2690217"/>
            <a:ext cx="185725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DeepScribe</a:t>
            </a:r>
            <a:endParaRPr lang="en-US" sz="1100" dirty="0"/>
          </a:p>
        </p:txBody>
      </p:sp>
      <p:sp>
        <p:nvSpPr>
          <p:cNvPr id="20" name="Text 18"/>
          <p:cNvSpPr/>
          <p:nvPr/>
        </p:nvSpPr>
        <p:spPr>
          <a:xfrm>
            <a:off x="3172658" y="2690217"/>
            <a:ext cx="1853446" cy="908685"/>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Ambient clinical scribe that turns physician-patient conversations into medical notes</a:t>
            </a:r>
            <a:endParaRPr lang="en-US" sz="1100" dirty="0"/>
          </a:p>
        </p:txBody>
      </p:sp>
      <p:sp>
        <p:nvSpPr>
          <p:cNvPr id="21" name="Text 19"/>
          <p:cNvSpPr/>
          <p:nvPr/>
        </p:nvSpPr>
        <p:spPr>
          <a:xfrm>
            <a:off x="5317569" y="2690217"/>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OpenAI APIs</a:t>
            </a:r>
            <a:endParaRPr lang="en-US" sz="1100" dirty="0"/>
          </a:p>
        </p:txBody>
      </p:sp>
      <p:sp>
        <p:nvSpPr>
          <p:cNvPr id="22" name="Text 20"/>
          <p:cNvSpPr/>
          <p:nvPr/>
        </p:nvSpPr>
        <p:spPr>
          <a:xfrm>
            <a:off x="7462480" y="2690217"/>
            <a:ext cx="185344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Foundation models used for transcription, summarization, reasoning</a:t>
            </a:r>
            <a:endParaRPr lang="en-US" sz="1100" dirty="0"/>
          </a:p>
        </p:txBody>
      </p:sp>
      <p:sp>
        <p:nvSpPr>
          <p:cNvPr id="23" name="Text 21"/>
          <p:cNvSpPr/>
          <p:nvPr/>
        </p:nvSpPr>
        <p:spPr>
          <a:xfrm>
            <a:off x="9607391" y="2690217"/>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Master of Code</a:t>
            </a:r>
            <a:endParaRPr lang="en-US" sz="1100" dirty="0"/>
          </a:p>
        </p:txBody>
      </p:sp>
      <p:sp>
        <p:nvSpPr>
          <p:cNvPr id="24" name="Text 22"/>
          <p:cNvSpPr/>
          <p:nvPr/>
        </p:nvSpPr>
        <p:spPr>
          <a:xfrm>
            <a:off x="11752302" y="2690217"/>
            <a:ext cx="1857256" cy="908685"/>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Builds custom conversational AI + automation for healthcare providers</a:t>
            </a:r>
            <a:endParaRPr lang="en-US" sz="1100" dirty="0"/>
          </a:p>
        </p:txBody>
      </p:sp>
      <p:sp>
        <p:nvSpPr>
          <p:cNvPr id="25" name="Shape 23"/>
          <p:cNvSpPr/>
          <p:nvPr/>
        </p:nvSpPr>
        <p:spPr>
          <a:xfrm>
            <a:off x="881420" y="3691652"/>
            <a:ext cx="12870061" cy="867013"/>
          </a:xfrm>
          <a:prstGeom prst="rect">
            <a:avLst/>
          </a:prstGeom>
          <a:solidFill>
            <a:srgbClr val="000000">
              <a:alpha val="4000"/>
            </a:srgbClr>
          </a:solidFill>
          <a:ln/>
        </p:spPr>
        <p:txBody>
          <a:bodyPr/>
          <a:lstStyle/>
          <a:p>
            <a:endParaRPr lang="en-US"/>
          </a:p>
        </p:txBody>
      </p:sp>
      <p:sp>
        <p:nvSpPr>
          <p:cNvPr id="26" name="Text 24"/>
          <p:cNvSpPr/>
          <p:nvPr/>
        </p:nvSpPr>
        <p:spPr>
          <a:xfrm>
            <a:off x="1023938" y="3784402"/>
            <a:ext cx="185725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Mandolin</a:t>
            </a:r>
            <a:endParaRPr lang="en-US" sz="1100" dirty="0"/>
          </a:p>
        </p:txBody>
      </p:sp>
      <p:sp>
        <p:nvSpPr>
          <p:cNvPr id="27" name="Text 25"/>
          <p:cNvSpPr/>
          <p:nvPr/>
        </p:nvSpPr>
        <p:spPr>
          <a:xfrm>
            <a:off x="3172658" y="3784402"/>
            <a:ext cx="185344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AI agent for real-time transcription + clinical documentation via voice</a:t>
            </a:r>
            <a:endParaRPr lang="en-US" sz="1100" dirty="0"/>
          </a:p>
        </p:txBody>
      </p:sp>
      <p:sp>
        <p:nvSpPr>
          <p:cNvPr id="28" name="Text 26"/>
          <p:cNvSpPr/>
          <p:nvPr/>
        </p:nvSpPr>
        <p:spPr>
          <a:xfrm>
            <a:off x="5317569" y="3784402"/>
            <a:ext cx="1853446" cy="454343"/>
          </a:xfrm>
          <a:prstGeom prst="rect">
            <a:avLst/>
          </a:prstGeom>
          <a:noFill/>
          <a:ln/>
        </p:spPr>
        <p:txBody>
          <a:bodyPr wrap="squar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Microsoft Azure (Nuance/DAX)</a:t>
            </a:r>
            <a:endParaRPr lang="en-US" sz="1100" dirty="0"/>
          </a:p>
        </p:txBody>
      </p:sp>
      <p:sp>
        <p:nvSpPr>
          <p:cNvPr id="29" name="Text 27"/>
          <p:cNvSpPr/>
          <p:nvPr/>
        </p:nvSpPr>
        <p:spPr>
          <a:xfrm>
            <a:off x="7462480" y="3784402"/>
            <a:ext cx="185344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Medical speech-to-text + ambient clinical intelligence stack</a:t>
            </a:r>
            <a:endParaRPr lang="en-US" sz="1100" dirty="0"/>
          </a:p>
        </p:txBody>
      </p:sp>
      <p:sp>
        <p:nvSpPr>
          <p:cNvPr id="30" name="Text 28"/>
          <p:cNvSpPr/>
          <p:nvPr/>
        </p:nvSpPr>
        <p:spPr>
          <a:xfrm>
            <a:off x="9607391" y="3784402"/>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Shockmatrix</a:t>
            </a:r>
            <a:endParaRPr lang="en-US" sz="1100" dirty="0"/>
          </a:p>
        </p:txBody>
      </p:sp>
      <p:sp>
        <p:nvSpPr>
          <p:cNvPr id="31" name="Text 29"/>
          <p:cNvSpPr/>
          <p:nvPr/>
        </p:nvSpPr>
        <p:spPr>
          <a:xfrm>
            <a:off x="11752302" y="3784402"/>
            <a:ext cx="185725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AI automation + integration services for healthcare workflows</a:t>
            </a:r>
            <a:endParaRPr lang="en-US" sz="1100" dirty="0"/>
          </a:p>
        </p:txBody>
      </p:sp>
      <p:sp>
        <p:nvSpPr>
          <p:cNvPr id="32" name="Shape 30"/>
          <p:cNvSpPr/>
          <p:nvPr/>
        </p:nvSpPr>
        <p:spPr>
          <a:xfrm>
            <a:off x="881420" y="4558665"/>
            <a:ext cx="12870061" cy="867013"/>
          </a:xfrm>
          <a:prstGeom prst="rect">
            <a:avLst/>
          </a:prstGeom>
          <a:solidFill>
            <a:srgbClr val="FFFFFF">
              <a:alpha val="4000"/>
            </a:srgbClr>
          </a:solidFill>
          <a:ln/>
        </p:spPr>
        <p:txBody>
          <a:bodyPr/>
          <a:lstStyle/>
          <a:p>
            <a:endParaRPr lang="en-US"/>
          </a:p>
        </p:txBody>
      </p:sp>
      <p:sp>
        <p:nvSpPr>
          <p:cNvPr id="33" name="Text 31"/>
          <p:cNvSpPr/>
          <p:nvPr/>
        </p:nvSpPr>
        <p:spPr>
          <a:xfrm>
            <a:off x="1023938" y="4651415"/>
            <a:ext cx="185725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Kodexo Labs Global</a:t>
            </a:r>
            <a:endParaRPr lang="en-US" sz="1100" dirty="0"/>
          </a:p>
        </p:txBody>
      </p:sp>
      <p:sp>
        <p:nvSpPr>
          <p:cNvPr id="34" name="Text 32"/>
          <p:cNvSpPr/>
          <p:nvPr/>
        </p:nvSpPr>
        <p:spPr>
          <a:xfrm>
            <a:off x="3172658" y="4651415"/>
            <a:ext cx="185344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Custom AI workflow + data automation builder for hospitals/clinics</a:t>
            </a:r>
            <a:endParaRPr lang="en-US" sz="1100" dirty="0"/>
          </a:p>
        </p:txBody>
      </p:sp>
      <p:sp>
        <p:nvSpPr>
          <p:cNvPr id="35" name="Text 33"/>
          <p:cNvSpPr/>
          <p:nvPr/>
        </p:nvSpPr>
        <p:spPr>
          <a:xfrm>
            <a:off x="5317569" y="4651415"/>
            <a:ext cx="1853446" cy="227171"/>
          </a:xfrm>
          <a:prstGeom prst="rect">
            <a:avLst/>
          </a:prstGeom>
          <a:noFill/>
          <a:ln/>
        </p:spPr>
        <p:txBody>
          <a:bodyPr wrap="none" lIns="0" tIns="0" rIns="0" bIns="0" rtlCol="0" anchor="t"/>
          <a:lstStyle/>
          <a:p>
            <a:pPr marL="0" indent="0" algn="l">
              <a:lnSpc>
                <a:spcPts val="1750"/>
              </a:lnSpc>
              <a:buNone/>
            </a:pPr>
            <a:r>
              <a:rPr lang="en-US" sz="1100" i="1" dirty="0">
                <a:solidFill>
                  <a:srgbClr val="D7D4CC"/>
                </a:solidFill>
                <a:latin typeface="Raleway Medium" pitchFamily="34" charset="0"/>
                <a:ea typeface="Raleway Medium" pitchFamily="34" charset="-122"/>
                <a:cs typeface="Raleway Medium" pitchFamily="34" charset="-120"/>
              </a:rPr>
              <a:t>(N/A or multiple clouds)</a:t>
            </a:r>
            <a:endParaRPr lang="en-US" sz="1100" dirty="0"/>
          </a:p>
        </p:txBody>
      </p:sp>
      <p:sp>
        <p:nvSpPr>
          <p:cNvPr id="36" name="Text 34"/>
          <p:cNvSpPr/>
          <p:nvPr/>
        </p:nvSpPr>
        <p:spPr>
          <a:xfrm>
            <a:off x="7462480" y="4651415"/>
            <a:ext cx="1853446" cy="227171"/>
          </a:xfrm>
          <a:prstGeom prst="rect">
            <a:avLst/>
          </a:prstGeom>
          <a:noFill/>
          <a:ln/>
        </p:spPr>
        <p:txBody>
          <a:bodyPr wrap="non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a:t>
            </a:r>
            <a:endParaRPr lang="en-US" sz="1100" dirty="0"/>
          </a:p>
        </p:txBody>
      </p:sp>
      <p:sp>
        <p:nvSpPr>
          <p:cNvPr id="37" name="Text 35"/>
          <p:cNvSpPr/>
          <p:nvPr/>
        </p:nvSpPr>
        <p:spPr>
          <a:xfrm>
            <a:off x="9607391" y="4651415"/>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Ampcome</a:t>
            </a:r>
            <a:endParaRPr lang="en-US" sz="1100" dirty="0"/>
          </a:p>
        </p:txBody>
      </p:sp>
      <p:sp>
        <p:nvSpPr>
          <p:cNvPr id="38" name="Text 36"/>
          <p:cNvSpPr/>
          <p:nvPr/>
        </p:nvSpPr>
        <p:spPr>
          <a:xfrm>
            <a:off x="11752302" y="4651415"/>
            <a:ext cx="185725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Healthcare automation implementation + custom LLM agent development</a:t>
            </a:r>
            <a:endParaRPr lang="en-US" sz="1100" dirty="0"/>
          </a:p>
        </p:txBody>
      </p:sp>
      <p:sp>
        <p:nvSpPr>
          <p:cNvPr id="39" name="Shape 37"/>
          <p:cNvSpPr/>
          <p:nvPr/>
        </p:nvSpPr>
        <p:spPr>
          <a:xfrm>
            <a:off x="881420" y="5425678"/>
            <a:ext cx="12870061" cy="867013"/>
          </a:xfrm>
          <a:prstGeom prst="rect">
            <a:avLst/>
          </a:prstGeom>
          <a:solidFill>
            <a:srgbClr val="000000">
              <a:alpha val="4000"/>
            </a:srgbClr>
          </a:solidFill>
          <a:ln/>
        </p:spPr>
        <p:txBody>
          <a:bodyPr/>
          <a:lstStyle/>
          <a:p>
            <a:endParaRPr lang="en-US"/>
          </a:p>
        </p:txBody>
      </p:sp>
      <p:sp>
        <p:nvSpPr>
          <p:cNvPr id="40" name="Text 38"/>
          <p:cNvSpPr/>
          <p:nvPr/>
        </p:nvSpPr>
        <p:spPr>
          <a:xfrm>
            <a:off x="1023938" y="5518428"/>
            <a:ext cx="1857256" cy="227171"/>
          </a:xfrm>
          <a:prstGeom prst="rect">
            <a:avLst/>
          </a:prstGeom>
          <a:noFill/>
          <a:ln/>
        </p:spPr>
        <p:txBody>
          <a:bodyPr wrap="none" lIns="0" tIns="0" rIns="0" bIns="0" rtlCol="0" anchor="t"/>
          <a:lstStyle/>
          <a:p>
            <a:pPr marL="0" indent="0" algn="l">
              <a:lnSpc>
                <a:spcPts val="1750"/>
              </a:lnSpc>
              <a:buNone/>
            </a:pPr>
            <a:r>
              <a:rPr lang="en-US" sz="1100" i="1" dirty="0">
                <a:solidFill>
                  <a:srgbClr val="D7D4CC"/>
                </a:solidFill>
                <a:latin typeface="Raleway Medium" pitchFamily="34" charset="0"/>
                <a:ea typeface="Raleway Medium" pitchFamily="34" charset="-122"/>
                <a:cs typeface="Raleway Medium" pitchFamily="34" charset="-120"/>
              </a:rPr>
              <a:t>(empty)</a:t>
            </a:r>
            <a:endParaRPr lang="en-US" sz="1100" dirty="0"/>
          </a:p>
        </p:txBody>
      </p:sp>
      <p:sp>
        <p:nvSpPr>
          <p:cNvPr id="41" name="Text 39"/>
          <p:cNvSpPr/>
          <p:nvPr/>
        </p:nvSpPr>
        <p:spPr>
          <a:xfrm>
            <a:off x="3172658" y="5518428"/>
            <a:ext cx="1853446" cy="227171"/>
          </a:xfrm>
          <a:prstGeom prst="rect">
            <a:avLst/>
          </a:prstGeom>
          <a:noFill/>
          <a:ln/>
        </p:spPr>
        <p:txBody>
          <a:bodyPr wrap="non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a:t>
            </a:r>
            <a:endParaRPr lang="en-US" sz="1100" dirty="0"/>
          </a:p>
        </p:txBody>
      </p:sp>
      <p:sp>
        <p:nvSpPr>
          <p:cNvPr id="42" name="Text 40"/>
          <p:cNvSpPr/>
          <p:nvPr/>
        </p:nvSpPr>
        <p:spPr>
          <a:xfrm>
            <a:off x="5317569" y="5518428"/>
            <a:ext cx="1853446" cy="227171"/>
          </a:xfrm>
          <a:prstGeom prst="rect">
            <a:avLst/>
          </a:prstGeom>
          <a:noFill/>
          <a:ln/>
        </p:spPr>
        <p:txBody>
          <a:bodyPr wrap="none" lIns="0" tIns="0" rIns="0" bIns="0" rtlCol="0" anchor="t"/>
          <a:lstStyle/>
          <a:p>
            <a:pPr marL="0" indent="0" algn="l">
              <a:lnSpc>
                <a:spcPts val="1750"/>
              </a:lnSpc>
              <a:buNone/>
            </a:pPr>
            <a:r>
              <a:rPr lang="en-US" sz="1100" i="1" dirty="0">
                <a:solidFill>
                  <a:srgbClr val="D7D4CC"/>
                </a:solidFill>
                <a:latin typeface="Raleway Medium" pitchFamily="34" charset="0"/>
                <a:ea typeface="Raleway Medium" pitchFamily="34" charset="-122"/>
                <a:cs typeface="Raleway Medium" pitchFamily="34" charset="-120"/>
              </a:rPr>
              <a:t>(empty)</a:t>
            </a:r>
            <a:endParaRPr lang="en-US" sz="1100" dirty="0"/>
          </a:p>
        </p:txBody>
      </p:sp>
      <p:sp>
        <p:nvSpPr>
          <p:cNvPr id="43" name="Text 41"/>
          <p:cNvSpPr/>
          <p:nvPr/>
        </p:nvSpPr>
        <p:spPr>
          <a:xfrm>
            <a:off x="7462480" y="5518428"/>
            <a:ext cx="1853446" cy="227171"/>
          </a:xfrm>
          <a:prstGeom prst="rect">
            <a:avLst/>
          </a:prstGeom>
          <a:noFill/>
          <a:ln/>
        </p:spPr>
        <p:txBody>
          <a:bodyPr wrap="non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a:t>
            </a:r>
            <a:endParaRPr lang="en-US" sz="1100" dirty="0"/>
          </a:p>
        </p:txBody>
      </p:sp>
      <p:sp>
        <p:nvSpPr>
          <p:cNvPr id="44" name="Text 42"/>
          <p:cNvSpPr/>
          <p:nvPr/>
        </p:nvSpPr>
        <p:spPr>
          <a:xfrm>
            <a:off x="9607391" y="5518428"/>
            <a:ext cx="1853446" cy="227171"/>
          </a:xfrm>
          <a:prstGeom prst="rect">
            <a:avLst/>
          </a:prstGeom>
          <a:noFill/>
          <a:ln/>
        </p:spPr>
        <p:txBody>
          <a:bodyPr wrap="none" lIns="0" tIns="0" rIns="0" bIns="0" rtlCol="0" anchor="t"/>
          <a:lstStyle/>
          <a:p>
            <a:pPr marL="0" indent="0" algn="l">
              <a:lnSpc>
                <a:spcPts val="1750"/>
              </a:lnSpc>
              <a:buNone/>
            </a:pPr>
            <a:r>
              <a:rPr lang="en-US" sz="1100" b="1" dirty="0">
                <a:solidFill>
                  <a:srgbClr val="D7D4CC"/>
                </a:solidFill>
                <a:latin typeface="Raleway Medium" pitchFamily="34" charset="0"/>
                <a:ea typeface="Raleway Medium" pitchFamily="34" charset="-122"/>
                <a:cs typeface="Raleway Medium" pitchFamily="34" charset="-120"/>
              </a:rPr>
              <a:t>Medwave</a:t>
            </a:r>
            <a:endParaRPr lang="en-US" sz="1100" dirty="0"/>
          </a:p>
        </p:txBody>
      </p:sp>
      <p:sp>
        <p:nvSpPr>
          <p:cNvPr id="45" name="Text 43"/>
          <p:cNvSpPr/>
          <p:nvPr/>
        </p:nvSpPr>
        <p:spPr>
          <a:xfrm>
            <a:off x="11752302" y="5518428"/>
            <a:ext cx="1857256" cy="681514"/>
          </a:xfrm>
          <a:prstGeom prst="rect">
            <a:avLst/>
          </a:prstGeom>
          <a:noFill/>
          <a:ln/>
        </p:spPr>
        <p:txBody>
          <a:bodyPr wrap="squar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Provider-facing AI voice agent for scheduling, follow-ups, and billing calls</a:t>
            </a:r>
            <a:endParaRPr lang="en-US" sz="1100" dirty="0"/>
          </a:p>
        </p:txBody>
      </p:sp>
      <p:sp>
        <p:nvSpPr>
          <p:cNvPr id="46" name="Text 44"/>
          <p:cNvSpPr/>
          <p:nvPr/>
        </p:nvSpPr>
        <p:spPr>
          <a:xfrm>
            <a:off x="873800" y="6459974"/>
            <a:ext cx="12882801" cy="227171"/>
          </a:xfrm>
          <a:prstGeom prst="rect">
            <a:avLst/>
          </a:prstGeom>
          <a:noFill/>
          <a:ln/>
        </p:spPr>
        <p:txBody>
          <a:bodyPr wrap="none" lIns="0" tIns="0" rIns="0" bIns="0" rtlCol="0" anchor="t"/>
          <a:lstStyle/>
          <a:p>
            <a:pPr marL="0" indent="0" algn="l">
              <a:lnSpc>
                <a:spcPts val="1750"/>
              </a:lnSpc>
              <a:buNone/>
            </a:pPr>
            <a:r>
              <a:rPr lang="en-US" sz="1100" dirty="0">
                <a:solidFill>
                  <a:srgbClr val="D7D4CC"/>
                </a:solidFill>
                <a:latin typeface="Raleway Medium" pitchFamily="34" charset="0"/>
                <a:ea typeface="Raleway Medium" pitchFamily="34" charset="-122"/>
                <a:cs typeface="Raleway Medium" pitchFamily="34" charset="-120"/>
              </a:rPr>
              <a:t>White spaces</a:t>
            </a:r>
            <a:endParaRPr lang="en-US" sz="1100" dirty="0"/>
          </a:p>
        </p:txBody>
      </p:sp>
      <p:sp>
        <p:nvSpPr>
          <p:cNvPr id="47" name="Text 45"/>
          <p:cNvSpPr/>
          <p:nvPr/>
        </p:nvSpPr>
        <p:spPr>
          <a:xfrm>
            <a:off x="873800" y="6846808"/>
            <a:ext cx="12882801" cy="227171"/>
          </a:xfrm>
          <a:prstGeom prst="rect">
            <a:avLst/>
          </a:prstGeom>
          <a:noFill/>
          <a:ln/>
        </p:spPr>
        <p:txBody>
          <a:bodyPr wrap="none" lIns="0" tIns="0" rIns="0" bIns="0" rtlCol="0" anchor="t"/>
          <a:lstStyle/>
          <a:p>
            <a:pPr marL="342900" indent="-342900" algn="l">
              <a:lnSpc>
                <a:spcPts val="1750"/>
              </a:lnSpc>
              <a:buSzPct val="100000"/>
              <a:buFont typeface="+mj-lt"/>
              <a:buAutoNum type="arabicPeriod"/>
            </a:pPr>
            <a:r>
              <a:rPr lang="en-US" sz="1100" dirty="0">
                <a:solidFill>
                  <a:srgbClr val="D7D4CC"/>
                </a:solidFill>
                <a:latin typeface="Raleway Medium" pitchFamily="34" charset="0"/>
                <a:ea typeface="Raleway Medium" pitchFamily="34" charset="-122"/>
                <a:cs typeface="Raleway Medium" pitchFamily="34" charset="-120"/>
              </a:rPr>
              <a:t>System to System Agents for end-to-end automation, from EHR → billing</a:t>
            </a:r>
            <a:endParaRPr lang="en-US" sz="1100" dirty="0"/>
          </a:p>
        </p:txBody>
      </p:sp>
      <p:sp>
        <p:nvSpPr>
          <p:cNvPr id="48" name="Text 46"/>
          <p:cNvSpPr/>
          <p:nvPr/>
        </p:nvSpPr>
        <p:spPr>
          <a:xfrm>
            <a:off x="873800" y="7123628"/>
            <a:ext cx="12882801" cy="227171"/>
          </a:xfrm>
          <a:prstGeom prst="rect">
            <a:avLst/>
          </a:prstGeom>
          <a:noFill/>
          <a:ln/>
        </p:spPr>
        <p:txBody>
          <a:bodyPr wrap="none" lIns="0" tIns="0" rIns="0" bIns="0" rtlCol="0" anchor="t"/>
          <a:lstStyle/>
          <a:p>
            <a:pPr marL="342900" indent="-342900" algn="l">
              <a:lnSpc>
                <a:spcPts val="1750"/>
              </a:lnSpc>
              <a:buSzPct val="100000"/>
              <a:buFont typeface="+mj-lt"/>
              <a:buAutoNum type="arabicPeriod" startAt="2"/>
            </a:pPr>
            <a:r>
              <a:rPr lang="en-US" sz="1100" dirty="0">
                <a:solidFill>
                  <a:srgbClr val="D7D4CC"/>
                </a:solidFill>
                <a:latin typeface="Raleway Medium" pitchFamily="34" charset="0"/>
                <a:ea typeface="Raleway Medium" pitchFamily="34" charset="-122"/>
                <a:cs typeface="Raleway Medium" pitchFamily="34" charset="-120"/>
              </a:rPr>
              <a:t>Customizable agents for small specialty clinics/practices</a:t>
            </a:r>
            <a:endParaRPr lang="en-US" sz="1100" dirty="0"/>
          </a:p>
        </p:txBody>
      </p:sp>
      <p:sp>
        <p:nvSpPr>
          <p:cNvPr id="49" name="Text 47"/>
          <p:cNvSpPr/>
          <p:nvPr/>
        </p:nvSpPr>
        <p:spPr>
          <a:xfrm>
            <a:off x="873800" y="7400449"/>
            <a:ext cx="12882801" cy="227171"/>
          </a:xfrm>
          <a:prstGeom prst="rect">
            <a:avLst/>
          </a:prstGeom>
          <a:noFill/>
          <a:ln/>
        </p:spPr>
        <p:txBody>
          <a:bodyPr wrap="none" lIns="0" tIns="0" rIns="0" bIns="0" rtlCol="0" anchor="t"/>
          <a:lstStyle/>
          <a:p>
            <a:pPr marL="342900" indent="-342900" algn="l">
              <a:lnSpc>
                <a:spcPts val="1750"/>
              </a:lnSpc>
              <a:buSzPct val="100000"/>
              <a:buFont typeface="+mj-lt"/>
              <a:buAutoNum type="arabicPeriod" startAt="3"/>
            </a:pPr>
            <a:r>
              <a:rPr lang="en-US" sz="1100" dirty="0">
                <a:solidFill>
                  <a:srgbClr val="D7D4CC"/>
                </a:solidFill>
                <a:latin typeface="Raleway Medium" pitchFamily="34" charset="0"/>
                <a:ea typeface="Raleway Medium" pitchFamily="34" charset="-122"/>
                <a:cs typeface="Raleway Medium" pitchFamily="34" charset="-120"/>
              </a:rPr>
              <a:t>Post visit care for patients </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81063" y="610910"/>
            <a:ext cx="1590913" cy="198834"/>
          </a:xfrm>
          <a:prstGeom prst="rect">
            <a:avLst/>
          </a:prstGeom>
          <a:noFill/>
          <a:ln/>
        </p:spPr>
        <p:txBody>
          <a:bodyPr wrap="none" lIns="0" tIns="0" rIns="0" bIns="0" rtlCol="0" anchor="t"/>
          <a:lstStyle/>
          <a:p>
            <a:pPr marL="0" indent="0" algn="l">
              <a:lnSpc>
                <a:spcPts val="1550"/>
              </a:lnSpc>
              <a:buNone/>
            </a:pPr>
            <a:r>
              <a:rPr lang="en-US" sz="2000" b="1" dirty="0">
                <a:solidFill>
                  <a:srgbClr val="FFE14D"/>
                </a:solidFill>
                <a:latin typeface="Comfortaa Bold" pitchFamily="34" charset="0"/>
                <a:ea typeface="Comfortaa Bold" pitchFamily="34" charset="-122"/>
                <a:cs typeface="Comfortaa Bold" pitchFamily="34" charset="-120"/>
              </a:rPr>
              <a:t>Retail</a:t>
            </a:r>
            <a:endParaRPr lang="en-US" sz="2000" dirty="0"/>
          </a:p>
        </p:txBody>
      </p:sp>
      <p:sp>
        <p:nvSpPr>
          <p:cNvPr id="3" name="Shape 1"/>
          <p:cNvSpPr/>
          <p:nvPr/>
        </p:nvSpPr>
        <p:spPr>
          <a:xfrm>
            <a:off x="881063" y="1096089"/>
            <a:ext cx="12868275" cy="4844177"/>
          </a:xfrm>
          <a:prstGeom prst="roundRect">
            <a:avLst>
              <a:gd name="adj" fmla="val 4434"/>
            </a:avLst>
          </a:prstGeom>
          <a:noFill/>
          <a:ln w="7620">
            <a:solidFill>
              <a:srgbClr val="FFFFFF">
                <a:alpha val="24000"/>
              </a:srgbClr>
            </a:solidFill>
            <a:prstDash val="solid"/>
          </a:ln>
        </p:spPr>
        <p:txBody>
          <a:bodyPr/>
          <a:lstStyle/>
          <a:p>
            <a:endParaRPr lang="en-US"/>
          </a:p>
        </p:txBody>
      </p:sp>
      <p:sp>
        <p:nvSpPr>
          <p:cNvPr id="4" name="Shape 2"/>
          <p:cNvSpPr/>
          <p:nvPr/>
        </p:nvSpPr>
        <p:spPr>
          <a:xfrm>
            <a:off x="888683" y="1103709"/>
            <a:ext cx="12855535" cy="416004"/>
          </a:xfrm>
          <a:prstGeom prst="rect">
            <a:avLst/>
          </a:prstGeom>
          <a:solidFill>
            <a:srgbClr val="FFFFFF">
              <a:alpha val="4000"/>
            </a:srgbClr>
          </a:solidFill>
          <a:ln/>
        </p:spPr>
        <p:txBody>
          <a:bodyPr/>
          <a:lstStyle/>
          <a:p>
            <a:endParaRPr lang="en-US"/>
          </a:p>
        </p:txBody>
      </p:sp>
      <p:sp>
        <p:nvSpPr>
          <p:cNvPr id="5" name="Text 3"/>
          <p:cNvSpPr/>
          <p:nvPr/>
        </p:nvSpPr>
        <p:spPr>
          <a:xfrm>
            <a:off x="1032153" y="1197173"/>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Application layer</a:t>
            </a:r>
            <a:endParaRPr lang="en-US" sz="1100" dirty="0"/>
          </a:p>
        </p:txBody>
      </p:sp>
      <p:sp>
        <p:nvSpPr>
          <p:cNvPr id="6" name="Text 4"/>
          <p:cNvSpPr/>
          <p:nvPr/>
        </p:nvSpPr>
        <p:spPr>
          <a:xfrm>
            <a:off x="3178493" y="1197173"/>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What it does (1-line)</a:t>
            </a:r>
            <a:endParaRPr lang="en-US" sz="1100" dirty="0"/>
          </a:p>
        </p:txBody>
      </p:sp>
      <p:sp>
        <p:nvSpPr>
          <p:cNvPr id="7" name="Text 5"/>
          <p:cNvSpPr/>
          <p:nvPr/>
        </p:nvSpPr>
        <p:spPr>
          <a:xfrm>
            <a:off x="5321022" y="1197173"/>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Infrastructure</a:t>
            </a:r>
            <a:endParaRPr lang="en-US" sz="1100" dirty="0"/>
          </a:p>
        </p:txBody>
      </p:sp>
      <p:sp>
        <p:nvSpPr>
          <p:cNvPr id="8" name="Text 6"/>
          <p:cNvSpPr/>
          <p:nvPr/>
        </p:nvSpPr>
        <p:spPr>
          <a:xfrm>
            <a:off x="7463552" y="1197173"/>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What it provides (1-line)</a:t>
            </a:r>
            <a:endParaRPr lang="en-US" sz="1100" dirty="0"/>
          </a:p>
        </p:txBody>
      </p:sp>
      <p:sp>
        <p:nvSpPr>
          <p:cNvPr id="9" name="Text 7"/>
          <p:cNvSpPr/>
          <p:nvPr/>
        </p:nvSpPr>
        <p:spPr>
          <a:xfrm>
            <a:off x="9606082" y="1197173"/>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Service Layer</a:t>
            </a:r>
            <a:endParaRPr lang="en-US" sz="1100" dirty="0"/>
          </a:p>
        </p:txBody>
      </p:sp>
      <p:sp>
        <p:nvSpPr>
          <p:cNvPr id="10" name="Text 8"/>
          <p:cNvSpPr/>
          <p:nvPr/>
        </p:nvSpPr>
        <p:spPr>
          <a:xfrm>
            <a:off x="11748611" y="1197173"/>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What it does (1-line)</a:t>
            </a:r>
            <a:endParaRPr lang="en-US" sz="1100" dirty="0"/>
          </a:p>
        </p:txBody>
      </p:sp>
      <p:sp>
        <p:nvSpPr>
          <p:cNvPr id="11" name="Shape 9"/>
          <p:cNvSpPr/>
          <p:nvPr/>
        </p:nvSpPr>
        <p:spPr>
          <a:xfrm>
            <a:off x="888683" y="1519714"/>
            <a:ext cx="12855535" cy="1103233"/>
          </a:xfrm>
          <a:prstGeom prst="rect">
            <a:avLst/>
          </a:prstGeom>
          <a:solidFill>
            <a:srgbClr val="000000">
              <a:alpha val="4000"/>
            </a:srgbClr>
          </a:solidFill>
          <a:ln/>
        </p:spPr>
        <p:txBody>
          <a:bodyPr/>
          <a:lstStyle/>
          <a:p>
            <a:endParaRPr lang="en-US"/>
          </a:p>
        </p:txBody>
      </p:sp>
      <p:sp>
        <p:nvSpPr>
          <p:cNvPr id="12" name="Text 10"/>
          <p:cNvSpPr/>
          <p:nvPr/>
        </p:nvSpPr>
        <p:spPr>
          <a:xfrm>
            <a:off x="1032153" y="1613178"/>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ZenDesk</a:t>
            </a:r>
            <a:endParaRPr lang="en-US" sz="1100" dirty="0"/>
          </a:p>
        </p:txBody>
      </p:sp>
      <p:sp>
        <p:nvSpPr>
          <p:cNvPr id="13" name="Text 11"/>
          <p:cNvSpPr/>
          <p:nvPr/>
        </p:nvSpPr>
        <p:spPr>
          <a:xfrm>
            <a:off x="3178493" y="1613178"/>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Customer support + ticketing platform used for omnichannel service and helpdesk workflows</a:t>
            </a:r>
            <a:endParaRPr lang="en-US" sz="1100" dirty="0"/>
          </a:p>
        </p:txBody>
      </p:sp>
      <p:sp>
        <p:nvSpPr>
          <p:cNvPr id="14" name="Text 12"/>
          <p:cNvSpPr/>
          <p:nvPr/>
        </p:nvSpPr>
        <p:spPr>
          <a:xfrm>
            <a:off x="5321022" y="1613178"/>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AWS</a:t>
            </a:r>
            <a:endParaRPr lang="en-US" sz="1100" dirty="0"/>
          </a:p>
        </p:txBody>
      </p:sp>
      <p:sp>
        <p:nvSpPr>
          <p:cNvPr id="15" name="Text 13"/>
          <p:cNvSpPr/>
          <p:nvPr/>
        </p:nvSpPr>
        <p:spPr>
          <a:xfrm>
            <a:off x="7463552" y="1613178"/>
            <a:ext cx="184868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Cloud hosting + compute + storage used by retail SaaS platforms</a:t>
            </a:r>
            <a:endParaRPr lang="en-US" sz="1100" dirty="0"/>
          </a:p>
        </p:txBody>
      </p:sp>
      <p:sp>
        <p:nvSpPr>
          <p:cNvPr id="16" name="Text 14"/>
          <p:cNvSpPr/>
          <p:nvPr/>
        </p:nvSpPr>
        <p:spPr>
          <a:xfrm>
            <a:off x="9606082" y="1613178"/>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Blue Yonder</a:t>
            </a:r>
            <a:endParaRPr lang="en-US" sz="1100" dirty="0"/>
          </a:p>
        </p:txBody>
      </p:sp>
      <p:sp>
        <p:nvSpPr>
          <p:cNvPr id="17" name="Text 15"/>
          <p:cNvSpPr/>
          <p:nvPr/>
        </p:nvSpPr>
        <p:spPr>
          <a:xfrm>
            <a:off x="11748611" y="1613178"/>
            <a:ext cx="185249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AI-driven supply chain, inventory, and demand planning platform</a:t>
            </a:r>
            <a:endParaRPr lang="en-US" sz="1100" dirty="0"/>
          </a:p>
        </p:txBody>
      </p:sp>
      <p:sp>
        <p:nvSpPr>
          <p:cNvPr id="18" name="Shape 16"/>
          <p:cNvSpPr/>
          <p:nvPr/>
        </p:nvSpPr>
        <p:spPr>
          <a:xfrm>
            <a:off x="888683" y="2622947"/>
            <a:ext cx="12855535" cy="1103233"/>
          </a:xfrm>
          <a:prstGeom prst="rect">
            <a:avLst/>
          </a:prstGeom>
          <a:solidFill>
            <a:srgbClr val="FFFFFF">
              <a:alpha val="4000"/>
            </a:srgbClr>
          </a:solidFill>
          <a:ln/>
        </p:spPr>
        <p:txBody>
          <a:bodyPr/>
          <a:lstStyle/>
          <a:p>
            <a:endParaRPr lang="en-US"/>
          </a:p>
        </p:txBody>
      </p:sp>
      <p:sp>
        <p:nvSpPr>
          <p:cNvPr id="19" name="Text 17"/>
          <p:cNvSpPr/>
          <p:nvPr/>
        </p:nvSpPr>
        <p:spPr>
          <a:xfrm>
            <a:off x="1032153" y="2716411"/>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LivePerson</a:t>
            </a:r>
            <a:endParaRPr lang="en-US" sz="1100" dirty="0"/>
          </a:p>
        </p:txBody>
      </p:sp>
      <p:sp>
        <p:nvSpPr>
          <p:cNvPr id="20" name="Text 18"/>
          <p:cNvSpPr/>
          <p:nvPr/>
        </p:nvSpPr>
        <p:spPr>
          <a:xfrm>
            <a:off x="3178493" y="2716411"/>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Conversational AI platform for real-time customer messaging, sales, and support automation</a:t>
            </a:r>
            <a:endParaRPr lang="en-US" sz="1100" dirty="0"/>
          </a:p>
        </p:txBody>
      </p:sp>
      <p:sp>
        <p:nvSpPr>
          <p:cNvPr id="21" name="Text 19"/>
          <p:cNvSpPr/>
          <p:nvPr/>
        </p:nvSpPr>
        <p:spPr>
          <a:xfrm>
            <a:off x="5321022" y="2716411"/>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SAP HANA</a:t>
            </a:r>
            <a:endParaRPr lang="en-US" sz="1100" dirty="0"/>
          </a:p>
        </p:txBody>
      </p:sp>
      <p:sp>
        <p:nvSpPr>
          <p:cNvPr id="22" name="Text 20"/>
          <p:cNvSpPr/>
          <p:nvPr/>
        </p:nvSpPr>
        <p:spPr>
          <a:xfrm>
            <a:off x="7463552" y="2716411"/>
            <a:ext cx="184868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In-memory database + ERP backbone used for retail ops + analytics</a:t>
            </a:r>
            <a:endParaRPr lang="en-US" sz="1100" dirty="0"/>
          </a:p>
        </p:txBody>
      </p:sp>
      <p:sp>
        <p:nvSpPr>
          <p:cNvPr id="23" name="Text 21"/>
          <p:cNvSpPr/>
          <p:nvPr/>
        </p:nvSpPr>
        <p:spPr>
          <a:xfrm>
            <a:off x="9606082" y="2716411"/>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IBM Sterling Supply Chain</a:t>
            </a:r>
            <a:endParaRPr lang="en-US" sz="1100" dirty="0"/>
          </a:p>
        </p:txBody>
      </p:sp>
      <p:sp>
        <p:nvSpPr>
          <p:cNvPr id="24" name="Text 22"/>
          <p:cNvSpPr/>
          <p:nvPr/>
        </p:nvSpPr>
        <p:spPr>
          <a:xfrm>
            <a:off x="11748611" y="2716411"/>
            <a:ext cx="185249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Enterprise supply-chain orchestration + order management suite</a:t>
            </a:r>
            <a:endParaRPr lang="en-US" sz="1100" dirty="0"/>
          </a:p>
        </p:txBody>
      </p:sp>
      <p:sp>
        <p:nvSpPr>
          <p:cNvPr id="25" name="Shape 23"/>
          <p:cNvSpPr/>
          <p:nvPr/>
        </p:nvSpPr>
        <p:spPr>
          <a:xfrm>
            <a:off x="888683" y="3726180"/>
            <a:ext cx="12855535" cy="1103233"/>
          </a:xfrm>
          <a:prstGeom prst="rect">
            <a:avLst/>
          </a:prstGeom>
          <a:solidFill>
            <a:srgbClr val="000000">
              <a:alpha val="4000"/>
            </a:srgbClr>
          </a:solidFill>
          <a:ln/>
        </p:spPr>
        <p:txBody>
          <a:bodyPr/>
          <a:lstStyle/>
          <a:p>
            <a:endParaRPr lang="en-US"/>
          </a:p>
        </p:txBody>
      </p:sp>
      <p:sp>
        <p:nvSpPr>
          <p:cNvPr id="26" name="Text 24"/>
          <p:cNvSpPr/>
          <p:nvPr/>
        </p:nvSpPr>
        <p:spPr>
          <a:xfrm>
            <a:off x="1032153" y="3819644"/>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Convin</a:t>
            </a:r>
            <a:endParaRPr lang="en-US" sz="1100" dirty="0"/>
          </a:p>
        </p:txBody>
      </p:sp>
      <p:sp>
        <p:nvSpPr>
          <p:cNvPr id="27" name="Text 25"/>
          <p:cNvSpPr/>
          <p:nvPr/>
        </p:nvSpPr>
        <p:spPr>
          <a:xfrm>
            <a:off x="3178493" y="3819644"/>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AI call analytics + QA platform analyzing sales &amp; support calls for coaching + automation</a:t>
            </a:r>
            <a:endParaRPr lang="en-US" sz="1100" dirty="0"/>
          </a:p>
        </p:txBody>
      </p:sp>
      <p:sp>
        <p:nvSpPr>
          <p:cNvPr id="28" name="Text 26"/>
          <p:cNvSpPr/>
          <p:nvPr/>
        </p:nvSpPr>
        <p:spPr>
          <a:xfrm>
            <a:off x="5321022" y="3819644"/>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Google Vertex</a:t>
            </a:r>
            <a:endParaRPr lang="en-US" sz="1100" dirty="0"/>
          </a:p>
        </p:txBody>
      </p:sp>
      <p:sp>
        <p:nvSpPr>
          <p:cNvPr id="29" name="Text 27"/>
          <p:cNvSpPr/>
          <p:nvPr/>
        </p:nvSpPr>
        <p:spPr>
          <a:xfrm>
            <a:off x="7463552" y="3819644"/>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Managed LLM + ML platform for model training, tuning, and agent deployment</a:t>
            </a:r>
            <a:endParaRPr lang="en-US" sz="1100" dirty="0"/>
          </a:p>
        </p:txBody>
      </p:sp>
      <p:sp>
        <p:nvSpPr>
          <p:cNvPr id="30" name="Text 28"/>
          <p:cNvSpPr/>
          <p:nvPr/>
        </p:nvSpPr>
        <p:spPr>
          <a:xfrm>
            <a:off x="9606082" y="3819644"/>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Order.co</a:t>
            </a:r>
            <a:endParaRPr lang="en-US" sz="1100" dirty="0"/>
          </a:p>
        </p:txBody>
      </p:sp>
      <p:sp>
        <p:nvSpPr>
          <p:cNvPr id="31" name="Text 29"/>
          <p:cNvSpPr/>
          <p:nvPr/>
        </p:nvSpPr>
        <p:spPr>
          <a:xfrm>
            <a:off x="11748611" y="3819644"/>
            <a:ext cx="185249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Procure-to-pay automation platform centralizing purchasing, invoicing, and vendor management</a:t>
            </a:r>
            <a:endParaRPr lang="en-US" sz="1100" dirty="0"/>
          </a:p>
        </p:txBody>
      </p:sp>
      <p:sp>
        <p:nvSpPr>
          <p:cNvPr id="32" name="Shape 30"/>
          <p:cNvSpPr/>
          <p:nvPr/>
        </p:nvSpPr>
        <p:spPr>
          <a:xfrm>
            <a:off x="888683" y="4829413"/>
            <a:ext cx="12855535" cy="1103233"/>
          </a:xfrm>
          <a:prstGeom prst="rect">
            <a:avLst/>
          </a:prstGeom>
          <a:solidFill>
            <a:srgbClr val="FFFFFF">
              <a:alpha val="4000"/>
            </a:srgbClr>
          </a:solidFill>
          <a:ln/>
        </p:spPr>
        <p:txBody>
          <a:bodyPr/>
          <a:lstStyle/>
          <a:p>
            <a:endParaRPr lang="en-US"/>
          </a:p>
        </p:txBody>
      </p:sp>
      <p:sp>
        <p:nvSpPr>
          <p:cNvPr id="33" name="Text 31"/>
          <p:cNvSpPr/>
          <p:nvPr/>
        </p:nvSpPr>
        <p:spPr>
          <a:xfrm>
            <a:off x="1032153" y="4922877"/>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Kenco Group</a:t>
            </a:r>
            <a:endParaRPr lang="en-US" sz="1100" dirty="0"/>
          </a:p>
        </p:txBody>
      </p:sp>
      <p:sp>
        <p:nvSpPr>
          <p:cNvPr id="34" name="Text 32"/>
          <p:cNvSpPr/>
          <p:nvPr/>
        </p:nvSpPr>
        <p:spPr>
          <a:xfrm>
            <a:off x="3178493" y="4922877"/>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Third-party logistics (3PL) provider offering warehousing, fulfillment, and transportation services</a:t>
            </a:r>
            <a:endParaRPr lang="en-US" sz="1100" dirty="0"/>
          </a:p>
        </p:txBody>
      </p:sp>
      <p:sp>
        <p:nvSpPr>
          <p:cNvPr id="35" name="Text 33"/>
          <p:cNvSpPr/>
          <p:nvPr/>
        </p:nvSpPr>
        <p:spPr>
          <a:xfrm>
            <a:off x="5321022" y="4922877"/>
            <a:ext cx="1848683" cy="229076"/>
          </a:xfrm>
          <a:prstGeom prst="rect">
            <a:avLst/>
          </a:prstGeom>
          <a:noFill/>
          <a:ln/>
        </p:spPr>
        <p:txBody>
          <a:bodyPr wrap="none" lIns="0" tIns="0" rIns="0" bIns="0" rtlCol="0" anchor="t"/>
          <a:lstStyle/>
          <a:p>
            <a:pPr marL="0" indent="0" algn="l">
              <a:lnSpc>
                <a:spcPts val="1800"/>
              </a:lnSpc>
              <a:buNone/>
            </a:pPr>
            <a:r>
              <a:rPr lang="en-US" sz="1100" i="1" dirty="0">
                <a:solidFill>
                  <a:srgbClr val="D7D4CC"/>
                </a:solidFill>
                <a:latin typeface="Raleway Medium" pitchFamily="34" charset="0"/>
                <a:ea typeface="Raleway Medium" pitchFamily="34" charset="-122"/>
                <a:cs typeface="Raleway Medium" pitchFamily="34" charset="-120"/>
              </a:rPr>
              <a:t>(N/A or multi-cloud)</a:t>
            </a:r>
            <a:endParaRPr lang="en-US" sz="1100" dirty="0"/>
          </a:p>
        </p:txBody>
      </p:sp>
      <p:sp>
        <p:nvSpPr>
          <p:cNvPr id="36" name="Text 34"/>
          <p:cNvSpPr/>
          <p:nvPr/>
        </p:nvSpPr>
        <p:spPr>
          <a:xfrm>
            <a:off x="7463552" y="4922877"/>
            <a:ext cx="1848683" cy="229076"/>
          </a:xfrm>
          <a:prstGeom prst="rect">
            <a:avLst/>
          </a:prstGeom>
          <a:noFill/>
          <a:ln/>
        </p:spPr>
        <p:txBody>
          <a:bodyPr wrap="non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a:t>
            </a:r>
            <a:endParaRPr lang="en-US" sz="1100" dirty="0"/>
          </a:p>
        </p:txBody>
      </p:sp>
      <p:sp>
        <p:nvSpPr>
          <p:cNvPr id="37" name="Text 35"/>
          <p:cNvSpPr/>
          <p:nvPr/>
        </p:nvSpPr>
        <p:spPr>
          <a:xfrm>
            <a:off x="9606082" y="4922877"/>
            <a:ext cx="1848683" cy="229076"/>
          </a:xfrm>
          <a:prstGeom prst="rect">
            <a:avLst/>
          </a:prstGeom>
          <a:noFill/>
          <a:ln/>
        </p:spPr>
        <p:txBody>
          <a:bodyPr wrap="none" lIns="0" tIns="0" rIns="0" bIns="0" rtlCol="0" anchor="t"/>
          <a:lstStyle/>
          <a:p>
            <a:pPr marL="0" indent="0" algn="l">
              <a:lnSpc>
                <a:spcPts val="1800"/>
              </a:lnSpc>
              <a:buNone/>
            </a:pPr>
            <a:r>
              <a:rPr lang="en-US" sz="1100" i="1" dirty="0">
                <a:solidFill>
                  <a:srgbClr val="D7D4CC"/>
                </a:solidFill>
                <a:latin typeface="Raleway Medium" pitchFamily="34" charset="0"/>
                <a:ea typeface="Raleway Medium" pitchFamily="34" charset="-122"/>
                <a:cs typeface="Raleway Medium" pitchFamily="34" charset="-120"/>
              </a:rPr>
              <a:t>(Service layer)</a:t>
            </a:r>
            <a:endParaRPr lang="en-US" sz="1100" dirty="0"/>
          </a:p>
        </p:txBody>
      </p:sp>
      <p:sp>
        <p:nvSpPr>
          <p:cNvPr id="38" name="Text 36"/>
          <p:cNvSpPr/>
          <p:nvPr/>
        </p:nvSpPr>
        <p:spPr>
          <a:xfrm>
            <a:off x="11748611" y="4922877"/>
            <a:ext cx="185249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Provides outsourced supply-chain + logistics execution for retailers</a:t>
            </a:r>
            <a:endParaRPr lang="en-US" sz="1100" dirty="0"/>
          </a:p>
        </p:txBody>
      </p:sp>
      <p:sp>
        <p:nvSpPr>
          <p:cNvPr id="39" name="Text 37"/>
          <p:cNvSpPr/>
          <p:nvPr/>
        </p:nvSpPr>
        <p:spPr>
          <a:xfrm>
            <a:off x="881063" y="6101239"/>
            <a:ext cx="12868275" cy="229076"/>
          </a:xfrm>
          <a:prstGeom prst="rect">
            <a:avLst/>
          </a:prstGeom>
          <a:noFill/>
          <a:ln/>
        </p:spPr>
        <p:txBody>
          <a:bodyPr wrap="non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White spaces </a:t>
            </a:r>
            <a:endParaRPr lang="en-US" sz="1100" dirty="0"/>
          </a:p>
        </p:txBody>
      </p:sp>
      <p:sp>
        <p:nvSpPr>
          <p:cNvPr id="40" name="Text 38"/>
          <p:cNvSpPr/>
          <p:nvPr/>
        </p:nvSpPr>
        <p:spPr>
          <a:xfrm>
            <a:off x="881063" y="6491288"/>
            <a:ext cx="12868275" cy="229076"/>
          </a:xfrm>
          <a:prstGeom prst="rect">
            <a:avLst/>
          </a:prstGeom>
          <a:noFill/>
          <a:ln/>
        </p:spPr>
        <p:txBody>
          <a:bodyPr wrap="none" lIns="0" tIns="0" rIns="0" bIns="0" rtlCol="0" anchor="t"/>
          <a:lstStyle/>
          <a:p>
            <a:pPr marL="342900" indent="-342900" algn="l">
              <a:lnSpc>
                <a:spcPts val="1800"/>
              </a:lnSpc>
              <a:buSzPct val="100000"/>
              <a:buFont typeface="+mj-lt"/>
              <a:buAutoNum type="arabicPeriod"/>
            </a:pPr>
            <a:r>
              <a:rPr lang="en-US" sz="1100" dirty="0">
                <a:solidFill>
                  <a:srgbClr val="D7D4CC"/>
                </a:solidFill>
                <a:latin typeface="Raleway Medium" pitchFamily="34" charset="0"/>
                <a:ea typeface="Raleway Medium" pitchFamily="34" charset="-122"/>
                <a:cs typeface="Raleway Medium" pitchFamily="34" charset="-120"/>
              </a:rPr>
              <a:t>Revenue generating support voice agents - zendesk and Live person automate conversations, not revenue capture flows (upsell, warranty plans, OOS alternatives, save-the-sale offers)</a:t>
            </a:r>
            <a:endParaRPr lang="en-US" sz="1100" dirty="0"/>
          </a:p>
        </p:txBody>
      </p:sp>
      <p:sp>
        <p:nvSpPr>
          <p:cNvPr id="41" name="Text 39"/>
          <p:cNvSpPr/>
          <p:nvPr/>
        </p:nvSpPr>
        <p:spPr>
          <a:xfrm>
            <a:off x="881063" y="6770370"/>
            <a:ext cx="12868275" cy="458153"/>
          </a:xfrm>
          <a:prstGeom prst="rect">
            <a:avLst/>
          </a:prstGeom>
          <a:noFill/>
          <a:ln/>
        </p:spPr>
        <p:txBody>
          <a:bodyPr wrap="square" lIns="0" tIns="0" rIns="0" bIns="0" rtlCol="0" anchor="t"/>
          <a:lstStyle/>
          <a:p>
            <a:pPr marL="342900" indent="-342900" algn="l">
              <a:lnSpc>
                <a:spcPts val="1800"/>
              </a:lnSpc>
              <a:buSzPct val="100000"/>
              <a:buFont typeface="+mj-lt"/>
              <a:buAutoNum type="arabicPeriod" startAt="2"/>
            </a:pPr>
            <a:r>
              <a:rPr lang="en-US" sz="1100" dirty="0">
                <a:solidFill>
                  <a:srgbClr val="D7D4CC"/>
                </a:solidFill>
                <a:latin typeface="Raleway Medium" pitchFamily="34" charset="0"/>
                <a:ea typeface="Raleway Medium" pitchFamily="34" charset="-122"/>
                <a:cs typeface="Raleway Medium" pitchFamily="34" charset="-120"/>
              </a:rPr>
              <a:t>End-to-end complete autonomous agents - Existing tools (Blue Yonder, IBM Sterling) handle planning, not </a:t>
            </a:r>
            <a:r>
              <a:rPr lang="en-US" sz="1100" b="1" dirty="0">
                <a:solidFill>
                  <a:srgbClr val="D7D4CC"/>
                </a:solidFill>
                <a:latin typeface="Raleway Medium" pitchFamily="34" charset="0"/>
                <a:ea typeface="Raleway Medium" pitchFamily="34" charset="-122"/>
                <a:cs typeface="Raleway Medium" pitchFamily="34" charset="-120"/>
              </a:rPr>
              <a:t>real-time exception handling, an end-to-end agent that handles exceptions too not just planning</a:t>
            </a:r>
            <a:endParaRPr lang="en-US" sz="1100" dirty="0"/>
          </a:p>
        </p:txBody>
      </p:sp>
      <p:sp>
        <p:nvSpPr>
          <p:cNvPr id="42" name="Text 40"/>
          <p:cNvSpPr/>
          <p:nvPr/>
        </p:nvSpPr>
        <p:spPr>
          <a:xfrm>
            <a:off x="881063" y="7389495"/>
            <a:ext cx="12868275" cy="229076"/>
          </a:xfrm>
          <a:prstGeom prst="rect">
            <a:avLst/>
          </a:prstGeom>
          <a:noFill/>
          <a:ln/>
        </p:spPr>
        <p:txBody>
          <a:bodyPr wrap="none" lIns="0" tIns="0" rIns="0" bIns="0" rtlCol="0" anchor="t"/>
          <a:lstStyle/>
          <a:p>
            <a:pPr marL="0" indent="0" algn="l">
              <a:lnSpc>
                <a:spcPts val="1800"/>
              </a:lnSpc>
              <a:buNone/>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81063" y="861417"/>
            <a:ext cx="1590913" cy="198834"/>
          </a:xfrm>
          <a:prstGeom prst="rect">
            <a:avLst/>
          </a:prstGeom>
          <a:noFill/>
          <a:ln/>
        </p:spPr>
        <p:txBody>
          <a:bodyPr wrap="none" lIns="0" tIns="0" rIns="0" bIns="0" rtlCol="0" anchor="t"/>
          <a:lstStyle/>
          <a:p>
            <a:pPr marL="0" indent="0" algn="l">
              <a:lnSpc>
                <a:spcPts val="1550"/>
              </a:lnSpc>
              <a:buNone/>
            </a:pPr>
            <a:r>
              <a:rPr lang="en-US" sz="2000" b="1" dirty="0">
                <a:solidFill>
                  <a:srgbClr val="FFE14D"/>
                </a:solidFill>
                <a:latin typeface="Comfortaa Bold" pitchFamily="34" charset="0"/>
                <a:ea typeface="Comfortaa Bold" pitchFamily="34" charset="-122"/>
                <a:cs typeface="Comfortaa Bold" pitchFamily="34" charset="-120"/>
              </a:rPr>
              <a:t>Govt / Legal</a:t>
            </a:r>
            <a:endParaRPr lang="en-US" sz="2000" dirty="0"/>
          </a:p>
        </p:txBody>
      </p:sp>
      <p:sp>
        <p:nvSpPr>
          <p:cNvPr id="3" name="Shape 1"/>
          <p:cNvSpPr/>
          <p:nvPr/>
        </p:nvSpPr>
        <p:spPr>
          <a:xfrm>
            <a:off x="881063" y="1346597"/>
            <a:ext cx="12868275" cy="4844177"/>
          </a:xfrm>
          <a:prstGeom prst="roundRect">
            <a:avLst>
              <a:gd name="adj" fmla="val 4434"/>
            </a:avLst>
          </a:prstGeom>
          <a:noFill/>
          <a:ln w="7620">
            <a:solidFill>
              <a:srgbClr val="FFFFFF">
                <a:alpha val="24000"/>
              </a:srgbClr>
            </a:solidFill>
            <a:prstDash val="solid"/>
          </a:ln>
        </p:spPr>
        <p:txBody>
          <a:bodyPr/>
          <a:lstStyle/>
          <a:p>
            <a:endParaRPr lang="en-US"/>
          </a:p>
        </p:txBody>
      </p:sp>
      <p:sp>
        <p:nvSpPr>
          <p:cNvPr id="4" name="Shape 2"/>
          <p:cNvSpPr/>
          <p:nvPr/>
        </p:nvSpPr>
        <p:spPr>
          <a:xfrm>
            <a:off x="888683" y="1354217"/>
            <a:ext cx="12855535" cy="416004"/>
          </a:xfrm>
          <a:prstGeom prst="rect">
            <a:avLst/>
          </a:prstGeom>
          <a:solidFill>
            <a:srgbClr val="FFFFFF">
              <a:alpha val="4000"/>
            </a:srgbClr>
          </a:solidFill>
          <a:ln/>
        </p:spPr>
        <p:txBody>
          <a:bodyPr/>
          <a:lstStyle/>
          <a:p>
            <a:endParaRPr lang="en-US"/>
          </a:p>
        </p:txBody>
      </p:sp>
      <p:sp>
        <p:nvSpPr>
          <p:cNvPr id="5" name="Text 3"/>
          <p:cNvSpPr/>
          <p:nvPr/>
        </p:nvSpPr>
        <p:spPr>
          <a:xfrm>
            <a:off x="1032153" y="1447681"/>
            <a:ext cx="1852493" cy="229076"/>
          </a:xfrm>
          <a:prstGeom prst="rect">
            <a:avLst/>
          </a:prstGeom>
          <a:noFill/>
          <a:ln/>
        </p:spPr>
        <p:txBody>
          <a:bodyPr wrap="non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Application layer</a:t>
            </a:r>
            <a:endParaRPr lang="en-US" sz="1100" dirty="0"/>
          </a:p>
        </p:txBody>
      </p:sp>
      <p:sp>
        <p:nvSpPr>
          <p:cNvPr id="6" name="Text 4"/>
          <p:cNvSpPr/>
          <p:nvPr/>
        </p:nvSpPr>
        <p:spPr>
          <a:xfrm>
            <a:off x="3178493" y="1447681"/>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What it does (1-line)</a:t>
            </a:r>
            <a:endParaRPr lang="en-US" sz="1100" dirty="0"/>
          </a:p>
        </p:txBody>
      </p:sp>
      <p:sp>
        <p:nvSpPr>
          <p:cNvPr id="7" name="Text 5"/>
          <p:cNvSpPr/>
          <p:nvPr/>
        </p:nvSpPr>
        <p:spPr>
          <a:xfrm>
            <a:off x="5321022" y="1447681"/>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Infrastructure</a:t>
            </a:r>
            <a:endParaRPr lang="en-US" sz="1100" dirty="0"/>
          </a:p>
        </p:txBody>
      </p:sp>
      <p:sp>
        <p:nvSpPr>
          <p:cNvPr id="8" name="Text 6"/>
          <p:cNvSpPr/>
          <p:nvPr/>
        </p:nvSpPr>
        <p:spPr>
          <a:xfrm>
            <a:off x="7463552" y="1447681"/>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What it provides (1-line)</a:t>
            </a:r>
            <a:endParaRPr lang="en-US" sz="1100" dirty="0"/>
          </a:p>
        </p:txBody>
      </p:sp>
      <p:sp>
        <p:nvSpPr>
          <p:cNvPr id="9" name="Text 7"/>
          <p:cNvSpPr/>
          <p:nvPr/>
        </p:nvSpPr>
        <p:spPr>
          <a:xfrm>
            <a:off x="9606082" y="1447681"/>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Service Layer</a:t>
            </a:r>
            <a:endParaRPr lang="en-US" sz="1100" dirty="0"/>
          </a:p>
        </p:txBody>
      </p:sp>
      <p:sp>
        <p:nvSpPr>
          <p:cNvPr id="10" name="Text 8"/>
          <p:cNvSpPr/>
          <p:nvPr/>
        </p:nvSpPr>
        <p:spPr>
          <a:xfrm>
            <a:off x="11748611" y="1447681"/>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What it does (1-line)</a:t>
            </a:r>
            <a:endParaRPr lang="en-US" sz="1100" dirty="0"/>
          </a:p>
        </p:txBody>
      </p:sp>
      <p:sp>
        <p:nvSpPr>
          <p:cNvPr id="11" name="Shape 9"/>
          <p:cNvSpPr/>
          <p:nvPr/>
        </p:nvSpPr>
        <p:spPr>
          <a:xfrm>
            <a:off x="888683" y="1770221"/>
            <a:ext cx="12855535" cy="1103233"/>
          </a:xfrm>
          <a:prstGeom prst="rect">
            <a:avLst/>
          </a:prstGeom>
          <a:solidFill>
            <a:srgbClr val="000000">
              <a:alpha val="4000"/>
            </a:srgbClr>
          </a:solidFill>
          <a:ln/>
        </p:spPr>
        <p:txBody>
          <a:bodyPr/>
          <a:lstStyle/>
          <a:p>
            <a:endParaRPr lang="en-US"/>
          </a:p>
        </p:txBody>
      </p:sp>
      <p:sp>
        <p:nvSpPr>
          <p:cNvPr id="12" name="Text 10"/>
          <p:cNvSpPr/>
          <p:nvPr/>
        </p:nvSpPr>
        <p:spPr>
          <a:xfrm>
            <a:off x="1032153" y="1863685"/>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Harvey AI</a:t>
            </a:r>
            <a:endParaRPr lang="en-US" sz="1100" dirty="0"/>
          </a:p>
        </p:txBody>
      </p:sp>
      <p:sp>
        <p:nvSpPr>
          <p:cNvPr id="13" name="Text 11"/>
          <p:cNvSpPr/>
          <p:nvPr/>
        </p:nvSpPr>
        <p:spPr>
          <a:xfrm>
            <a:off x="3178493" y="1863685"/>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LLM-powered legal research and document drafting assistant for law firms and in-house counsel</a:t>
            </a:r>
            <a:endParaRPr lang="en-US" sz="1100" dirty="0"/>
          </a:p>
        </p:txBody>
      </p:sp>
      <p:sp>
        <p:nvSpPr>
          <p:cNvPr id="14" name="Text 12"/>
          <p:cNvSpPr/>
          <p:nvPr/>
        </p:nvSpPr>
        <p:spPr>
          <a:xfrm>
            <a:off x="5321022" y="1863685"/>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OpenAI APIs &amp; models</a:t>
            </a:r>
            <a:endParaRPr lang="en-US" sz="1100" dirty="0"/>
          </a:p>
        </p:txBody>
      </p:sp>
      <p:sp>
        <p:nvSpPr>
          <p:cNvPr id="15" name="Text 13"/>
          <p:cNvSpPr/>
          <p:nvPr/>
        </p:nvSpPr>
        <p:spPr>
          <a:xfrm>
            <a:off x="7463552" y="1863685"/>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Foundation models used for legal reasoning, drafting, summarization, and retrieval</a:t>
            </a:r>
            <a:endParaRPr lang="en-US" sz="1100" dirty="0"/>
          </a:p>
        </p:txBody>
      </p:sp>
      <p:sp>
        <p:nvSpPr>
          <p:cNvPr id="16" name="Text 14"/>
          <p:cNvSpPr/>
          <p:nvPr/>
        </p:nvSpPr>
        <p:spPr>
          <a:xfrm>
            <a:off x="9606082" y="1863685"/>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Odessy Case Management</a:t>
            </a:r>
            <a:endParaRPr lang="en-US" sz="1100" dirty="0"/>
          </a:p>
        </p:txBody>
      </p:sp>
      <p:sp>
        <p:nvSpPr>
          <p:cNvPr id="17" name="Text 15"/>
          <p:cNvSpPr/>
          <p:nvPr/>
        </p:nvSpPr>
        <p:spPr>
          <a:xfrm>
            <a:off x="11748611" y="1863685"/>
            <a:ext cx="185249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Court case + records workflow platform for state and federal justice systems</a:t>
            </a:r>
            <a:endParaRPr lang="en-US" sz="1100" dirty="0"/>
          </a:p>
        </p:txBody>
      </p:sp>
      <p:sp>
        <p:nvSpPr>
          <p:cNvPr id="18" name="Shape 16"/>
          <p:cNvSpPr/>
          <p:nvPr/>
        </p:nvSpPr>
        <p:spPr>
          <a:xfrm>
            <a:off x="888683" y="2873454"/>
            <a:ext cx="12855535" cy="874157"/>
          </a:xfrm>
          <a:prstGeom prst="rect">
            <a:avLst/>
          </a:prstGeom>
          <a:solidFill>
            <a:srgbClr val="FFFFFF">
              <a:alpha val="4000"/>
            </a:srgbClr>
          </a:solidFill>
          <a:ln/>
        </p:spPr>
        <p:txBody>
          <a:bodyPr/>
          <a:lstStyle/>
          <a:p>
            <a:endParaRPr lang="en-US"/>
          </a:p>
        </p:txBody>
      </p:sp>
      <p:sp>
        <p:nvSpPr>
          <p:cNvPr id="19" name="Text 17"/>
          <p:cNvSpPr/>
          <p:nvPr/>
        </p:nvSpPr>
        <p:spPr>
          <a:xfrm>
            <a:off x="1032153" y="2966918"/>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ROSS Intelligence</a:t>
            </a:r>
            <a:endParaRPr lang="en-US" sz="1100" dirty="0"/>
          </a:p>
        </p:txBody>
      </p:sp>
      <p:sp>
        <p:nvSpPr>
          <p:cNvPr id="20" name="Text 18"/>
          <p:cNvSpPr/>
          <p:nvPr/>
        </p:nvSpPr>
        <p:spPr>
          <a:xfrm>
            <a:off x="3178493" y="2966918"/>
            <a:ext cx="184868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AI legal search engine originally built on case law + natural language queries</a:t>
            </a:r>
            <a:endParaRPr lang="en-US" sz="1100" dirty="0"/>
          </a:p>
        </p:txBody>
      </p:sp>
      <p:sp>
        <p:nvSpPr>
          <p:cNvPr id="21" name="Text 19"/>
          <p:cNvSpPr/>
          <p:nvPr/>
        </p:nvSpPr>
        <p:spPr>
          <a:xfrm>
            <a:off x="5321022" y="2966918"/>
            <a:ext cx="1848683" cy="458153"/>
          </a:xfrm>
          <a:prstGeom prst="rect">
            <a:avLst/>
          </a:prstGeom>
          <a:noFill/>
          <a:ln/>
        </p:spPr>
        <p:txBody>
          <a:bodyPr wrap="squar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AWS (Control Tower, Bedrock)</a:t>
            </a:r>
            <a:endParaRPr lang="en-US" sz="1100" dirty="0"/>
          </a:p>
        </p:txBody>
      </p:sp>
      <p:sp>
        <p:nvSpPr>
          <p:cNvPr id="22" name="Text 20"/>
          <p:cNvSpPr/>
          <p:nvPr/>
        </p:nvSpPr>
        <p:spPr>
          <a:xfrm>
            <a:off x="7463552" y="2966918"/>
            <a:ext cx="184868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Cloud infra + managed LLM services for secure legal deployments</a:t>
            </a:r>
            <a:endParaRPr lang="en-US" sz="1100" dirty="0"/>
          </a:p>
        </p:txBody>
      </p:sp>
      <p:sp>
        <p:nvSpPr>
          <p:cNvPr id="23" name="Text 21"/>
          <p:cNvSpPr/>
          <p:nvPr/>
        </p:nvSpPr>
        <p:spPr>
          <a:xfrm>
            <a:off x="9606082" y="2966918"/>
            <a:ext cx="1848683" cy="458153"/>
          </a:xfrm>
          <a:prstGeom prst="rect">
            <a:avLst/>
          </a:prstGeom>
          <a:noFill/>
          <a:ln/>
        </p:spPr>
        <p:txBody>
          <a:bodyPr wrap="squar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Frontline Managed Services</a:t>
            </a:r>
            <a:endParaRPr lang="en-US" sz="1100" dirty="0"/>
          </a:p>
        </p:txBody>
      </p:sp>
      <p:sp>
        <p:nvSpPr>
          <p:cNvPr id="24" name="Text 22"/>
          <p:cNvSpPr/>
          <p:nvPr/>
        </p:nvSpPr>
        <p:spPr>
          <a:xfrm>
            <a:off x="11748611" y="2966918"/>
            <a:ext cx="1852493" cy="687229"/>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Outsourced legal ops: billing, IT, eDiscovery, and litigation support</a:t>
            </a:r>
            <a:endParaRPr lang="en-US" sz="1100" dirty="0"/>
          </a:p>
        </p:txBody>
      </p:sp>
      <p:sp>
        <p:nvSpPr>
          <p:cNvPr id="25" name="Shape 23"/>
          <p:cNvSpPr/>
          <p:nvPr/>
        </p:nvSpPr>
        <p:spPr>
          <a:xfrm>
            <a:off x="888683" y="3747611"/>
            <a:ext cx="12855535" cy="1103233"/>
          </a:xfrm>
          <a:prstGeom prst="rect">
            <a:avLst/>
          </a:prstGeom>
          <a:solidFill>
            <a:srgbClr val="000000">
              <a:alpha val="4000"/>
            </a:srgbClr>
          </a:solidFill>
          <a:ln/>
        </p:spPr>
        <p:txBody>
          <a:bodyPr/>
          <a:lstStyle/>
          <a:p>
            <a:endParaRPr lang="en-US"/>
          </a:p>
        </p:txBody>
      </p:sp>
      <p:sp>
        <p:nvSpPr>
          <p:cNvPr id="26" name="Text 24"/>
          <p:cNvSpPr/>
          <p:nvPr/>
        </p:nvSpPr>
        <p:spPr>
          <a:xfrm>
            <a:off x="1032153" y="3841075"/>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LEGALFLY</a:t>
            </a:r>
            <a:endParaRPr lang="en-US" sz="1100" dirty="0"/>
          </a:p>
        </p:txBody>
      </p:sp>
      <p:sp>
        <p:nvSpPr>
          <p:cNvPr id="27" name="Text 25"/>
          <p:cNvSpPr/>
          <p:nvPr/>
        </p:nvSpPr>
        <p:spPr>
          <a:xfrm>
            <a:off x="3178493" y="3841075"/>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AI platform for drafting, reviewing, and redlining legal contracts with clause-level suggestions</a:t>
            </a:r>
            <a:endParaRPr lang="en-US" sz="1100" dirty="0"/>
          </a:p>
        </p:txBody>
      </p:sp>
      <p:sp>
        <p:nvSpPr>
          <p:cNvPr id="28" name="Text 26"/>
          <p:cNvSpPr/>
          <p:nvPr/>
        </p:nvSpPr>
        <p:spPr>
          <a:xfrm>
            <a:off x="5321022" y="3841075"/>
            <a:ext cx="1848683" cy="458153"/>
          </a:xfrm>
          <a:prstGeom prst="rect">
            <a:avLst/>
          </a:prstGeom>
          <a:noFill/>
          <a:ln/>
        </p:spPr>
        <p:txBody>
          <a:bodyPr wrap="squar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Anthropic (Claude) APIs &amp; models</a:t>
            </a:r>
            <a:endParaRPr lang="en-US" sz="1100" dirty="0"/>
          </a:p>
        </p:txBody>
      </p:sp>
      <p:sp>
        <p:nvSpPr>
          <p:cNvPr id="29" name="Text 27"/>
          <p:cNvSpPr/>
          <p:nvPr/>
        </p:nvSpPr>
        <p:spPr>
          <a:xfrm>
            <a:off x="7463552" y="3841075"/>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Safe-tuned LLMs used for legal text reasoning and structured document outputs</a:t>
            </a:r>
            <a:endParaRPr lang="en-US" sz="1100" dirty="0"/>
          </a:p>
        </p:txBody>
      </p:sp>
      <p:sp>
        <p:nvSpPr>
          <p:cNvPr id="30" name="Text 28"/>
          <p:cNvSpPr/>
          <p:nvPr/>
        </p:nvSpPr>
        <p:spPr>
          <a:xfrm>
            <a:off x="9606082" y="3841075"/>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Guidehouse</a:t>
            </a:r>
            <a:endParaRPr lang="en-US" sz="1100" dirty="0"/>
          </a:p>
        </p:txBody>
      </p:sp>
      <p:sp>
        <p:nvSpPr>
          <p:cNvPr id="31" name="Text 29"/>
          <p:cNvSpPr/>
          <p:nvPr/>
        </p:nvSpPr>
        <p:spPr>
          <a:xfrm>
            <a:off x="11748611" y="3841075"/>
            <a:ext cx="185249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Gov + public sector consulting &amp; digital transformation services (incl. AI deployment)</a:t>
            </a:r>
            <a:endParaRPr lang="en-US" sz="1100" dirty="0"/>
          </a:p>
        </p:txBody>
      </p:sp>
      <p:sp>
        <p:nvSpPr>
          <p:cNvPr id="32" name="Shape 30"/>
          <p:cNvSpPr/>
          <p:nvPr/>
        </p:nvSpPr>
        <p:spPr>
          <a:xfrm>
            <a:off x="888683" y="4850844"/>
            <a:ext cx="12855535" cy="1332309"/>
          </a:xfrm>
          <a:prstGeom prst="rect">
            <a:avLst/>
          </a:prstGeom>
          <a:solidFill>
            <a:srgbClr val="FFFFFF">
              <a:alpha val="4000"/>
            </a:srgbClr>
          </a:solidFill>
          <a:ln/>
        </p:spPr>
        <p:txBody>
          <a:bodyPr/>
          <a:lstStyle/>
          <a:p>
            <a:endParaRPr lang="en-US"/>
          </a:p>
        </p:txBody>
      </p:sp>
      <p:sp>
        <p:nvSpPr>
          <p:cNvPr id="33" name="Text 31"/>
          <p:cNvSpPr/>
          <p:nvPr/>
        </p:nvSpPr>
        <p:spPr>
          <a:xfrm>
            <a:off x="1032153" y="4944308"/>
            <a:ext cx="185249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Consilio</a:t>
            </a:r>
            <a:endParaRPr lang="en-US" sz="1100" dirty="0"/>
          </a:p>
        </p:txBody>
      </p:sp>
      <p:sp>
        <p:nvSpPr>
          <p:cNvPr id="34" name="Text 32"/>
          <p:cNvSpPr/>
          <p:nvPr/>
        </p:nvSpPr>
        <p:spPr>
          <a:xfrm>
            <a:off x="3178493" y="4944308"/>
            <a:ext cx="1848683" cy="1145381"/>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eDiscovery, investigation, and litigation data management platform used by law firms + governments</a:t>
            </a:r>
            <a:endParaRPr lang="en-US" sz="1100" dirty="0"/>
          </a:p>
        </p:txBody>
      </p:sp>
      <p:sp>
        <p:nvSpPr>
          <p:cNvPr id="35" name="Text 33"/>
          <p:cNvSpPr/>
          <p:nvPr/>
        </p:nvSpPr>
        <p:spPr>
          <a:xfrm>
            <a:off x="5321022" y="4944308"/>
            <a:ext cx="1848683" cy="229076"/>
          </a:xfrm>
          <a:prstGeom prst="rect">
            <a:avLst/>
          </a:prstGeom>
          <a:noFill/>
          <a:ln/>
        </p:spPr>
        <p:txBody>
          <a:bodyPr wrap="none" lIns="0" tIns="0" rIns="0" bIns="0" rtlCol="0" anchor="t"/>
          <a:lstStyle/>
          <a:p>
            <a:pPr marL="0" indent="0" algn="l">
              <a:lnSpc>
                <a:spcPts val="1800"/>
              </a:lnSpc>
              <a:buNone/>
            </a:pPr>
            <a:r>
              <a:rPr lang="en-US" sz="1100" b="1" dirty="0">
                <a:solidFill>
                  <a:srgbClr val="D7D4CC"/>
                </a:solidFill>
                <a:latin typeface="Raleway Medium" pitchFamily="34" charset="0"/>
                <a:ea typeface="Raleway Medium" pitchFamily="34" charset="-122"/>
                <a:cs typeface="Raleway Medium" pitchFamily="34" charset="-120"/>
              </a:rPr>
              <a:t>USAi.gov</a:t>
            </a:r>
            <a:endParaRPr lang="en-US" sz="1100" dirty="0"/>
          </a:p>
        </p:txBody>
      </p:sp>
      <p:sp>
        <p:nvSpPr>
          <p:cNvPr id="36" name="Text 34"/>
          <p:cNvSpPr/>
          <p:nvPr/>
        </p:nvSpPr>
        <p:spPr>
          <a:xfrm>
            <a:off x="7463552" y="4944308"/>
            <a:ext cx="1848683" cy="916305"/>
          </a:xfrm>
          <a:prstGeom prst="rect">
            <a:avLst/>
          </a:prstGeom>
          <a:noFill/>
          <a:ln/>
        </p:spPr>
        <p:txBody>
          <a:bodyPr wrap="square" lIns="0" tIns="0" rIns="0" bIns="0" rtlCol="0" anchor="t"/>
          <a:lstStyle/>
          <a:p>
            <a:pPr marL="0" indent="0" algn="l">
              <a:lnSpc>
                <a:spcPts val="1800"/>
              </a:lnSpc>
              <a:buNone/>
            </a:pPr>
            <a:r>
              <a:rPr lang="en-US" sz="1100" dirty="0">
                <a:solidFill>
                  <a:srgbClr val="D7D4CC"/>
                </a:solidFill>
                <a:latin typeface="Raleway Medium" pitchFamily="34" charset="0"/>
                <a:ea typeface="Raleway Medium" pitchFamily="34" charset="-122"/>
                <a:cs typeface="Raleway Medium" pitchFamily="34" charset="-120"/>
              </a:rPr>
              <a:t>U.S. government AI cloud + secure compute environments for federal use cases</a:t>
            </a:r>
            <a:endParaRPr lang="en-US" sz="1100" dirty="0"/>
          </a:p>
        </p:txBody>
      </p:sp>
      <p:sp>
        <p:nvSpPr>
          <p:cNvPr id="37" name="Text 35"/>
          <p:cNvSpPr/>
          <p:nvPr/>
        </p:nvSpPr>
        <p:spPr>
          <a:xfrm>
            <a:off x="9606082" y="4944308"/>
            <a:ext cx="1848683" cy="229076"/>
          </a:xfrm>
          <a:prstGeom prst="rect">
            <a:avLst/>
          </a:prstGeom>
          <a:noFill/>
          <a:ln/>
        </p:spPr>
        <p:txBody>
          <a:bodyPr wrap="none" lIns="0" tIns="0" rIns="0" bIns="0" rtlCol="0" anchor="t"/>
          <a:lstStyle/>
          <a:p>
            <a:pPr marL="0" indent="0" algn="l">
              <a:lnSpc>
                <a:spcPts val="1800"/>
              </a:lnSpc>
              <a:buNone/>
            </a:pPr>
            <a:r>
              <a:rPr lang="en-US" sz="1100" i="1" dirty="0">
                <a:solidFill>
                  <a:srgbClr val="D7D4CC"/>
                </a:solidFill>
                <a:latin typeface="Raleway Medium" pitchFamily="34" charset="0"/>
                <a:ea typeface="Raleway Medium" pitchFamily="34" charset="-122"/>
                <a:cs typeface="Raleway Medium" pitchFamily="34" charset="-120"/>
              </a:rPr>
              <a:t>(empty slot)</a:t>
            </a:r>
            <a:endParaRPr lang="en-US" sz="1100" dirty="0"/>
          </a:p>
        </p:txBody>
      </p:sp>
      <p:sp>
        <p:nvSpPr>
          <p:cNvPr id="38" name="Text 36"/>
          <p:cNvSpPr/>
          <p:nvPr/>
        </p:nvSpPr>
        <p:spPr>
          <a:xfrm>
            <a:off x="11748611" y="4944308"/>
            <a:ext cx="1852493" cy="687229"/>
          </a:xfrm>
          <a:prstGeom prst="rect">
            <a:avLst/>
          </a:prstGeom>
          <a:noFill/>
          <a:ln/>
        </p:spPr>
        <p:txBody>
          <a:bodyPr wrap="square" lIns="0" tIns="0" rIns="0" bIns="0" rtlCol="0" anchor="t"/>
          <a:lstStyle/>
          <a:p>
            <a:pPr marL="0" indent="0" algn="l">
              <a:lnSpc>
                <a:spcPts val="1800"/>
              </a:lnSpc>
              <a:buNone/>
            </a:pPr>
            <a:r>
              <a:rPr lang="en-US" sz="1100" i="1" dirty="0">
                <a:solidFill>
                  <a:srgbClr val="D7D4CC"/>
                </a:solidFill>
                <a:latin typeface="Raleway Medium" pitchFamily="34" charset="0"/>
                <a:ea typeface="Raleway Medium" pitchFamily="34" charset="-122"/>
                <a:cs typeface="Raleway Medium" pitchFamily="34" charset="-120"/>
              </a:rPr>
              <a:t>(Can support Fed/state AI adoption, but no single vendor listed yet)</a:t>
            </a:r>
            <a:endParaRPr lang="en-US" sz="1100" dirty="0"/>
          </a:p>
        </p:txBody>
      </p:sp>
      <p:sp>
        <p:nvSpPr>
          <p:cNvPr id="39" name="Text 37"/>
          <p:cNvSpPr/>
          <p:nvPr/>
        </p:nvSpPr>
        <p:spPr>
          <a:xfrm>
            <a:off x="881063" y="6351746"/>
            <a:ext cx="12868275" cy="229076"/>
          </a:xfrm>
          <a:prstGeom prst="rect">
            <a:avLst/>
          </a:prstGeom>
          <a:noFill/>
          <a:ln/>
        </p:spPr>
        <p:txBody>
          <a:bodyPr wrap="none" lIns="0" tIns="0" rIns="0" bIns="0" rtlCol="0" anchor="t"/>
          <a:lstStyle/>
          <a:p>
            <a:pPr algn="l">
              <a:lnSpc>
                <a:spcPts val="1800"/>
              </a:lnSpc>
              <a:buSzPct val="100000"/>
            </a:pPr>
            <a:r>
              <a:rPr lang="en-US" sz="1100" dirty="0">
                <a:solidFill>
                  <a:srgbClr val="D7D4CC"/>
                </a:solidFill>
                <a:latin typeface="Raleway Medium" pitchFamily="34" charset="0"/>
                <a:ea typeface="Raleway Medium" pitchFamily="34" charset="-122"/>
                <a:cs typeface="Raleway Medium" pitchFamily="34" charset="-120"/>
              </a:rPr>
              <a:t>White spaces</a:t>
            </a:r>
          </a:p>
          <a:p>
            <a:pPr marL="342900" indent="-342900" algn="l">
              <a:lnSpc>
                <a:spcPts val="1800"/>
              </a:lnSpc>
              <a:buSzPct val="100000"/>
              <a:buFont typeface="+mj-lt"/>
              <a:buAutoNum type="arabicPeriod"/>
            </a:pPr>
            <a:r>
              <a:rPr lang="en-US" sz="1100" dirty="0">
                <a:solidFill>
                  <a:srgbClr val="D7D4CC"/>
                </a:solidFill>
                <a:latin typeface="Raleway Medium" pitchFamily="34" charset="0"/>
                <a:ea typeface="Raleway Medium" pitchFamily="34" charset="-122"/>
                <a:cs typeface="Raleway Medium" pitchFamily="34" charset="-120"/>
              </a:rPr>
              <a:t>Fully autonomous governmental worker (SNAP benefit, Case workers etc.) - Due to federal cuts, Great opportunity to reduce caseloads for workers using Agents'</a:t>
            </a:r>
            <a:endParaRPr lang="en-US" sz="1100" dirty="0"/>
          </a:p>
        </p:txBody>
      </p:sp>
      <p:sp>
        <p:nvSpPr>
          <p:cNvPr id="40" name="Text 38"/>
          <p:cNvSpPr/>
          <p:nvPr/>
        </p:nvSpPr>
        <p:spPr>
          <a:xfrm>
            <a:off x="875943" y="6941354"/>
            <a:ext cx="12868275" cy="229076"/>
          </a:xfrm>
          <a:prstGeom prst="rect">
            <a:avLst/>
          </a:prstGeom>
          <a:noFill/>
          <a:ln/>
        </p:spPr>
        <p:txBody>
          <a:bodyPr wrap="none" lIns="0" tIns="0" rIns="0" bIns="0" rtlCol="0" anchor="t"/>
          <a:lstStyle/>
          <a:p>
            <a:pPr marL="342900" indent="-342900" algn="l">
              <a:lnSpc>
                <a:spcPts val="1800"/>
              </a:lnSpc>
              <a:buSzPct val="100000"/>
              <a:buFont typeface="+mj-lt"/>
              <a:buAutoNum type="arabicPeriod" startAt="2"/>
            </a:pPr>
            <a:r>
              <a:rPr lang="en-US" sz="1100" dirty="0">
                <a:solidFill>
                  <a:srgbClr val="D7D4CC"/>
                </a:solidFill>
                <a:latin typeface="Raleway Medium" pitchFamily="34" charset="0"/>
                <a:ea typeface="Raleway Medium" pitchFamily="34" charset="-122"/>
                <a:cs typeface="Raleway Medium" pitchFamily="34" charset="-120"/>
              </a:rPr>
              <a:t>Public-sector Safe-AI Ops Layer/Toolkit - No standardized toolkit that allows LLM agents to operate/be built across secure federal systems</a:t>
            </a:r>
            <a:endParaRPr lang="en-US" sz="1100" dirty="0"/>
          </a:p>
        </p:txBody>
      </p:sp>
      <p:sp>
        <p:nvSpPr>
          <p:cNvPr id="41" name="Text 39"/>
          <p:cNvSpPr/>
          <p:nvPr/>
        </p:nvSpPr>
        <p:spPr>
          <a:xfrm>
            <a:off x="867500" y="7294007"/>
            <a:ext cx="12868275" cy="458153"/>
          </a:xfrm>
          <a:prstGeom prst="rect">
            <a:avLst/>
          </a:prstGeom>
          <a:noFill/>
          <a:ln/>
        </p:spPr>
        <p:txBody>
          <a:bodyPr wrap="square" lIns="0" tIns="0" rIns="0" bIns="0" rtlCol="0" anchor="t"/>
          <a:lstStyle/>
          <a:p>
            <a:pPr marL="342900" indent="-342900" algn="l">
              <a:lnSpc>
                <a:spcPts val="1800"/>
              </a:lnSpc>
              <a:buSzPct val="100000"/>
              <a:buFont typeface="+mj-lt"/>
              <a:buAutoNum type="arabicPeriod" startAt="3"/>
            </a:pPr>
            <a:r>
              <a:rPr lang="en-US" sz="1100" dirty="0">
                <a:solidFill>
                  <a:srgbClr val="D7D4CC"/>
                </a:solidFill>
                <a:latin typeface="Raleway Medium" pitchFamily="34" charset="0"/>
                <a:ea typeface="Raleway Medium" pitchFamily="34" charset="-122"/>
                <a:cs typeface="Raleway Medium" pitchFamily="34" charset="-120"/>
              </a:rPr>
              <a:t>Citizen to agency Agents -Most gov chatbots today are FAQ wrappers. No agent exists that can </a:t>
            </a:r>
            <a:r>
              <a:rPr lang="en-US" sz="1100" b="1" dirty="0">
                <a:solidFill>
                  <a:srgbClr val="D7D4CC"/>
                </a:solidFill>
                <a:latin typeface="Raleway Medium" pitchFamily="34" charset="0"/>
                <a:ea typeface="Raleway Medium" pitchFamily="34" charset="-122"/>
                <a:cs typeface="Raleway Medium" pitchFamily="34" charset="-120"/>
              </a:rPr>
              <a:t>complete the outcome</a:t>
            </a:r>
            <a:r>
              <a:rPr lang="en-US" sz="1100" dirty="0">
                <a:solidFill>
                  <a:srgbClr val="D7D4CC"/>
                </a:solidFill>
                <a:latin typeface="Raleway Medium" pitchFamily="34" charset="0"/>
                <a:ea typeface="Raleway Medium" pitchFamily="34" charset="-122"/>
                <a:cs typeface="Raleway Medium" pitchFamily="34" charset="-120"/>
              </a:rPr>
              <a:t>:file unemployment → check eligibility → fill missing docs → request corrections → submit → track decision → appeal if denied.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17101" y="576382"/>
            <a:ext cx="5718929" cy="278606"/>
          </a:xfrm>
          <a:prstGeom prst="rect">
            <a:avLst/>
          </a:prstGeom>
          <a:noFill/>
          <a:ln/>
        </p:spPr>
        <p:txBody>
          <a:bodyPr wrap="none" lIns="0" tIns="0" rIns="0" bIns="0" rtlCol="0" anchor="t"/>
          <a:lstStyle/>
          <a:p>
            <a:pPr marL="0" indent="0" algn="l">
              <a:lnSpc>
                <a:spcPts val="2150"/>
              </a:lnSpc>
              <a:buNone/>
            </a:pPr>
            <a:r>
              <a:rPr lang="en-US" sz="2800" b="1" dirty="0">
                <a:solidFill>
                  <a:srgbClr val="FFE14D"/>
                </a:solidFill>
                <a:ea typeface="Comfortaa Bold" pitchFamily="34" charset="-122"/>
                <a:cs typeface="Comfortaa Bold" pitchFamily="34" charset="-120"/>
              </a:rPr>
              <a:t>Investment Thesis: Government / Legal Agentic AI</a:t>
            </a:r>
            <a:endParaRPr lang="en-US" sz="2800" dirty="0"/>
          </a:p>
        </p:txBody>
      </p:sp>
      <p:sp>
        <p:nvSpPr>
          <p:cNvPr id="3" name="Shape 1"/>
          <p:cNvSpPr/>
          <p:nvPr/>
        </p:nvSpPr>
        <p:spPr>
          <a:xfrm>
            <a:off x="617101" y="1055489"/>
            <a:ext cx="13396198" cy="989171"/>
          </a:xfrm>
          <a:prstGeom prst="roundRect">
            <a:avLst>
              <a:gd name="adj" fmla="val 15209"/>
            </a:avLst>
          </a:prstGeom>
          <a:solidFill>
            <a:srgbClr val="46464A"/>
          </a:solidFill>
          <a:ln/>
        </p:spPr>
        <p:txBody>
          <a:bodyPr/>
          <a:lstStyle/>
          <a:p>
            <a:endParaRPr lang="en-US" sz="1200"/>
          </a:p>
        </p:txBody>
      </p:sp>
      <p:sp>
        <p:nvSpPr>
          <p:cNvPr id="4" name="Shape 2"/>
          <p:cNvSpPr/>
          <p:nvPr/>
        </p:nvSpPr>
        <p:spPr>
          <a:xfrm>
            <a:off x="717352" y="1155740"/>
            <a:ext cx="300871" cy="300871"/>
          </a:xfrm>
          <a:prstGeom prst="roundRect">
            <a:avLst>
              <a:gd name="adj" fmla="val 30388723"/>
            </a:avLst>
          </a:prstGeom>
          <a:solidFill>
            <a:srgbClr val="FFE14D"/>
          </a:solidFill>
          <a:ln/>
        </p:spPr>
        <p:txBody>
          <a:bodyPr/>
          <a:lstStyle/>
          <a:p>
            <a:endParaRPr lang="en-US" sz="120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100" y="1238488"/>
            <a:ext cx="135374" cy="135374"/>
          </a:xfrm>
          <a:prstGeom prst="rect">
            <a:avLst/>
          </a:prstGeom>
        </p:spPr>
      </p:pic>
      <p:sp>
        <p:nvSpPr>
          <p:cNvPr id="6" name="Text 3"/>
          <p:cNvSpPr/>
          <p:nvPr/>
        </p:nvSpPr>
        <p:spPr>
          <a:xfrm>
            <a:off x="717352" y="1556861"/>
            <a:ext cx="4556522" cy="167045"/>
          </a:xfrm>
          <a:prstGeom prst="rect">
            <a:avLst/>
          </a:prstGeom>
          <a:noFill/>
          <a:ln/>
        </p:spPr>
        <p:txBody>
          <a:bodyPr wrap="none" lIns="0" tIns="0" rIns="0" bIns="0" rtlCol="0" anchor="t"/>
          <a:lstStyle/>
          <a:p>
            <a:pPr marL="0" indent="0" algn="l">
              <a:lnSpc>
                <a:spcPts val="1300"/>
              </a:lnSpc>
              <a:buNone/>
            </a:pPr>
            <a:r>
              <a:rPr lang="en-US" sz="1200" b="1" dirty="0">
                <a:solidFill>
                  <a:srgbClr val="D7D4CC"/>
                </a:solidFill>
                <a:ea typeface="Comfortaa Bold" pitchFamily="34" charset="-122"/>
                <a:cs typeface="Comfortaa Bold" pitchFamily="34" charset="-120"/>
              </a:rPr>
              <a:t>Primary Vertical Recommendation: Government / Legal Agentic AI</a:t>
            </a:r>
            <a:endParaRPr lang="en-US" sz="1200" dirty="0"/>
          </a:p>
        </p:txBody>
      </p:sp>
      <p:sp>
        <p:nvSpPr>
          <p:cNvPr id="7" name="Text 4"/>
          <p:cNvSpPr/>
          <p:nvPr/>
        </p:nvSpPr>
        <p:spPr>
          <a:xfrm>
            <a:off x="717352" y="1784033"/>
            <a:ext cx="13195697"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A high-potential sector representing a significant opportunity for disruptive innovation.</a:t>
            </a:r>
            <a:endParaRPr lang="en-US" sz="1200" dirty="0"/>
          </a:p>
        </p:txBody>
      </p:sp>
      <p:sp>
        <p:nvSpPr>
          <p:cNvPr id="8" name="Shape 5"/>
          <p:cNvSpPr/>
          <p:nvPr/>
        </p:nvSpPr>
        <p:spPr>
          <a:xfrm>
            <a:off x="617101" y="2157413"/>
            <a:ext cx="6647974" cy="1089301"/>
          </a:xfrm>
          <a:prstGeom prst="roundRect">
            <a:avLst>
              <a:gd name="adj" fmla="val 15894"/>
            </a:avLst>
          </a:prstGeom>
          <a:solidFill>
            <a:srgbClr val="27272B"/>
          </a:solidFill>
          <a:ln w="15240">
            <a:solidFill>
              <a:srgbClr val="5F5F63"/>
            </a:solidFill>
            <a:prstDash val="solid"/>
          </a:ln>
        </p:spPr>
        <p:txBody>
          <a:bodyPr/>
          <a:lstStyle/>
          <a:p>
            <a:endParaRPr lang="en-US" sz="1200"/>
          </a:p>
        </p:txBody>
      </p:sp>
      <p:sp>
        <p:nvSpPr>
          <p:cNvPr id="9" name="Text 6"/>
          <p:cNvSpPr/>
          <p:nvPr/>
        </p:nvSpPr>
        <p:spPr>
          <a:xfrm>
            <a:off x="732592" y="2272903"/>
            <a:ext cx="1165860" cy="139303"/>
          </a:xfrm>
          <a:prstGeom prst="rect">
            <a:avLst/>
          </a:prstGeom>
          <a:noFill/>
          <a:ln/>
        </p:spPr>
        <p:txBody>
          <a:bodyPr wrap="none" lIns="0" tIns="0" rIns="0" bIns="0" rtlCol="0" anchor="t"/>
          <a:lstStyle/>
          <a:p>
            <a:pPr marL="0" indent="0" algn="l">
              <a:lnSpc>
                <a:spcPts val="1050"/>
              </a:lnSpc>
              <a:buNone/>
            </a:pPr>
            <a:r>
              <a:rPr lang="en-US" sz="1200" b="1" dirty="0">
                <a:solidFill>
                  <a:srgbClr val="D7D4CC"/>
                </a:solidFill>
                <a:ea typeface="Comfortaa Bold" pitchFamily="34" charset="-122"/>
                <a:cs typeface="Comfortaa Bold" pitchFamily="34" charset="-120"/>
              </a:rPr>
              <a:t>Market Opportunity</a:t>
            </a:r>
            <a:endParaRPr lang="en-US" sz="1200" dirty="0"/>
          </a:p>
        </p:txBody>
      </p:sp>
      <p:sp>
        <p:nvSpPr>
          <p:cNvPr id="10" name="Text 7"/>
          <p:cNvSpPr/>
          <p:nvPr/>
        </p:nvSpPr>
        <p:spPr>
          <a:xfrm>
            <a:off x="732592" y="2472333"/>
            <a:ext cx="5883965" cy="255686"/>
          </a:xfrm>
          <a:prstGeom prst="rect">
            <a:avLst/>
          </a:prstGeom>
          <a:noFill/>
          <a:ln/>
        </p:spPr>
        <p:txBody>
          <a:bodyPr wrap="none" lIns="0" tIns="0" rIns="0" bIns="0" rtlCol="0" anchor="t"/>
          <a:lstStyle/>
          <a:p>
            <a:pPr marL="342900" indent="-342900" algn="l">
              <a:lnSpc>
                <a:spcPts val="1250"/>
              </a:lnSpc>
              <a:buSzPct val="100000"/>
              <a:buChar char="•"/>
            </a:pPr>
            <a:r>
              <a:rPr lang="en-US" sz="1200" b="1" dirty="0">
                <a:solidFill>
                  <a:srgbClr val="D7D4CC"/>
                </a:solidFill>
                <a:ea typeface="Raleway Medium" pitchFamily="34" charset="-122"/>
                <a:cs typeface="Raleway Medium" pitchFamily="34" charset="-120"/>
              </a:rPr>
              <a:t>~$3B current TAM with &lt;5% adoption</a:t>
            </a:r>
            <a:r>
              <a:rPr lang="en-US" sz="1200" dirty="0">
                <a:solidFill>
                  <a:srgbClr val="D7D4CC"/>
                </a:solidFill>
                <a:ea typeface="Raleway Medium" pitchFamily="34" charset="-122"/>
                <a:cs typeface="Raleway Medium" pitchFamily="34" charset="-120"/>
              </a:rPr>
              <a:t>, representing one of the few remaining </a:t>
            </a:r>
            <a:r>
              <a:rPr lang="en-US" sz="1200" i="1" dirty="0">
                <a:solidFill>
                  <a:srgbClr val="D7D4CC"/>
                </a:solidFill>
                <a:ea typeface="Raleway Medium" pitchFamily="34" charset="-122"/>
                <a:cs typeface="Raleway Medium" pitchFamily="34" charset="-120"/>
              </a:rPr>
              <a:t>true greenfield</a:t>
            </a:r>
            <a:r>
              <a:rPr lang="en-US" sz="1200" dirty="0">
                <a:solidFill>
                  <a:srgbClr val="D7D4CC"/>
                </a:solidFill>
                <a:ea typeface="Raleway Medium" pitchFamily="34" charset="-122"/>
                <a:cs typeface="Raleway Medium" pitchFamily="34" charset="-120"/>
              </a:rPr>
              <a:t> </a:t>
            </a:r>
          </a:p>
          <a:p>
            <a:pPr algn="l">
              <a:lnSpc>
                <a:spcPts val="1250"/>
              </a:lnSpc>
              <a:buSzPct val="100000"/>
            </a:pPr>
            <a:r>
              <a:rPr lang="en-US" sz="1200" dirty="0">
                <a:solidFill>
                  <a:srgbClr val="D7D4CC"/>
                </a:solidFill>
                <a:ea typeface="Raleway Medium" pitchFamily="34" charset="-122"/>
                <a:cs typeface="Raleway Medium" pitchFamily="34" charset="-120"/>
              </a:rPr>
              <a:t>           enterprise automation markets.</a:t>
            </a:r>
            <a:endParaRPr lang="en-US" sz="1200" dirty="0"/>
          </a:p>
        </p:txBody>
      </p:sp>
      <p:sp>
        <p:nvSpPr>
          <p:cNvPr id="11" name="Text 8"/>
          <p:cNvSpPr/>
          <p:nvPr/>
        </p:nvSpPr>
        <p:spPr>
          <a:xfrm>
            <a:off x="732592" y="2846949"/>
            <a:ext cx="6416993" cy="320754"/>
          </a:xfrm>
          <a:prstGeom prst="rect">
            <a:avLst/>
          </a:prstGeom>
          <a:noFill/>
          <a:ln/>
        </p:spPr>
        <p:txBody>
          <a:bodyPr wrap="square" lIns="0" tIns="0" rIns="0" bIns="0" rtlCol="0" anchor="t"/>
          <a:lstStyle/>
          <a:p>
            <a:pPr marL="342900" indent="-342900" algn="l">
              <a:lnSpc>
                <a:spcPts val="1250"/>
              </a:lnSpc>
              <a:buSzPct val="100000"/>
              <a:buChar char="•"/>
            </a:pPr>
            <a:r>
              <a:rPr lang="en-US" sz="1200" dirty="0">
                <a:solidFill>
                  <a:srgbClr val="D7D4CC"/>
                </a:solidFill>
                <a:ea typeface="Raleway Medium" pitchFamily="34" charset="-122"/>
                <a:cs typeface="Raleway Medium" pitchFamily="34" charset="-120"/>
              </a:rPr>
              <a:t>Legal and government workflows are still dominated by manual document handling, email chains, and outdated case systems — ideal for multi-step agentic automation.</a:t>
            </a:r>
            <a:endParaRPr lang="en-US" sz="1200" dirty="0"/>
          </a:p>
        </p:txBody>
      </p:sp>
      <p:sp>
        <p:nvSpPr>
          <p:cNvPr id="12" name="Shape 9"/>
          <p:cNvSpPr/>
          <p:nvPr/>
        </p:nvSpPr>
        <p:spPr>
          <a:xfrm>
            <a:off x="7365325" y="2157413"/>
            <a:ext cx="6647974" cy="1174313"/>
          </a:xfrm>
          <a:prstGeom prst="roundRect">
            <a:avLst>
              <a:gd name="adj" fmla="val 15894"/>
            </a:avLst>
          </a:prstGeom>
          <a:solidFill>
            <a:srgbClr val="27272B"/>
          </a:solidFill>
          <a:ln w="15240">
            <a:solidFill>
              <a:srgbClr val="5F5F63"/>
            </a:solidFill>
            <a:prstDash val="solid"/>
          </a:ln>
        </p:spPr>
        <p:txBody>
          <a:bodyPr/>
          <a:lstStyle/>
          <a:p>
            <a:endParaRPr lang="en-US" sz="1200"/>
          </a:p>
        </p:txBody>
      </p:sp>
      <p:sp>
        <p:nvSpPr>
          <p:cNvPr id="13" name="Text 10"/>
          <p:cNvSpPr/>
          <p:nvPr/>
        </p:nvSpPr>
        <p:spPr>
          <a:xfrm>
            <a:off x="7480816" y="2272903"/>
            <a:ext cx="1411367" cy="139303"/>
          </a:xfrm>
          <a:prstGeom prst="rect">
            <a:avLst/>
          </a:prstGeom>
          <a:noFill/>
          <a:ln/>
        </p:spPr>
        <p:txBody>
          <a:bodyPr wrap="none" lIns="0" tIns="0" rIns="0" bIns="0" rtlCol="0" anchor="t"/>
          <a:lstStyle/>
          <a:p>
            <a:pPr marL="0" indent="0" algn="l">
              <a:lnSpc>
                <a:spcPts val="1050"/>
              </a:lnSpc>
              <a:buNone/>
            </a:pPr>
            <a:r>
              <a:rPr lang="en-US" sz="1200" b="1" dirty="0">
                <a:solidFill>
                  <a:srgbClr val="D7D4CC"/>
                </a:solidFill>
                <a:ea typeface="Comfortaa Bold" pitchFamily="34" charset="-122"/>
                <a:cs typeface="Comfortaa Bold" pitchFamily="34" charset="-120"/>
              </a:rPr>
              <a:t>Competitive Advantages</a:t>
            </a:r>
            <a:endParaRPr lang="en-US" sz="1200" dirty="0"/>
          </a:p>
        </p:txBody>
      </p:sp>
      <p:sp>
        <p:nvSpPr>
          <p:cNvPr id="14" name="Text 11"/>
          <p:cNvSpPr/>
          <p:nvPr/>
        </p:nvSpPr>
        <p:spPr>
          <a:xfrm>
            <a:off x="7480816" y="2472333"/>
            <a:ext cx="6416993" cy="320754"/>
          </a:xfrm>
          <a:prstGeom prst="rect">
            <a:avLst/>
          </a:prstGeom>
          <a:noFill/>
          <a:ln/>
        </p:spPr>
        <p:txBody>
          <a:bodyPr wrap="square" lIns="0" tIns="0" rIns="0" bIns="0" rtlCol="0" anchor="t"/>
          <a:lstStyle/>
          <a:p>
            <a:pPr marL="342900" indent="-342900" algn="l">
              <a:lnSpc>
                <a:spcPts val="1250"/>
              </a:lnSpc>
              <a:buSzPct val="100000"/>
              <a:buChar char="•"/>
            </a:pPr>
            <a:r>
              <a:rPr lang="en-US" sz="1200" b="1" dirty="0">
                <a:solidFill>
                  <a:srgbClr val="D7D4CC"/>
                </a:solidFill>
                <a:ea typeface="Raleway Medium" pitchFamily="34" charset="-122"/>
                <a:cs typeface="Raleway Medium" pitchFamily="34" charset="-120"/>
              </a:rPr>
              <a:t>Structural defensibility:</a:t>
            </a:r>
            <a:r>
              <a:rPr lang="en-US" sz="1200" dirty="0">
                <a:solidFill>
                  <a:srgbClr val="D7D4CC"/>
                </a:solidFill>
                <a:ea typeface="Raleway Medium" pitchFamily="34" charset="-122"/>
                <a:cs typeface="Raleway Medium" pitchFamily="34" charset="-120"/>
              </a:rPr>
              <a:t> any vendor operating in this space must meet FedRAMP, CJIS, or state-level compliance, raising barriers for generic AI players.</a:t>
            </a:r>
            <a:endParaRPr lang="en-US" sz="1200" dirty="0"/>
          </a:p>
        </p:txBody>
      </p:sp>
      <p:sp>
        <p:nvSpPr>
          <p:cNvPr id="15" name="Text 12"/>
          <p:cNvSpPr/>
          <p:nvPr/>
        </p:nvSpPr>
        <p:spPr>
          <a:xfrm>
            <a:off x="7480816" y="2828092"/>
            <a:ext cx="6416993" cy="160377"/>
          </a:xfrm>
          <a:prstGeom prst="rect">
            <a:avLst/>
          </a:prstGeom>
          <a:noFill/>
          <a:ln/>
        </p:spPr>
        <p:txBody>
          <a:bodyPr wrap="none" lIns="0" tIns="0" rIns="0" bIns="0" rtlCol="0" anchor="t"/>
          <a:lstStyle/>
          <a:p>
            <a:pPr marL="342900" indent="-342900" algn="l">
              <a:lnSpc>
                <a:spcPts val="1250"/>
              </a:lnSpc>
              <a:buSzPct val="100000"/>
              <a:buChar char="•"/>
            </a:pPr>
            <a:r>
              <a:rPr lang="en-US" sz="1200" dirty="0">
                <a:solidFill>
                  <a:srgbClr val="D7D4CC"/>
                </a:solidFill>
                <a:ea typeface="Raleway Medium" pitchFamily="34" charset="-122"/>
                <a:cs typeface="Raleway Medium" pitchFamily="34" charset="-120"/>
              </a:rPr>
              <a:t>Market lacks a modern workflow execution layer — incumbents focus on document search, </a:t>
            </a:r>
          </a:p>
          <a:p>
            <a:pPr algn="l">
              <a:lnSpc>
                <a:spcPts val="1250"/>
              </a:lnSpc>
              <a:buSzPct val="100000"/>
            </a:pPr>
            <a:r>
              <a:rPr lang="en-US" sz="1200" dirty="0">
                <a:solidFill>
                  <a:srgbClr val="D7D4CC"/>
                </a:solidFill>
                <a:ea typeface="Raleway Medium" pitchFamily="34" charset="-122"/>
                <a:cs typeface="Raleway Medium" pitchFamily="34" charset="-120"/>
              </a:rPr>
              <a:t>          not </a:t>
            </a:r>
            <a:r>
              <a:rPr lang="en-US" sz="1200" i="1" dirty="0">
                <a:solidFill>
                  <a:srgbClr val="D7D4CC"/>
                </a:solidFill>
                <a:ea typeface="Raleway Medium" pitchFamily="34" charset="-122"/>
                <a:cs typeface="Raleway Medium" pitchFamily="34" charset="-120"/>
              </a:rPr>
              <a:t>end-to-end resolution</a:t>
            </a:r>
            <a:r>
              <a:rPr lang="en-US" sz="1200" dirty="0">
                <a:solidFill>
                  <a:srgbClr val="D7D4CC"/>
                </a:solidFill>
                <a:ea typeface="Raleway Medium" pitchFamily="34" charset="-122"/>
                <a:cs typeface="Raleway Medium" pitchFamily="34" charset="-120"/>
              </a:rPr>
              <a:t>.</a:t>
            </a:r>
            <a:endParaRPr lang="en-US" sz="1200" dirty="0"/>
          </a:p>
        </p:txBody>
      </p:sp>
      <p:sp>
        <p:nvSpPr>
          <p:cNvPr id="16" name="Text 13"/>
          <p:cNvSpPr/>
          <p:nvPr/>
        </p:nvSpPr>
        <p:spPr>
          <a:xfrm>
            <a:off x="558819" y="3451370"/>
            <a:ext cx="4724043" cy="222885"/>
          </a:xfrm>
          <a:prstGeom prst="rect">
            <a:avLst/>
          </a:prstGeom>
          <a:noFill/>
          <a:ln/>
        </p:spPr>
        <p:txBody>
          <a:bodyPr wrap="none" lIns="0" tIns="0" rIns="0" bIns="0" rtlCol="0" anchor="t"/>
          <a:lstStyle/>
          <a:p>
            <a:pPr marL="0" indent="0" algn="l">
              <a:lnSpc>
                <a:spcPts val="1750"/>
              </a:lnSpc>
              <a:buNone/>
            </a:pPr>
            <a:r>
              <a:rPr lang="en-US" sz="1200" b="1" dirty="0">
                <a:solidFill>
                  <a:srgbClr val="FFE14D"/>
                </a:solidFill>
                <a:ea typeface="Comfortaa Bold" pitchFamily="34" charset="-122"/>
                <a:cs typeface="Comfortaa Bold" pitchFamily="34" charset="-120"/>
              </a:rPr>
              <a:t>Deployment Strategy: Entry Wedge / First Use Case</a:t>
            </a:r>
            <a:endParaRPr lang="en-US" sz="1200" dirty="0"/>
          </a:p>
        </p:txBody>
      </p:sp>
      <p:sp>
        <p:nvSpPr>
          <p:cNvPr id="17" name="Text 14"/>
          <p:cNvSpPr/>
          <p:nvPr/>
        </p:nvSpPr>
        <p:spPr>
          <a:xfrm>
            <a:off x="566976" y="3860885"/>
            <a:ext cx="13396198" cy="160377"/>
          </a:xfrm>
          <a:prstGeom prst="rect">
            <a:avLst/>
          </a:prstGeom>
          <a:noFill/>
          <a:ln/>
        </p:spPr>
        <p:txBody>
          <a:bodyPr wrap="none" lIns="0" tIns="0" rIns="0" bIns="0" rtlCol="0" anchor="t"/>
          <a:lstStyle/>
          <a:p>
            <a:pPr marL="0" indent="0" algn="l">
              <a:lnSpc>
                <a:spcPts val="1250"/>
              </a:lnSpc>
              <a:buNone/>
            </a:pPr>
            <a:r>
              <a:rPr lang="en-US" sz="1200" b="1" dirty="0">
                <a:solidFill>
                  <a:srgbClr val="D7D4CC"/>
                </a:solidFill>
                <a:ea typeface="Raleway Medium" pitchFamily="34" charset="-122"/>
                <a:cs typeface="Raleway Medium" pitchFamily="34" charset="-120"/>
              </a:rPr>
              <a:t>“Case Resolution Agent”</a:t>
            </a:r>
            <a:r>
              <a:rPr lang="en-US" sz="1200" dirty="0">
                <a:solidFill>
                  <a:srgbClr val="D7D4CC"/>
                </a:solidFill>
                <a:ea typeface="Raleway Medium" pitchFamily="34" charset="-122"/>
                <a:cs typeface="Raleway Medium" pitchFamily="34" charset="-120"/>
              </a:rPr>
              <a:t> (FOIA → case filings → evidence gathering → appeals tracking)</a:t>
            </a:r>
            <a:endParaRPr lang="en-US" sz="1200" dirty="0"/>
          </a:p>
        </p:txBody>
      </p:sp>
      <p:pic>
        <p:nvPicPr>
          <p:cNvPr id="1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4600" y="4138956"/>
            <a:ext cx="150376" cy="150376"/>
          </a:xfrm>
          <a:prstGeom prst="rect">
            <a:avLst/>
          </a:prstGeom>
        </p:spPr>
      </p:pic>
      <p:sp>
        <p:nvSpPr>
          <p:cNvPr id="19" name="Text 15"/>
          <p:cNvSpPr/>
          <p:nvPr/>
        </p:nvSpPr>
        <p:spPr>
          <a:xfrm>
            <a:off x="892850" y="4134015"/>
            <a:ext cx="4055983" cy="320754"/>
          </a:xfrm>
          <a:prstGeom prst="rect">
            <a:avLst/>
          </a:prstGeom>
          <a:noFill/>
          <a:ln/>
        </p:spPr>
        <p:txBody>
          <a:bodyPr wrap="squar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Immediate value creation reduces backlogs, accelerates processing times, reduces clerical work tied to litigation and citizen services.</a:t>
            </a:r>
            <a:endParaRPr lang="en-US" sz="1200" dirty="0"/>
          </a:p>
        </p:txBody>
      </p:sp>
      <p:pic>
        <p:nvPicPr>
          <p:cNvPr id="20"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11711" y="4138956"/>
            <a:ext cx="150376" cy="150376"/>
          </a:xfrm>
          <a:prstGeom prst="rect">
            <a:avLst/>
          </a:prstGeom>
        </p:spPr>
      </p:pic>
      <p:sp>
        <p:nvSpPr>
          <p:cNvPr id="21" name="Text 16"/>
          <p:cNvSpPr/>
          <p:nvPr/>
        </p:nvSpPr>
        <p:spPr>
          <a:xfrm>
            <a:off x="5399961" y="4134015"/>
            <a:ext cx="4055983" cy="320754"/>
          </a:xfrm>
          <a:prstGeom prst="rect">
            <a:avLst/>
          </a:prstGeom>
          <a:noFill/>
          <a:ln/>
        </p:spPr>
        <p:txBody>
          <a:bodyPr wrap="squar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Validates ability to automate full case lifecycles across courts, agencies, and compliance environments.</a:t>
            </a:r>
            <a:endParaRPr lang="en-US" sz="1200" dirty="0"/>
          </a:p>
        </p:txBody>
      </p:sp>
      <p:pic>
        <p:nvPicPr>
          <p:cNvPr id="22"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18822" y="4138956"/>
            <a:ext cx="150376" cy="150376"/>
          </a:xfrm>
          <a:prstGeom prst="rect">
            <a:avLst/>
          </a:prstGeom>
        </p:spPr>
      </p:pic>
      <p:sp>
        <p:nvSpPr>
          <p:cNvPr id="23" name="Text 17"/>
          <p:cNvSpPr/>
          <p:nvPr/>
        </p:nvSpPr>
        <p:spPr>
          <a:xfrm>
            <a:off x="9907072" y="4134015"/>
            <a:ext cx="4055983" cy="320754"/>
          </a:xfrm>
          <a:prstGeom prst="rect">
            <a:avLst/>
          </a:prstGeom>
          <a:noFill/>
          <a:ln/>
        </p:spPr>
        <p:txBody>
          <a:bodyPr wrap="squar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Built wedge expands into adjacent whitespace: regulatory drafting automation, benefits intake agents, eDiscovery resolution, and identity/credentialing processing.</a:t>
            </a:r>
            <a:endParaRPr lang="en-US" sz="1200" dirty="0"/>
          </a:p>
        </p:txBody>
      </p:sp>
      <p:sp>
        <p:nvSpPr>
          <p:cNvPr id="24" name="Text 18"/>
          <p:cNvSpPr/>
          <p:nvPr/>
        </p:nvSpPr>
        <p:spPr>
          <a:xfrm>
            <a:off x="566976" y="4605145"/>
            <a:ext cx="4968478" cy="222885"/>
          </a:xfrm>
          <a:prstGeom prst="rect">
            <a:avLst/>
          </a:prstGeom>
          <a:noFill/>
          <a:ln/>
        </p:spPr>
        <p:txBody>
          <a:bodyPr wrap="none" lIns="0" tIns="0" rIns="0" bIns="0" rtlCol="0" anchor="t"/>
          <a:lstStyle/>
          <a:p>
            <a:pPr marL="0" indent="0" algn="l">
              <a:lnSpc>
                <a:spcPts val="1750"/>
              </a:lnSpc>
              <a:buNone/>
            </a:pPr>
            <a:r>
              <a:rPr lang="en-US" sz="1200" b="1" dirty="0">
                <a:solidFill>
                  <a:srgbClr val="FFE14D"/>
                </a:solidFill>
                <a:ea typeface="Comfortaa Bold" pitchFamily="34" charset="-122"/>
                <a:cs typeface="Comfortaa Bold" pitchFamily="34" charset="-120"/>
              </a:rPr>
              <a:t>Characteristics of a Winning Company in This Market</a:t>
            </a:r>
            <a:endParaRPr lang="en-US" sz="1200" dirty="0"/>
          </a:p>
        </p:txBody>
      </p:sp>
      <p:sp>
        <p:nvSpPr>
          <p:cNvPr id="25" name="Shape 19"/>
          <p:cNvSpPr/>
          <p:nvPr/>
        </p:nvSpPr>
        <p:spPr>
          <a:xfrm>
            <a:off x="566976" y="4978406"/>
            <a:ext cx="13396198" cy="1790462"/>
          </a:xfrm>
          <a:prstGeom prst="roundRect">
            <a:avLst>
              <a:gd name="adj" fmla="val 8402"/>
            </a:avLst>
          </a:prstGeom>
          <a:noFill/>
          <a:ln w="7620">
            <a:solidFill>
              <a:srgbClr val="FFFFFF">
                <a:alpha val="24000"/>
              </a:srgbClr>
            </a:solidFill>
            <a:prstDash val="solid"/>
          </a:ln>
        </p:spPr>
        <p:txBody>
          <a:bodyPr/>
          <a:lstStyle/>
          <a:p>
            <a:endParaRPr lang="en-US" sz="1200"/>
          </a:p>
        </p:txBody>
      </p:sp>
      <p:sp>
        <p:nvSpPr>
          <p:cNvPr id="26" name="Shape 20"/>
          <p:cNvSpPr/>
          <p:nvPr/>
        </p:nvSpPr>
        <p:spPr>
          <a:xfrm>
            <a:off x="574596" y="4986026"/>
            <a:ext cx="13380958" cy="295870"/>
          </a:xfrm>
          <a:prstGeom prst="rect">
            <a:avLst/>
          </a:prstGeom>
          <a:solidFill>
            <a:srgbClr val="FFFFFF">
              <a:alpha val="4000"/>
            </a:srgbClr>
          </a:solidFill>
          <a:ln/>
        </p:spPr>
        <p:txBody>
          <a:bodyPr/>
          <a:lstStyle/>
          <a:p>
            <a:endParaRPr lang="en-US" sz="1200"/>
          </a:p>
        </p:txBody>
      </p:sp>
      <p:sp>
        <p:nvSpPr>
          <p:cNvPr id="27" name="Text 21"/>
          <p:cNvSpPr/>
          <p:nvPr/>
        </p:nvSpPr>
        <p:spPr>
          <a:xfrm>
            <a:off x="674966" y="5053772"/>
            <a:ext cx="3809881" cy="160377"/>
          </a:xfrm>
          <a:prstGeom prst="rect">
            <a:avLst/>
          </a:prstGeom>
          <a:noFill/>
          <a:ln/>
        </p:spPr>
        <p:txBody>
          <a:bodyPr wrap="none" lIns="0" tIns="0" rIns="0" bIns="0" rtlCol="0" anchor="t"/>
          <a:lstStyle/>
          <a:p>
            <a:pPr marL="0" indent="0" algn="l">
              <a:lnSpc>
                <a:spcPts val="1250"/>
              </a:lnSpc>
              <a:buNone/>
            </a:pPr>
            <a:r>
              <a:rPr lang="en-US" sz="1200" b="1" dirty="0">
                <a:solidFill>
                  <a:srgbClr val="D7D4CC"/>
                </a:solidFill>
                <a:ea typeface="Raleway Medium" pitchFamily="34" charset="-122"/>
                <a:cs typeface="Raleway Medium" pitchFamily="34" charset="-120"/>
              </a:rPr>
              <a:t>Criterion</a:t>
            </a:r>
            <a:endParaRPr lang="en-US" sz="1200" dirty="0"/>
          </a:p>
        </p:txBody>
      </p:sp>
      <p:sp>
        <p:nvSpPr>
          <p:cNvPr id="28" name="Text 22"/>
          <p:cNvSpPr/>
          <p:nvPr/>
        </p:nvSpPr>
        <p:spPr>
          <a:xfrm>
            <a:off x="4692968" y="5053772"/>
            <a:ext cx="9162336" cy="160377"/>
          </a:xfrm>
          <a:prstGeom prst="rect">
            <a:avLst/>
          </a:prstGeom>
          <a:noFill/>
          <a:ln/>
        </p:spPr>
        <p:txBody>
          <a:bodyPr wrap="none" lIns="0" tIns="0" rIns="0" bIns="0" rtlCol="0" anchor="t"/>
          <a:lstStyle/>
          <a:p>
            <a:pPr marL="0" indent="0" algn="l">
              <a:lnSpc>
                <a:spcPts val="1250"/>
              </a:lnSpc>
              <a:buNone/>
            </a:pPr>
            <a:r>
              <a:rPr lang="en-US" sz="1200" b="1" dirty="0">
                <a:solidFill>
                  <a:srgbClr val="D7D4CC"/>
                </a:solidFill>
                <a:ea typeface="Raleway Medium" pitchFamily="34" charset="-122"/>
                <a:cs typeface="Raleway Medium" pitchFamily="34" charset="-120"/>
              </a:rPr>
              <a:t>Explanation</a:t>
            </a:r>
            <a:endParaRPr lang="en-US" sz="1200" dirty="0"/>
          </a:p>
        </p:txBody>
      </p:sp>
      <p:sp>
        <p:nvSpPr>
          <p:cNvPr id="29" name="Shape 23"/>
          <p:cNvSpPr/>
          <p:nvPr/>
        </p:nvSpPr>
        <p:spPr>
          <a:xfrm>
            <a:off x="574596" y="5281896"/>
            <a:ext cx="13380958" cy="295870"/>
          </a:xfrm>
          <a:prstGeom prst="rect">
            <a:avLst/>
          </a:prstGeom>
          <a:solidFill>
            <a:srgbClr val="000000">
              <a:alpha val="4000"/>
            </a:srgbClr>
          </a:solidFill>
          <a:ln/>
        </p:spPr>
        <p:txBody>
          <a:bodyPr/>
          <a:lstStyle/>
          <a:p>
            <a:endParaRPr lang="en-US" sz="1200"/>
          </a:p>
        </p:txBody>
      </p:sp>
      <p:sp>
        <p:nvSpPr>
          <p:cNvPr id="30" name="Text 24"/>
          <p:cNvSpPr/>
          <p:nvPr/>
        </p:nvSpPr>
        <p:spPr>
          <a:xfrm>
            <a:off x="674966" y="5349643"/>
            <a:ext cx="3809881"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Workflow Execution Ownership</a:t>
            </a:r>
            <a:endParaRPr lang="en-US" sz="1200" dirty="0"/>
          </a:p>
        </p:txBody>
      </p:sp>
      <p:sp>
        <p:nvSpPr>
          <p:cNvPr id="31" name="Text 25"/>
          <p:cNvSpPr/>
          <p:nvPr/>
        </p:nvSpPr>
        <p:spPr>
          <a:xfrm>
            <a:off x="4692968" y="5349643"/>
            <a:ext cx="9162336"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Must automate outcomes (filings, approvals, routing), not just generate drafts or summaries.</a:t>
            </a:r>
            <a:endParaRPr lang="en-US" sz="1200" dirty="0"/>
          </a:p>
        </p:txBody>
      </p:sp>
      <p:sp>
        <p:nvSpPr>
          <p:cNvPr id="32" name="Shape 26"/>
          <p:cNvSpPr/>
          <p:nvPr/>
        </p:nvSpPr>
        <p:spPr>
          <a:xfrm>
            <a:off x="574596" y="5577767"/>
            <a:ext cx="13380958" cy="295870"/>
          </a:xfrm>
          <a:prstGeom prst="rect">
            <a:avLst/>
          </a:prstGeom>
          <a:solidFill>
            <a:srgbClr val="FFFFFF">
              <a:alpha val="4000"/>
            </a:srgbClr>
          </a:solidFill>
          <a:ln/>
        </p:spPr>
        <p:txBody>
          <a:bodyPr/>
          <a:lstStyle/>
          <a:p>
            <a:endParaRPr lang="en-US" sz="1200"/>
          </a:p>
        </p:txBody>
      </p:sp>
      <p:sp>
        <p:nvSpPr>
          <p:cNvPr id="33" name="Text 27"/>
          <p:cNvSpPr/>
          <p:nvPr/>
        </p:nvSpPr>
        <p:spPr>
          <a:xfrm>
            <a:off x="674966" y="5645513"/>
            <a:ext cx="3809881"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Secure Integration Layer</a:t>
            </a:r>
            <a:endParaRPr lang="en-US" sz="1200" dirty="0"/>
          </a:p>
        </p:txBody>
      </p:sp>
      <p:sp>
        <p:nvSpPr>
          <p:cNvPr id="34" name="Text 28"/>
          <p:cNvSpPr/>
          <p:nvPr/>
        </p:nvSpPr>
        <p:spPr>
          <a:xfrm>
            <a:off x="4692968" y="5645513"/>
            <a:ext cx="9162336"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Needs to operate </a:t>
            </a:r>
            <a:r>
              <a:rPr lang="en-US" sz="1200" i="1" dirty="0">
                <a:solidFill>
                  <a:srgbClr val="D7D4CC"/>
                </a:solidFill>
                <a:ea typeface="Raleway Medium" pitchFamily="34" charset="-122"/>
                <a:cs typeface="Raleway Medium" pitchFamily="34" charset="-120"/>
              </a:rPr>
              <a:t>inside</a:t>
            </a:r>
            <a:r>
              <a:rPr lang="en-US" sz="1200" dirty="0">
                <a:solidFill>
                  <a:srgbClr val="D7D4CC"/>
                </a:solidFill>
                <a:ea typeface="Raleway Medium" pitchFamily="34" charset="-122"/>
                <a:cs typeface="Raleway Medium" pitchFamily="34" charset="-120"/>
              </a:rPr>
              <a:t> systems like Tyler Odyssey, Clio, Relativity, and state CMS platforms.</a:t>
            </a:r>
            <a:endParaRPr lang="en-US" sz="1200" dirty="0"/>
          </a:p>
        </p:txBody>
      </p:sp>
      <p:sp>
        <p:nvSpPr>
          <p:cNvPr id="35" name="Shape 29"/>
          <p:cNvSpPr/>
          <p:nvPr/>
        </p:nvSpPr>
        <p:spPr>
          <a:xfrm>
            <a:off x="574596" y="5873637"/>
            <a:ext cx="13380958" cy="295870"/>
          </a:xfrm>
          <a:prstGeom prst="rect">
            <a:avLst/>
          </a:prstGeom>
          <a:solidFill>
            <a:srgbClr val="000000">
              <a:alpha val="4000"/>
            </a:srgbClr>
          </a:solidFill>
          <a:ln/>
        </p:spPr>
        <p:txBody>
          <a:bodyPr/>
          <a:lstStyle/>
          <a:p>
            <a:endParaRPr lang="en-US" sz="1200"/>
          </a:p>
        </p:txBody>
      </p:sp>
      <p:sp>
        <p:nvSpPr>
          <p:cNvPr id="36" name="Text 30"/>
          <p:cNvSpPr/>
          <p:nvPr/>
        </p:nvSpPr>
        <p:spPr>
          <a:xfrm>
            <a:off x="674966" y="5941383"/>
            <a:ext cx="3809881"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Auditability and Compliance</a:t>
            </a:r>
            <a:endParaRPr lang="en-US" sz="1200" dirty="0"/>
          </a:p>
        </p:txBody>
      </p:sp>
      <p:sp>
        <p:nvSpPr>
          <p:cNvPr id="37" name="Text 31"/>
          <p:cNvSpPr/>
          <p:nvPr/>
        </p:nvSpPr>
        <p:spPr>
          <a:xfrm>
            <a:off x="4692968" y="5941383"/>
            <a:ext cx="9162336"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Support for chain-of-record, versioning, access logs, FedRAMP, and state data governance.</a:t>
            </a:r>
            <a:endParaRPr lang="en-US" sz="1200" dirty="0"/>
          </a:p>
        </p:txBody>
      </p:sp>
      <p:sp>
        <p:nvSpPr>
          <p:cNvPr id="38" name="Shape 32"/>
          <p:cNvSpPr/>
          <p:nvPr/>
        </p:nvSpPr>
        <p:spPr>
          <a:xfrm>
            <a:off x="574596" y="6169507"/>
            <a:ext cx="13380958" cy="295870"/>
          </a:xfrm>
          <a:prstGeom prst="rect">
            <a:avLst/>
          </a:prstGeom>
          <a:solidFill>
            <a:srgbClr val="FFFFFF">
              <a:alpha val="4000"/>
            </a:srgbClr>
          </a:solidFill>
          <a:ln/>
        </p:spPr>
        <p:txBody>
          <a:bodyPr/>
          <a:lstStyle/>
          <a:p>
            <a:endParaRPr lang="en-US" sz="1200"/>
          </a:p>
        </p:txBody>
      </p:sp>
      <p:sp>
        <p:nvSpPr>
          <p:cNvPr id="39" name="Text 33"/>
          <p:cNvSpPr/>
          <p:nvPr/>
        </p:nvSpPr>
        <p:spPr>
          <a:xfrm>
            <a:off x="674966" y="6237254"/>
            <a:ext cx="3809881"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Data and Process Advantage</a:t>
            </a:r>
            <a:endParaRPr lang="en-US" sz="1200" dirty="0"/>
          </a:p>
        </p:txBody>
      </p:sp>
      <p:sp>
        <p:nvSpPr>
          <p:cNvPr id="40" name="Text 34"/>
          <p:cNvSpPr/>
          <p:nvPr/>
        </p:nvSpPr>
        <p:spPr>
          <a:xfrm>
            <a:off x="4692968" y="6237254"/>
            <a:ext cx="9162336"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Improves via accumulated legal/case history, not single prompts — foundational for compounding value.</a:t>
            </a:r>
            <a:endParaRPr lang="en-US" sz="1200" dirty="0"/>
          </a:p>
        </p:txBody>
      </p:sp>
      <p:sp>
        <p:nvSpPr>
          <p:cNvPr id="41" name="Shape 35"/>
          <p:cNvSpPr/>
          <p:nvPr/>
        </p:nvSpPr>
        <p:spPr>
          <a:xfrm>
            <a:off x="574596" y="6465377"/>
            <a:ext cx="13380958" cy="295870"/>
          </a:xfrm>
          <a:prstGeom prst="rect">
            <a:avLst/>
          </a:prstGeom>
          <a:solidFill>
            <a:srgbClr val="000000">
              <a:alpha val="4000"/>
            </a:srgbClr>
          </a:solidFill>
          <a:ln/>
        </p:spPr>
        <p:txBody>
          <a:bodyPr/>
          <a:lstStyle/>
          <a:p>
            <a:endParaRPr lang="en-US" sz="1200"/>
          </a:p>
        </p:txBody>
      </p:sp>
      <p:sp>
        <p:nvSpPr>
          <p:cNvPr id="42" name="Text 36"/>
          <p:cNvSpPr/>
          <p:nvPr/>
        </p:nvSpPr>
        <p:spPr>
          <a:xfrm>
            <a:off x="674966" y="6533124"/>
            <a:ext cx="3809881"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Vertical Go-to-Market</a:t>
            </a:r>
            <a:endParaRPr lang="en-US" sz="1200" dirty="0"/>
          </a:p>
        </p:txBody>
      </p:sp>
      <p:sp>
        <p:nvSpPr>
          <p:cNvPr id="43" name="Text 37"/>
          <p:cNvSpPr/>
          <p:nvPr/>
        </p:nvSpPr>
        <p:spPr>
          <a:xfrm>
            <a:off x="4692968" y="6533124"/>
            <a:ext cx="9162336" cy="160377"/>
          </a:xfrm>
          <a:prstGeom prst="rect">
            <a:avLst/>
          </a:prstGeom>
          <a:noFill/>
          <a:ln/>
        </p:spPr>
        <p:txBody>
          <a:bodyPr wrap="non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Procurement-ready positioning for public-sector buyers, not general-purpose SaaS sales.</a:t>
            </a:r>
            <a:endParaRPr lang="en-US" sz="1200" dirty="0"/>
          </a:p>
        </p:txBody>
      </p:sp>
      <p:sp>
        <p:nvSpPr>
          <p:cNvPr id="44" name="Text 38"/>
          <p:cNvSpPr/>
          <p:nvPr/>
        </p:nvSpPr>
        <p:spPr>
          <a:xfrm>
            <a:off x="566976" y="6919244"/>
            <a:ext cx="1782961" cy="222885"/>
          </a:xfrm>
          <a:prstGeom prst="rect">
            <a:avLst/>
          </a:prstGeom>
          <a:noFill/>
          <a:ln/>
        </p:spPr>
        <p:txBody>
          <a:bodyPr wrap="none" lIns="0" tIns="0" rIns="0" bIns="0" rtlCol="0" anchor="t"/>
          <a:lstStyle/>
          <a:p>
            <a:pPr marL="0" indent="0" algn="l">
              <a:lnSpc>
                <a:spcPts val="1750"/>
              </a:lnSpc>
              <a:buNone/>
            </a:pPr>
            <a:r>
              <a:rPr lang="en-US" sz="1200" b="1" dirty="0">
                <a:solidFill>
                  <a:srgbClr val="FFE14D"/>
                </a:solidFill>
                <a:ea typeface="Comfortaa Bold" pitchFamily="34" charset="-122"/>
                <a:cs typeface="Comfortaa Bold" pitchFamily="34" charset="-120"/>
              </a:rPr>
              <a:t>Conclusion</a:t>
            </a:r>
            <a:endParaRPr lang="en-US" sz="1200" dirty="0"/>
          </a:p>
        </p:txBody>
      </p:sp>
      <p:sp>
        <p:nvSpPr>
          <p:cNvPr id="45" name="Text 39"/>
          <p:cNvSpPr/>
          <p:nvPr/>
        </p:nvSpPr>
        <p:spPr>
          <a:xfrm>
            <a:off x="566976" y="7292505"/>
            <a:ext cx="13396198" cy="320754"/>
          </a:xfrm>
          <a:prstGeom prst="rect">
            <a:avLst/>
          </a:prstGeom>
          <a:noFill/>
          <a:ln/>
        </p:spPr>
        <p:txBody>
          <a:bodyPr wrap="square" lIns="0" tIns="0" rIns="0" bIns="0" rtlCol="0" anchor="t"/>
          <a:lstStyle/>
          <a:p>
            <a:pPr marL="0" indent="0" algn="l">
              <a:lnSpc>
                <a:spcPts val="1250"/>
              </a:lnSpc>
              <a:buNone/>
            </a:pPr>
            <a:r>
              <a:rPr lang="en-US" sz="1200" dirty="0">
                <a:solidFill>
                  <a:srgbClr val="D7D4CC"/>
                </a:solidFill>
                <a:ea typeface="Raleway Medium" pitchFamily="34" charset="-122"/>
                <a:cs typeface="Raleway Medium" pitchFamily="34" charset="-120"/>
              </a:rPr>
              <a:t>This sector combines high TAM, high defensibility, and near-zero competitive saturation. The breakout company will not be a “legal chatbot,” but the first platform to own </a:t>
            </a:r>
            <a:r>
              <a:rPr lang="en-US" sz="1200" b="1" dirty="0">
                <a:solidFill>
                  <a:srgbClr val="D7D4CC"/>
                </a:solidFill>
                <a:ea typeface="Raleway Medium" pitchFamily="34" charset="-122"/>
                <a:cs typeface="Raleway Medium" pitchFamily="34" charset="-120"/>
              </a:rPr>
              <a:t>system-to-system workflow automation</a:t>
            </a:r>
            <a:r>
              <a:rPr lang="en-US" sz="1200" dirty="0">
                <a:solidFill>
                  <a:srgbClr val="D7D4CC"/>
                </a:solidFill>
                <a:ea typeface="Raleway Medium" pitchFamily="34" charset="-122"/>
                <a:cs typeface="Raleway Medium" pitchFamily="34" charset="-120"/>
              </a:rPr>
              <a:t> in the public sector — starting with case resolution and expanding across the government services stack.</a:t>
            </a:r>
            <a:endParaRPr lang="en-US" sz="120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53</TotalTime>
  <Words>3099</Words>
  <Application>Microsoft Office PowerPoint</Application>
  <PresentationFormat>Custom</PresentationFormat>
  <Paragraphs>330</Paragraphs>
  <Slides>12</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Raleway Medium</vt:lpstr>
      <vt:lpstr>Comfortaa Bold</vt:lpstr>
      <vt:lpstr>Calibri Light</vt:lpstr>
      <vt:lpstr>Abadi</vt:lpstr>
      <vt:lpstr>Bierstadt</vt:lpstr>
      <vt:lpstr>Aptos Display</vt:lpstr>
      <vt:lpstr>Calibri</vt:lpstr>
      <vt:lpstr>Consolas Medium</vt:lpstr>
      <vt:lpstr>Arial</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Shrikanth Karthik Pudur Sashikumar</cp:lastModifiedBy>
  <cp:revision>3</cp:revision>
  <dcterms:created xsi:type="dcterms:W3CDTF">2025-11-06T23:46:44Z</dcterms:created>
  <dcterms:modified xsi:type="dcterms:W3CDTF">2025-11-19T23:53:14Z</dcterms:modified>
</cp:coreProperties>
</file>